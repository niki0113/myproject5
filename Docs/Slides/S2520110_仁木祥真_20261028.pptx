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視覚メディア研究室の仁木祥真です。「月面ローバーシミュレータ向けレゴリス相互作用リアルタイムモデルの開発」というテーマで発表します。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研究背景、関連研究、研究目的、提案手法を説明したあと、進捗と今後の計画を報告します。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まず研究背景です。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ポロ計画以来の有人月面着陸を目指すアルテミス計画に代表されるように、月面探査の機運が高まっています。基地建設や資源利用に向けて、広範囲の移動や物資の輸送を担う月面ローバーは、探査の成否を握る存在です。このローバーを安全かつ効率的に運用するには、月面環境を模擬した運転シミュレータが役立ちます。シミュレータがあれば、設計と検証、走行ルートの計画、操縦者の訓練を事前に行え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月面走行の再現で欠かせないのが、地表を覆う砂、レゴリスです。レゴリスは、隕石の衝突や岩盤の風化でできたガラス質の細かい粒子で、月面に厚く堆積しています。砂地のように沈み込むことで走破性が下がるほか、タイヤへの付着や、舞い上がりによる視界不良も起こします。そのため、運転シミュレータには、レゴリスとホイールの相互作用の再現が欠かせませ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次に、この相互作用を扱った関連研究を紹介します。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2018 年の Jiang らの研究では、月面模擬土を使った実験と、DEM、日本語で個別要素法と呼ばれる数値シミュレーションの両方で、ホイールの性能を評価しています。DEM は砂の一粒一粒の動きを追いかける手法で、ある粒子にかかる力を、接触しているすべての粒子から受ける力の合計として計算します。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 は、どの粒子と接触しているかを全粒子について判定するため、粒子数を N とすると計算量は N の 2 乗のオーダーで増えます。レゴリスをリアルに再現するには膨大な粒子が必要です。そのため先行研究でも、2 次元で解析したり、粒径を大きくして粒子数を減らしたりする簡略化をしています。それでも、ユーザーの操作に即座に反応する運転シミュレータに使えるほどの速さはありません。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以上を踏まえた研究目的です。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研究の目的は、ホイールとレゴリスの相互作用をリアルタイムに再現する手法を構築し、月面ローバーの運転シミュレータを開発することです。物理的な妥当性を保ちながら、操作に即座に反応する速さを両立させることを目指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提案手法を説明します。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提案手法は、計算の役割を二つに分けます。土台はテラメカニクス理論で、スリップ比から沈下量と駆動力を軽量に計算し、操縦の走行体感を作ります。その上で、タイヤの接地点周辺だけを MPM という粒子計算で解き、レゴリスの堆積や飛散、轍を物理的に再現します。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土台のテラメカニクスです。Bekker の式は、タイヤが地面に沈む深さと、そのときの接地圧の関係を表します。Janosi-Hanamoto の式は、タイヤが土をかいたときに生じるせん断応力、つまり前に進む力を表します。スリップ比は、タイヤの回転のうちどれだけが空回りしているかを表し、この二つの式の入力になります。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接地部の計算に使う MPM は、物質を表す多数の粒子と、計算用の背景の格子を組み合わせて、連続体の挙動を解く手法です。まず P2G で粒子の質量や運動量を周りの格子点に写し、格子の上で運動方程式を解いて速度を更新し、最後に G2P で格子の結果を粒子に戻します。粒子は近くの格子点とだけやり取りするので、DEM のような全粒子の接触判定が要りません。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MPM を選んだ理由は三つです。砂の構成則である Drucker-Prager モデルが内部摩擦角 φ を直接持つので、月のレゴリスの文献値、およそ 30 度から 40 度を設定値に対応づけられます。全粒子の接触判定が要らないこと、そして DEM を使った先行研究と手法の上で差別化できることです。また、実際のレゴリスは中央粒径が約 70 マイクロメートルで数が多すぎるため、1 粒子を直径 1 センチメートルの土の塊として扱います。これで粒子数は体積比で約 290 万分の 1 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ここから、進捗を報告します。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進捗の全体像です。前回までに、月面の環境と、車両の走行、スリップ比のリアルタイム計算を作りました。今回は、MPM の部分を進めました。テラメカニクスによる沈下量と駆動力の補正は、まだ手を付けていません。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前回までの進捗を簡単に振り返ります。NASA の LROC の実データから、アポロ 15 号の着陸地点周辺の地形を約 2 キロメートル四方で再現しました。ワールドの重力を月面の 1.62 メートル毎秒毎秒に設定し、テンプレートの車両で各輪のスリップ比を毎フレーム計算しています。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ここからが今回の進捗です。前回は、既存の MPM 実装である GbLeem/Unreal_MPM を土台にする予定でしたが、現在は UE5 の GPU パーティクル機能である Niagara の上で、MPM を一から段階的に組み立てています。理由は二つあります。一つ目は、砂の構成則を論文どおりに実装し、各段階の挙動を解析解で確かめながら進めるためです。ここでの解析解とは、自由落下や床の上での静止のような単純な条件で、運動方程式や定義から手計算で求められる値のことです。二つ目は、Niagara は UE の描画と直接つながっているので、粒子の表示と、運転用の地形表示を同じ仕組みの上で切り替えられるためです。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ステップの計算は、格子の初期化、P2G、格子の更新、G2P の四段階で、Niagara のシミュレーションステージとして GPU で実行しています。計算条件は、粒子 1 万 8 千個、格子間隔 2 センチメートル、時間刻み 240 分の 1 秒です。実装は段階ごとに機能を足し、各段階で、自由落下や静止のような単純な条件を選んで、結果がどうなるべきかを事前に手計算してから、シミュレーションの値と照合しています。現在は変形勾配 F の更新まで完了し、次は弾性体の応力を入れる段階です。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主な段階の照合結果です。どの段も、結果が手計算で決まる単純な条件を選び、その値と比べています。根拠は表の三列目です。P2G では、内部の密度が設定したかさ密度 1.5 に一致しました。格子の更新では、1 ステップ目の速度が重力加速度と時間刻みの積に一致しました。この確認だけは時間刻み 60 分の 1 秒で行っています。床では粒子が床の位置で止まり、APIC では床で静止した粒子の速度勾配が手計算の値に一致しました。変形勾配 F は、着地前の自由落下中は単位行列のままになるはずで、全粒子でそのとおりになりました。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在の構成則は、体積の変化にだけ抵抗する圧力のモデルです。圧力を入れたことで、押し縮められた体積は元に戻るようになりました。一方で、粒子のかたまりは床に着いたあと、プリンのように揺れ続けます。原因は二つ考えられます。ずれに抵抗する力がなく流体のように振る舞うことと、揺れを減衰させる仕組みがないことです。砂として振る舞わせるには、弾性と、Drucker-Prager による塑性が必要です。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最後に、今後の計画です。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MPM 側は、弾性、床の摩擦と Drucker-Prager の塑性の順に入れ、安息角試験で、できた山の斜面の角度を設定した内部摩擦角と比べます。これが最初の定量検証になります。並行して、テラメカニクス側の沈下量と駆動力の補正を実装し、最後にタイヤ下の局所領域で MPM と接続します。後期の後半は、ユーザー評価と修士論文の執筆にあてます。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まとめます。月面ローバーの運転シミュレータには、レゴリスとホイールの相互作用の再現が必要ですが、DEM ではリアルタイム性の確保が難しいという課題があります。そこで、走行体感をテラメカニクス理論で、接地部の挙動を局所的な MPM で計算する手法を提案しています。今回は MPM を Niagara 上で段階的に構築し、変形勾配の更新まで、すべての段階で解析解との一致を確かめました。今後は弾性と塑性を入れ、安息角試験で検証します。以上です。ありがとうございました。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質疑用の補足です。現時点で近似になっている点と、厳密化の方法をまとめました。特に硬さは、時間刻み 240 分の 1 秒で安定に計算できる範囲に抑えているため、実物より何千倍も柔らかくしています。これはサブステップで時間刻みを小さくすることで、実物に近づける予定です。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背景の円"/>
          <p:cNvSpPr/>
          <p:nvPr/>
        </p:nvSpPr>
        <p:spPr>
          <a:xfrm>
            <a:off x="6949440" y="-1463040"/>
            <a:ext cx="6583680" cy="6583680"/>
          </a:xfrm>
          <a:prstGeom prst="ellipse">
            <a:avLst/>
          </a:prstGeom>
          <a:solidFill>
            <a:srgbClr val="F3F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9811512" y="6400800"/>
            <a:ext cx="1828800" cy="228600"/>
          </a:xfrm>
          <a:prstGeom prst="rect">
            <a:avLst/>
          </a:prstGeom>
          <a:noFill/>
        </p:spPr>
        <p:txBody>
          <a:bodyPr wrap="square" anchor="ctr" lIns="0" rIns="0" tIns="0" bIns="0">
            <a:spAutoFit/>
          </a:bodyPr>
          <a:lstStyle/>
          <a:p>
            <a:pPr algn="r">
              <a:lnSpc>
                <a:spcPct val="120000"/>
              </a:lnSpc>
            </a:pPr>
            <a:r>
              <a:rPr sz="1200" b="1">
                <a:solidFill>
                  <a:srgbClr val="4E95D9"/>
                </a:solidFill>
                <a:latin typeface="BIZ UDPゴシック"/>
                <a:ea typeface="BIZ UDPゴシック"/>
              </a:rPr>
              <a:t>1</a:t>
            </a:r>
            <a:r>
              <a:rPr sz="1200" b="0">
                <a:solidFill>
                  <a:srgbClr val="8C8C8C"/>
                </a:solidFill>
                <a:latin typeface="BIZ UDPゴシック"/>
                <a:ea typeface="BIZ UDPゴシック"/>
              </a:rPr>
              <a:t> / 26</a:t>
            </a:r>
          </a:p>
        </p:txBody>
      </p:sp>
      <p:sp>
        <p:nvSpPr>
          <p:cNvPr id="3" name="下端の線"/>
          <p:cNvSpPr/>
          <p:nvPr/>
        </p:nvSpPr>
        <p:spPr>
          <a:xfrm>
            <a:off x="0" y="6803136"/>
            <a:ext cx="12192000" cy="54864"/>
          </a:xfrm>
          <a:prstGeom prst="rect">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行事名の札"/>
          <p:cNvSpPr/>
          <p:nvPr/>
        </p:nvSpPr>
        <p:spPr>
          <a:xfrm>
            <a:off x="640080" y="914400"/>
            <a:ext cx="5262880" cy="329184"/>
          </a:xfrm>
          <a:prstGeom prst="roundRect">
            <a:avLst>
              <a:gd name="adj" fmla="val 50000"/>
            </a:avLst>
          </a:prstGeom>
          <a:solidFill>
            <a:srgbClr val="FFFFFF"/>
          </a:solidFill>
          <a:ln w="15875">
            <a:solidFill>
              <a:srgbClr val="4E95D9"/>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215F9A"/>
                </a:solidFill>
                <a:latin typeface="BIZ UDPゴシック"/>
                <a:ea typeface="BIZ UDPゴシック"/>
              </a:rPr>
              <a:t>知的モデリング 2026 後期大ゼミ（2026/10/28）</a:t>
            </a:r>
          </a:p>
        </p:txBody>
      </p:sp>
      <p:sp>
        <p:nvSpPr>
          <p:cNvPr id="6" name="TextBox 5"/>
          <p:cNvSpPr txBox="1"/>
          <p:nvPr/>
        </p:nvSpPr>
        <p:spPr>
          <a:xfrm>
            <a:off x="640080" y="1463040"/>
            <a:ext cx="6675120" cy="1737360"/>
          </a:xfrm>
          <a:prstGeom prst="rect">
            <a:avLst/>
          </a:prstGeom>
          <a:noFill/>
        </p:spPr>
        <p:txBody>
          <a:bodyPr wrap="square" anchor="t" lIns="0" rIns="0" tIns="0" bIns="0">
            <a:spAutoFit/>
          </a:bodyPr>
          <a:lstStyle/>
          <a:p>
            <a:pPr algn="l">
              <a:lnSpc>
                <a:spcPct val="115000"/>
              </a:lnSpc>
            </a:pPr>
            <a:r>
              <a:rPr sz="3200" b="1">
                <a:solidFill>
                  <a:srgbClr val="1F3A5F"/>
                </a:solidFill>
                <a:latin typeface="BIZ UDPゴシック"/>
                <a:ea typeface="BIZ UDPゴシック"/>
              </a:rPr>
              <a:t>月面ローバーシミュレータ向け</a:t>
            </a:r>
          </a:p>
          <a:p>
            <a:pPr algn="l">
              <a:lnSpc>
                <a:spcPct val="115000"/>
              </a:lnSpc>
            </a:pPr>
            <a:r>
              <a:rPr sz="3200" b="1">
                <a:solidFill>
                  <a:srgbClr val="1F3A5F"/>
                </a:solidFill>
                <a:latin typeface="BIZ UDPゴシック"/>
                <a:ea typeface="BIZ UDPゴシック"/>
              </a:rPr>
              <a:t>レゴリス相互作用</a:t>
            </a:r>
          </a:p>
          <a:p>
            <a:pPr algn="l">
              <a:lnSpc>
                <a:spcPct val="115000"/>
              </a:lnSpc>
            </a:pPr>
            <a:r>
              <a:rPr sz="3200" b="1">
                <a:solidFill>
                  <a:srgbClr val="1F3A5F"/>
                </a:solidFill>
                <a:latin typeface="BIZ UDPゴシック"/>
                <a:ea typeface="BIZ UDPゴシック"/>
              </a:rPr>
              <a:t>リアルタイムモデルの開発</a:t>
            </a:r>
          </a:p>
        </p:txBody>
      </p:sp>
      <p:sp>
        <p:nvSpPr>
          <p:cNvPr id="7" name="TextBox 6"/>
          <p:cNvSpPr txBox="1"/>
          <p:nvPr/>
        </p:nvSpPr>
        <p:spPr>
          <a:xfrm>
            <a:off x="640080" y="3520440"/>
            <a:ext cx="5486400" cy="365760"/>
          </a:xfrm>
          <a:prstGeom prst="rect">
            <a:avLst/>
          </a:prstGeom>
          <a:noFill/>
        </p:spPr>
        <p:txBody>
          <a:bodyPr wrap="square" anchor="t" lIns="0" rIns="0" tIns="0" bIns="0">
            <a:spAutoFit/>
          </a:bodyPr>
          <a:lstStyle/>
          <a:p>
            <a:pPr algn="l">
              <a:lnSpc>
                <a:spcPct val="120000"/>
              </a:lnSpc>
            </a:pPr>
            <a:r>
              <a:rPr sz="2000" b="0">
                <a:solidFill>
                  <a:srgbClr val="262626"/>
                </a:solidFill>
                <a:latin typeface="BIZ UDPゴシック"/>
                <a:ea typeface="BIZ UDPゴシック"/>
              </a:rPr>
              <a:t>S2520110　仁木 祥真</a:t>
            </a:r>
          </a:p>
        </p:txBody>
      </p:sp>
      <p:pic>
        <p:nvPicPr>
          <p:cNvPr id="8" name="Picture 7" descr="vmlab_logo.png"/>
          <p:cNvPicPr>
            <a:picLocks noChangeAspect="1"/>
          </p:cNvPicPr>
          <p:nvPr/>
        </p:nvPicPr>
        <p:blipFill>
          <a:blip r:embed="rId3"/>
          <a:stretch>
            <a:fillRect/>
          </a:stretch>
        </p:blipFill>
        <p:spPr>
          <a:xfrm>
            <a:off x="640080" y="5074920"/>
            <a:ext cx="3530268" cy="777240"/>
          </a:xfrm>
          <a:prstGeom prst="rect">
            <a:avLst/>
          </a:prstGeom>
        </p:spPr>
      </p:pic>
      <p:pic>
        <p:nvPicPr>
          <p:cNvPr id="9" name="Picture 8" descr="rover_toyota.jpg"/>
          <p:cNvPicPr>
            <a:picLocks noChangeAspect="1"/>
          </p:cNvPicPr>
          <p:nvPr/>
        </p:nvPicPr>
        <p:blipFill>
          <a:blip r:embed="rId4"/>
          <a:stretch>
            <a:fillRect/>
          </a:stretch>
        </p:blipFill>
        <p:spPr>
          <a:xfrm>
            <a:off x="7543800" y="2748190"/>
            <a:ext cx="4023359" cy="1818819"/>
          </a:xfrm>
          <a:prstGeom prst="roundRect">
            <a:avLst>
              <a:gd name="adj" fmla="val 4000"/>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11512" y="6400800"/>
            <a:ext cx="1828800" cy="228600"/>
          </a:xfrm>
          <a:prstGeom prst="rect">
            <a:avLst/>
          </a:prstGeom>
          <a:noFill/>
        </p:spPr>
        <p:txBody>
          <a:bodyPr wrap="square" anchor="ctr" lIns="0" rIns="0" tIns="0" bIns="0">
            <a:spAutoFit/>
          </a:bodyPr>
          <a:lstStyle/>
          <a:p>
            <a:pPr algn="r">
              <a:lnSpc>
                <a:spcPct val="120000"/>
              </a:lnSpc>
            </a:pPr>
            <a:r>
              <a:rPr sz="1200" b="1">
                <a:solidFill>
                  <a:srgbClr val="4E95D9"/>
                </a:solidFill>
                <a:latin typeface="BIZ UDPゴシック"/>
                <a:ea typeface="BIZ UDPゴシック"/>
              </a:rPr>
              <a:t>2</a:t>
            </a:r>
            <a:r>
              <a:rPr sz="1200" b="0">
                <a:solidFill>
                  <a:srgbClr val="8C8C8C"/>
                </a:solidFill>
                <a:latin typeface="BIZ UDPゴシック"/>
                <a:ea typeface="BIZ UDPゴシック"/>
              </a:rPr>
              <a:t> / 26</a:t>
            </a:r>
          </a:p>
        </p:txBody>
      </p:sp>
      <p:sp>
        <p:nvSpPr>
          <p:cNvPr id="3" name="下端の線"/>
          <p:cNvSpPr/>
          <p:nvPr/>
        </p:nvSpPr>
        <p:spPr>
          <a:xfrm>
            <a:off x="0" y="6803136"/>
            <a:ext cx="12192000" cy="54864"/>
          </a:xfrm>
          <a:prstGeom prst="rect">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21792"/>
            <a:ext cx="11064240" cy="548640"/>
          </a:xfrm>
          <a:prstGeom prst="rect">
            <a:avLst/>
          </a:prstGeom>
          <a:noFill/>
        </p:spPr>
        <p:txBody>
          <a:bodyPr wrap="square" anchor="ctr" lIns="0" rIns="0" tIns="0" bIns="0">
            <a:spAutoFit/>
          </a:bodyPr>
          <a:lstStyle/>
          <a:p>
            <a:pPr algn="l">
              <a:lnSpc>
                <a:spcPct val="100000"/>
              </a:lnSpc>
            </a:pPr>
            <a:r>
              <a:rPr sz="3000" b="1">
                <a:solidFill>
                  <a:srgbClr val="1F3A5F"/>
                </a:solidFill>
                <a:latin typeface="BIZ UDPゴシック"/>
                <a:ea typeface="BIZ UDPゴシック"/>
              </a:rPr>
              <a:t>目次</a:t>
            </a:r>
          </a:p>
        </p:txBody>
      </p:sp>
      <p:sp>
        <p:nvSpPr>
          <p:cNvPr id="5" name="区切り線"/>
          <p:cNvSpPr/>
          <p:nvPr/>
        </p:nvSpPr>
        <p:spPr>
          <a:xfrm>
            <a:off x="548640" y="1225296"/>
            <a:ext cx="11091672" cy="12700"/>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91840" y="1600200"/>
            <a:ext cx="6400800" cy="4206240"/>
          </a:xfrm>
          <a:prstGeom prst="rect">
            <a:avLst/>
          </a:prstGeom>
          <a:noFill/>
        </p:spPr>
        <p:txBody>
          <a:bodyPr wrap="square" anchor="t" lIns="0" rIns="0" tIns="0" bIns="0">
            <a:spAutoFit/>
          </a:bodyPr>
          <a:lstStyle/>
          <a:p>
            <a:pPr algn="l">
              <a:lnSpc>
                <a:spcPct val="100000"/>
              </a:lnSpc>
              <a:spcAft>
                <a:spcPts val="1980"/>
              </a:spcAft>
            </a:pPr>
            <a:r>
              <a:rPr sz="2200" b="1">
                <a:solidFill>
                  <a:srgbClr val="4E95D9"/>
                </a:solidFill>
                <a:latin typeface="BIZ UDPゴシック"/>
                <a:ea typeface="BIZ UDPゴシック"/>
              </a:rPr>
              <a:t>01</a:t>
            </a:r>
            <a:r>
              <a:rPr sz="2200" b="1">
                <a:solidFill>
                  <a:srgbClr val="1F3A5F"/>
                </a:solidFill>
                <a:latin typeface="BIZ UDPゴシック"/>
                <a:ea typeface="BIZ UDPゴシック"/>
              </a:rPr>
              <a:t>　研究背景</a:t>
            </a:r>
          </a:p>
          <a:p>
            <a:pPr algn="l">
              <a:lnSpc>
                <a:spcPct val="100000"/>
              </a:lnSpc>
              <a:spcAft>
                <a:spcPts val="1980"/>
              </a:spcAft>
            </a:pPr>
            <a:r>
              <a:rPr sz="2200" b="1">
                <a:solidFill>
                  <a:srgbClr val="4E95D9"/>
                </a:solidFill>
                <a:latin typeface="BIZ UDPゴシック"/>
                <a:ea typeface="BIZ UDPゴシック"/>
              </a:rPr>
              <a:t>02</a:t>
            </a:r>
            <a:r>
              <a:rPr sz="2200" b="1">
                <a:solidFill>
                  <a:srgbClr val="1F3A5F"/>
                </a:solidFill>
                <a:latin typeface="BIZ UDPゴシック"/>
                <a:ea typeface="BIZ UDPゴシック"/>
              </a:rPr>
              <a:t>　関連研究</a:t>
            </a:r>
          </a:p>
          <a:p>
            <a:pPr algn="l">
              <a:lnSpc>
                <a:spcPct val="100000"/>
              </a:lnSpc>
              <a:spcAft>
                <a:spcPts val="1980"/>
              </a:spcAft>
            </a:pPr>
            <a:r>
              <a:rPr sz="2200" b="1">
                <a:solidFill>
                  <a:srgbClr val="4E95D9"/>
                </a:solidFill>
                <a:latin typeface="BIZ UDPゴシック"/>
                <a:ea typeface="BIZ UDPゴシック"/>
              </a:rPr>
              <a:t>03</a:t>
            </a:r>
            <a:r>
              <a:rPr sz="2200" b="1">
                <a:solidFill>
                  <a:srgbClr val="1F3A5F"/>
                </a:solidFill>
                <a:latin typeface="BIZ UDPゴシック"/>
                <a:ea typeface="BIZ UDPゴシック"/>
              </a:rPr>
              <a:t>　研究目的</a:t>
            </a:r>
          </a:p>
          <a:p>
            <a:pPr algn="l">
              <a:lnSpc>
                <a:spcPct val="100000"/>
              </a:lnSpc>
              <a:spcAft>
                <a:spcPts val="1980"/>
              </a:spcAft>
            </a:pPr>
            <a:r>
              <a:rPr sz="2200" b="1">
                <a:solidFill>
                  <a:srgbClr val="4E95D9"/>
                </a:solidFill>
                <a:latin typeface="BIZ UDPゴシック"/>
                <a:ea typeface="BIZ UDPゴシック"/>
              </a:rPr>
              <a:t>04</a:t>
            </a:r>
            <a:r>
              <a:rPr sz="2200" b="1">
                <a:solidFill>
                  <a:srgbClr val="1F3A5F"/>
                </a:solidFill>
                <a:latin typeface="BIZ UDPゴシック"/>
                <a:ea typeface="BIZ UDPゴシック"/>
              </a:rPr>
              <a:t>　提案手法</a:t>
            </a:r>
          </a:p>
          <a:p>
            <a:pPr algn="l">
              <a:lnSpc>
                <a:spcPct val="100000"/>
              </a:lnSpc>
              <a:spcAft>
                <a:spcPts val="1980"/>
              </a:spcAft>
            </a:pPr>
            <a:r>
              <a:rPr sz="2200" b="1">
                <a:solidFill>
                  <a:srgbClr val="4E95D9"/>
                </a:solidFill>
                <a:latin typeface="BIZ UDPゴシック"/>
                <a:ea typeface="BIZ UDPゴシック"/>
              </a:rPr>
              <a:t>05</a:t>
            </a:r>
            <a:r>
              <a:rPr sz="2200" b="1">
                <a:solidFill>
                  <a:srgbClr val="1F3A5F"/>
                </a:solidFill>
                <a:latin typeface="BIZ UDPゴシック"/>
                <a:ea typeface="BIZ UDPゴシック"/>
              </a:rPr>
              <a:t>　進捗</a:t>
            </a:r>
          </a:p>
          <a:p>
            <a:pPr algn="l">
              <a:lnSpc>
                <a:spcPct val="100000"/>
              </a:lnSpc>
              <a:spcAft>
                <a:spcPts val="1980"/>
              </a:spcAft>
            </a:pPr>
            <a:r>
              <a:rPr sz="2200" b="1">
                <a:solidFill>
                  <a:srgbClr val="4E95D9"/>
                </a:solidFill>
                <a:latin typeface="BIZ UDPゴシック"/>
                <a:ea typeface="BIZ UDPゴシック"/>
              </a:rPr>
              <a:t>06</a:t>
            </a:r>
            <a:r>
              <a:rPr sz="2200" b="1">
                <a:solidFill>
                  <a:srgbClr val="1F3A5F"/>
                </a:solidFill>
                <a:latin typeface="BIZ UDPゴシック"/>
                <a:ea typeface="BIZ UDPゴシック"/>
              </a:rPr>
              <a:t>　今後の計画</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11512" y="6400800"/>
            <a:ext cx="1828800" cy="228600"/>
          </a:xfrm>
          <a:prstGeom prst="rect">
            <a:avLst/>
          </a:prstGeom>
          <a:noFill/>
        </p:spPr>
        <p:txBody>
          <a:bodyPr wrap="square" anchor="ctr" lIns="0" rIns="0" tIns="0" bIns="0">
            <a:spAutoFit/>
          </a:bodyPr>
          <a:lstStyle/>
          <a:p>
            <a:pPr algn="r">
              <a:lnSpc>
                <a:spcPct val="120000"/>
              </a:lnSpc>
            </a:pPr>
            <a:r>
              <a:rPr sz="1200" b="1">
                <a:solidFill>
                  <a:srgbClr val="4E95D9"/>
                </a:solidFill>
                <a:latin typeface="BIZ UDPゴシック"/>
                <a:ea typeface="BIZ UDPゴシック"/>
              </a:rPr>
              <a:t>3</a:t>
            </a:r>
            <a:r>
              <a:rPr sz="1200" b="0">
                <a:solidFill>
                  <a:srgbClr val="8C8C8C"/>
                </a:solidFill>
                <a:latin typeface="BIZ UDPゴシック"/>
                <a:ea typeface="BIZ UDPゴシック"/>
              </a:rPr>
              <a:t> / 26</a:t>
            </a:r>
          </a:p>
        </p:txBody>
      </p:sp>
      <p:sp>
        <p:nvSpPr>
          <p:cNvPr id="3" name="下端の線"/>
          <p:cNvSpPr/>
          <p:nvPr/>
        </p:nvSpPr>
        <p:spPr>
          <a:xfrm>
            <a:off x="0" y="6803136"/>
            <a:ext cx="12192000" cy="54864"/>
          </a:xfrm>
          <a:prstGeom prst="rect">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5029200" cy="2194560"/>
          </a:xfrm>
          <a:prstGeom prst="rect">
            <a:avLst/>
          </a:prstGeom>
          <a:noFill/>
        </p:spPr>
        <p:txBody>
          <a:bodyPr wrap="square" anchor="b" lIns="0" rIns="0" tIns="0" bIns="0">
            <a:spAutoFit/>
          </a:bodyPr>
          <a:lstStyle/>
          <a:p>
            <a:pPr algn="l">
              <a:lnSpc>
                <a:spcPct val="90000"/>
              </a:lnSpc>
            </a:pPr>
            <a:r>
              <a:rPr sz="15000" b="1">
                <a:solidFill>
                  <a:srgbClr val="DCEAF7"/>
                </a:solidFill>
                <a:latin typeface="BIZ UDPゴシック"/>
                <a:ea typeface="BIZ UDPゴシック"/>
              </a:rPr>
              <a:t>01</a:t>
            </a:r>
          </a:p>
        </p:txBody>
      </p:sp>
      <p:sp>
        <p:nvSpPr>
          <p:cNvPr id="5" name="TextBox 4"/>
          <p:cNvSpPr txBox="1"/>
          <p:nvPr/>
        </p:nvSpPr>
        <p:spPr>
          <a:xfrm>
            <a:off x="685800" y="3429000"/>
            <a:ext cx="5669280" cy="1280160"/>
          </a:xfrm>
          <a:prstGeom prst="rect">
            <a:avLst/>
          </a:prstGeom>
          <a:noFill/>
        </p:spPr>
        <p:txBody>
          <a:bodyPr wrap="square" anchor="t" lIns="0" rIns="0" tIns="0" bIns="0">
            <a:spAutoFit/>
          </a:bodyPr>
          <a:lstStyle/>
          <a:p>
            <a:pPr algn="l">
              <a:lnSpc>
                <a:spcPct val="120000"/>
              </a:lnSpc>
            </a:pPr>
            <a:r>
              <a:rPr sz="3600" b="1">
                <a:solidFill>
                  <a:srgbClr val="1F3A5F"/>
                </a:solidFill>
                <a:latin typeface="BIZ UDPゴシック"/>
                <a:ea typeface="BIZ UDPゴシック"/>
              </a:rPr>
              <a:t>研究背景</a:t>
            </a:r>
          </a:p>
        </p:txBody>
      </p:sp>
      <p:sp>
        <p:nvSpPr>
          <p:cNvPr id="6" name="Rectangle 5"/>
          <p:cNvSpPr/>
          <p:nvPr/>
        </p:nvSpPr>
        <p:spPr>
          <a:xfrm>
            <a:off x="6720840" y="1463040"/>
            <a:ext cx="12700" cy="3657600"/>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86600" y="1737360"/>
            <a:ext cx="4572000" cy="3291840"/>
          </a:xfrm>
          <a:prstGeom prst="rect">
            <a:avLst/>
          </a:prstGeom>
          <a:noFill/>
        </p:spPr>
        <p:txBody>
          <a:bodyPr wrap="square" anchor="t" lIns="0" rIns="0" tIns="0" bIns="0">
            <a:spAutoFit/>
          </a:bodyPr>
          <a:lstStyle/>
          <a:p>
            <a:pPr algn="l">
              <a:lnSpc>
                <a:spcPct val="100000"/>
              </a:lnSpc>
              <a:spcAft>
                <a:spcPts val="1800"/>
              </a:spcAft>
            </a:pPr>
            <a:r>
              <a:rPr sz="2000" b="1">
                <a:solidFill>
                  <a:srgbClr val="4E95D9"/>
                </a:solidFill>
                <a:latin typeface="BIZ UDPゴシック"/>
                <a:ea typeface="BIZ UDPゴシック"/>
              </a:rPr>
              <a:t>01</a:t>
            </a:r>
            <a:r>
              <a:rPr sz="2000" b="1">
                <a:solidFill>
                  <a:srgbClr val="1F3A5F"/>
                </a:solidFill>
                <a:latin typeface="BIZ UDPゴシック"/>
                <a:ea typeface="BIZ UDPゴシック"/>
              </a:rPr>
              <a:t>　研究背景</a:t>
            </a:r>
          </a:p>
          <a:p>
            <a:pPr algn="l">
              <a:lnSpc>
                <a:spcPct val="100000"/>
              </a:lnSpc>
              <a:spcAft>
                <a:spcPts val="1800"/>
              </a:spcAft>
            </a:pPr>
            <a:r>
              <a:rPr sz="2000" b="1">
                <a:solidFill>
                  <a:srgbClr val="D9DEE6"/>
                </a:solidFill>
                <a:latin typeface="BIZ UDPゴシック"/>
                <a:ea typeface="BIZ UDPゴシック"/>
              </a:rPr>
              <a:t>02</a:t>
            </a:r>
            <a:r>
              <a:rPr sz="2000" b="0">
                <a:solidFill>
                  <a:srgbClr val="8C8C8C"/>
                </a:solidFill>
                <a:latin typeface="BIZ UDPゴシック"/>
                <a:ea typeface="BIZ UDPゴシック"/>
              </a:rPr>
              <a:t>　関連研究</a:t>
            </a:r>
          </a:p>
          <a:p>
            <a:pPr algn="l">
              <a:lnSpc>
                <a:spcPct val="100000"/>
              </a:lnSpc>
              <a:spcAft>
                <a:spcPts val="1800"/>
              </a:spcAft>
            </a:pPr>
            <a:r>
              <a:rPr sz="2000" b="1">
                <a:solidFill>
                  <a:srgbClr val="D9DEE6"/>
                </a:solidFill>
                <a:latin typeface="BIZ UDPゴシック"/>
                <a:ea typeface="BIZ UDPゴシック"/>
              </a:rPr>
              <a:t>03</a:t>
            </a:r>
            <a:r>
              <a:rPr sz="2000" b="0">
                <a:solidFill>
                  <a:srgbClr val="8C8C8C"/>
                </a:solidFill>
                <a:latin typeface="BIZ UDPゴシック"/>
                <a:ea typeface="BIZ UDPゴシック"/>
              </a:rPr>
              <a:t>　研究目的</a:t>
            </a:r>
          </a:p>
          <a:p>
            <a:pPr algn="l">
              <a:lnSpc>
                <a:spcPct val="100000"/>
              </a:lnSpc>
              <a:spcAft>
                <a:spcPts val="1800"/>
              </a:spcAft>
            </a:pPr>
            <a:r>
              <a:rPr sz="2000" b="1">
                <a:solidFill>
                  <a:srgbClr val="D9DEE6"/>
                </a:solidFill>
                <a:latin typeface="BIZ UDPゴシック"/>
                <a:ea typeface="BIZ UDPゴシック"/>
              </a:rPr>
              <a:t>04</a:t>
            </a:r>
            <a:r>
              <a:rPr sz="2000" b="0">
                <a:solidFill>
                  <a:srgbClr val="8C8C8C"/>
                </a:solidFill>
                <a:latin typeface="BIZ UDPゴシック"/>
                <a:ea typeface="BIZ UDPゴシック"/>
              </a:rPr>
              <a:t>　提案手法</a:t>
            </a:r>
          </a:p>
          <a:p>
            <a:pPr algn="l">
              <a:lnSpc>
                <a:spcPct val="100000"/>
              </a:lnSpc>
              <a:spcAft>
                <a:spcPts val="1800"/>
              </a:spcAft>
            </a:pPr>
            <a:r>
              <a:rPr sz="2000" b="1">
                <a:solidFill>
                  <a:srgbClr val="D9DEE6"/>
                </a:solidFill>
                <a:latin typeface="BIZ UDPゴシック"/>
                <a:ea typeface="BIZ UDPゴシック"/>
              </a:rPr>
              <a:t>05</a:t>
            </a:r>
            <a:r>
              <a:rPr sz="2000" b="0">
                <a:solidFill>
                  <a:srgbClr val="8C8C8C"/>
                </a:solidFill>
                <a:latin typeface="BIZ UDPゴシック"/>
                <a:ea typeface="BIZ UDPゴシック"/>
              </a:rPr>
              <a:t>　進捗</a:t>
            </a:r>
          </a:p>
          <a:p>
            <a:pPr algn="l">
              <a:lnSpc>
                <a:spcPct val="100000"/>
              </a:lnSpc>
              <a:spcAft>
                <a:spcPts val="1800"/>
              </a:spcAft>
            </a:pPr>
            <a:r>
              <a:rPr sz="2000" b="1">
                <a:solidFill>
                  <a:srgbClr val="D9DEE6"/>
                </a:solidFill>
                <a:latin typeface="BIZ UDPゴシック"/>
                <a:ea typeface="BIZ UDPゴシック"/>
              </a:rPr>
              <a:t>06</a:t>
            </a:r>
            <a:r>
              <a:rPr sz="2000" b="0">
                <a:solidFill>
                  <a:srgbClr val="8C8C8C"/>
                </a:solidFill>
                <a:latin typeface="BIZ UDPゴシック"/>
                <a:ea typeface="BIZ UDPゴシック"/>
              </a:rPr>
              <a:t>　今後の計画</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11512" y="6400800"/>
            <a:ext cx="1828800" cy="228600"/>
          </a:xfrm>
          <a:prstGeom prst="rect">
            <a:avLst/>
          </a:prstGeom>
          <a:noFill/>
        </p:spPr>
        <p:txBody>
          <a:bodyPr wrap="square" anchor="ctr" lIns="0" rIns="0" tIns="0" bIns="0">
            <a:spAutoFit/>
          </a:bodyPr>
          <a:lstStyle/>
          <a:p>
            <a:pPr algn="r">
              <a:lnSpc>
                <a:spcPct val="120000"/>
              </a:lnSpc>
            </a:pPr>
            <a:r>
              <a:rPr sz="1200" b="1">
                <a:solidFill>
                  <a:srgbClr val="4E95D9"/>
                </a:solidFill>
                <a:latin typeface="BIZ UDPゴシック"/>
                <a:ea typeface="BIZ UDPゴシック"/>
              </a:rPr>
              <a:t>4</a:t>
            </a:r>
            <a:r>
              <a:rPr sz="1200" b="0">
                <a:solidFill>
                  <a:srgbClr val="8C8C8C"/>
                </a:solidFill>
                <a:latin typeface="BIZ UDPゴシック"/>
                <a:ea typeface="BIZ UDPゴシック"/>
              </a:rPr>
              <a:t> / 26</a:t>
            </a:r>
          </a:p>
        </p:txBody>
      </p:sp>
      <p:sp>
        <p:nvSpPr>
          <p:cNvPr id="3" name="下端の線"/>
          <p:cNvSpPr/>
          <p:nvPr/>
        </p:nvSpPr>
        <p:spPr>
          <a:xfrm>
            <a:off x="0" y="6803136"/>
            <a:ext cx="12192000" cy="54864"/>
          </a:xfrm>
          <a:prstGeom prst="rect">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の札"/>
          <p:cNvSpPr/>
          <p:nvPr/>
        </p:nvSpPr>
        <p:spPr>
          <a:xfrm>
            <a:off x="548640" y="292608"/>
            <a:ext cx="1584960" cy="274320"/>
          </a:xfrm>
          <a:prstGeom prst="roundRect">
            <a:avLst>
              <a:gd name="adj" fmla="val 50000"/>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BIZ UDPゴシック"/>
                <a:ea typeface="BIZ UDPゴシック"/>
              </a:rPr>
              <a:t>01  研究背景</a:t>
            </a:r>
          </a:p>
        </p:txBody>
      </p:sp>
      <p:sp>
        <p:nvSpPr>
          <p:cNvPr id="5" name="TextBox 4"/>
          <p:cNvSpPr txBox="1"/>
          <p:nvPr/>
        </p:nvSpPr>
        <p:spPr>
          <a:xfrm>
            <a:off x="548640" y="621792"/>
            <a:ext cx="11064240" cy="548640"/>
          </a:xfrm>
          <a:prstGeom prst="rect">
            <a:avLst/>
          </a:prstGeom>
          <a:noFill/>
        </p:spPr>
        <p:txBody>
          <a:bodyPr wrap="square" anchor="ctr" lIns="0" rIns="0" tIns="0" bIns="0">
            <a:spAutoFit/>
          </a:bodyPr>
          <a:lstStyle/>
          <a:p>
            <a:pPr algn="l">
              <a:lnSpc>
                <a:spcPct val="100000"/>
              </a:lnSpc>
            </a:pPr>
            <a:r>
              <a:rPr sz="3000" b="1">
                <a:solidFill>
                  <a:srgbClr val="1F3A5F"/>
                </a:solidFill>
                <a:latin typeface="BIZ UDPゴシック"/>
                <a:ea typeface="BIZ UDPゴシック"/>
              </a:rPr>
              <a:t>月面探査とローバーの運用</a:t>
            </a:r>
          </a:p>
        </p:txBody>
      </p:sp>
      <p:sp>
        <p:nvSpPr>
          <p:cNvPr id="6" name="区切り線"/>
          <p:cNvSpPr/>
          <p:nvPr/>
        </p:nvSpPr>
        <p:spPr>
          <a:xfrm>
            <a:off x="548640" y="1225296"/>
            <a:ext cx="11091672" cy="12700"/>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over_toyota.jpg"/>
          <p:cNvPicPr>
            <a:picLocks noChangeAspect="1"/>
          </p:cNvPicPr>
          <p:nvPr/>
        </p:nvPicPr>
        <p:blipFill>
          <a:blip r:embed="rId3"/>
          <a:stretch>
            <a:fillRect/>
          </a:stretch>
        </p:blipFill>
        <p:spPr>
          <a:xfrm>
            <a:off x="7223760" y="1522516"/>
            <a:ext cx="4389120" cy="1984167"/>
          </a:xfrm>
          <a:prstGeom prst="roundRect">
            <a:avLst>
              <a:gd name="adj" fmla="val 4000"/>
            </a:avLst>
          </a:prstGeom>
        </p:spPr>
      </p:pic>
      <p:sp>
        <p:nvSpPr>
          <p:cNvPr id="8" name="TextBox 7"/>
          <p:cNvSpPr txBox="1"/>
          <p:nvPr/>
        </p:nvSpPr>
        <p:spPr>
          <a:xfrm>
            <a:off x="7223760" y="3579835"/>
            <a:ext cx="4389120" cy="320040"/>
          </a:xfrm>
          <a:prstGeom prst="rect">
            <a:avLst/>
          </a:prstGeom>
          <a:noFill/>
        </p:spPr>
        <p:txBody>
          <a:bodyPr wrap="square" anchor="t" lIns="0" rIns="0" tIns="0" bIns="0">
            <a:spAutoFit/>
          </a:bodyPr>
          <a:lstStyle/>
          <a:p>
            <a:pPr algn="ctr">
              <a:lnSpc>
                <a:spcPct val="120000"/>
              </a:lnSpc>
            </a:pPr>
            <a:r>
              <a:rPr sz="1600" b="0">
                <a:solidFill>
                  <a:srgbClr val="8C8C8C"/>
                </a:solidFill>
                <a:latin typeface="BIZ UDPゴシック"/>
                <a:ea typeface="BIZ UDPゴシック"/>
              </a:rPr>
              <a:t>TOYOTA 有人与圧ローバー [1]</a:t>
            </a:r>
          </a:p>
        </p:txBody>
      </p:sp>
      <p:sp>
        <p:nvSpPr>
          <p:cNvPr id="9" name="行頭の点"/>
          <p:cNvSpPr/>
          <p:nvPr/>
        </p:nvSpPr>
        <p:spPr>
          <a:xfrm>
            <a:off x="731520" y="1692910"/>
            <a:ext cx="91440" cy="91440"/>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7420" y="1554480"/>
            <a:ext cx="6093460" cy="368300"/>
          </a:xfrm>
          <a:prstGeom prst="rect">
            <a:avLst/>
          </a:prstGeom>
          <a:noFill/>
        </p:spPr>
        <p:txBody>
          <a:bodyPr wrap="square" anchor="ctr" lIns="0" rIns="0" tIns="0" bIns="0">
            <a:spAutoFit/>
          </a:bodyPr>
          <a:lstStyle/>
          <a:p>
            <a:pPr algn="l">
              <a:lnSpc>
                <a:spcPct val="120000"/>
              </a:lnSpc>
            </a:pPr>
            <a:r>
              <a:rPr sz="2000" b="1">
                <a:solidFill>
                  <a:srgbClr val="215F9A"/>
                </a:solidFill>
                <a:latin typeface="BIZ UDPゴシック"/>
                <a:ea typeface="BIZ UDPゴシック"/>
              </a:rPr>
              <a:t>アルテミス計画</a:t>
            </a:r>
            <a:r>
              <a:rPr sz="2000" b="0">
                <a:solidFill>
                  <a:srgbClr val="262626"/>
                </a:solidFill>
                <a:latin typeface="BIZ UDPゴシック"/>
                <a:ea typeface="BIZ UDPゴシック"/>
              </a:rPr>
              <a:t>：NASA が主導する有人月面探査</a:t>
            </a:r>
          </a:p>
        </p:txBody>
      </p:sp>
      <p:sp>
        <p:nvSpPr>
          <p:cNvPr id="11" name="行頭の点"/>
          <p:cNvSpPr/>
          <p:nvPr/>
        </p:nvSpPr>
        <p:spPr>
          <a:xfrm>
            <a:off x="731520" y="2226310"/>
            <a:ext cx="91440" cy="91440"/>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7420" y="2087880"/>
            <a:ext cx="6093460" cy="368300"/>
          </a:xfrm>
          <a:prstGeom prst="rect">
            <a:avLst/>
          </a:prstGeom>
          <a:noFill/>
        </p:spPr>
        <p:txBody>
          <a:bodyPr wrap="square" anchor="ctr" lIns="0" rIns="0" tIns="0" bIns="0">
            <a:spAutoFit/>
          </a:bodyPr>
          <a:lstStyle/>
          <a:p>
            <a:pPr algn="l">
              <a:lnSpc>
                <a:spcPct val="120000"/>
              </a:lnSpc>
            </a:pPr>
            <a:r>
              <a:rPr sz="2000" b="0">
                <a:solidFill>
                  <a:srgbClr val="262626"/>
                </a:solidFill>
                <a:latin typeface="BIZ UDPゴシック"/>
                <a:ea typeface="BIZ UDPゴシック"/>
              </a:rPr>
              <a:t>月面ローバーが広範囲の探査と輸送を担う</a:t>
            </a:r>
          </a:p>
        </p:txBody>
      </p:sp>
      <p:sp>
        <p:nvSpPr>
          <p:cNvPr id="13" name="行頭の点"/>
          <p:cNvSpPr/>
          <p:nvPr/>
        </p:nvSpPr>
        <p:spPr>
          <a:xfrm>
            <a:off x="731520" y="2759710"/>
            <a:ext cx="91440" cy="91440"/>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7420" y="2621280"/>
            <a:ext cx="6093460" cy="368300"/>
          </a:xfrm>
          <a:prstGeom prst="rect">
            <a:avLst/>
          </a:prstGeom>
          <a:noFill/>
        </p:spPr>
        <p:txBody>
          <a:bodyPr wrap="square" anchor="ctr" lIns="0" rIns="0" tIns="0" bIns="0">
            <a:spAutoFit/>
          </a:bodyPr>
          <a:lstStyle/>
          <a:p>
            <a:pPr algn="l">
              <a:lnSpc>
                <a:spcPct val="120000"/>
              </a:lnSpc>
            </a:pPr>
            <a:r>
              <a:rPr sz="2000" b="1">
                <a:solidFill>
                  <a:srgbClr val="215F9A"/>
                </a:solidFill>
                <a:latin typeface="BIZ UDPゴシック"/>
                <a:ea typeface="BIZ UDPゴシック"/>
              </a:rPr>
              <a:t>運転シミュレータ</a:t>
            </a:r>
            <a:r>
              <a:rPr sz="2000" b="0">
                <a:solidFill>
                  <a:srgbClr val="262626"/>
                </a:solidFill>
                <a:latin typeface="BIZ UDPゴシック"/>
                <a:ea typeface="BIZ UDPゴシック"/>
              </a:rPr>
              <a:t>で設計、計画、訓練を事前に行う</a:t>
            </a:r>
          </a:p>
        </p:txBody>
      </p:sp>
      <p:sp>
        <p:nvSpPr>
          <p:cNvPr id="15" name="帰結の矢印"/>
          <p:cNvSpPr/>
          <p:nvPr/>
        </p:nvSpPr>
        <p:spPr>
          <a:xfrm rot="5400000">
            <a:off x="5948172" y="3941064"/>
            <a:ext cx="292608" cy="548640"/>
          </a:xfrm>
          <a:prstGeom prst="chevron">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結論の面"/>
          <p:cNvSpPr/>
          <p:nvPr/>
        </p:nvSpPr>
        <p:spPr>
          <a:xfrm>
            <a:off x="1097280" y="4572000"/>
            <a:ext cx="9994392" cy="749808"/>
          </a:xfrm>
          <a:prstGeom prst="roundRect">
            <a:avLst>
              <a:gd name="adj" fmla="val 18000"/>
            </a:avLst>
          </a:prstGeom>
          <a:solidFill>
            <a:srgbClr val="DCE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71600" y="4572000"/>
            <a:ext cx="9445752" cy="749808"/>
          </a:xfrm>
          <a:prstGeom prst="rect">
            <a:avLst/>
          </a:prstGeom>
          <a:noFill/>
        </p:spPr>
        <p:txBody>
          <a:bodyPr wrap="square" anchor="ctr" lIns="0" rIns="0" tIns="0" bIns="0">
            <a:spAutoFit/>
          </a:bodyPr>
          <a:lstStyle/>
          <a:p>
            <a:pPr algn="ctr">
              <a:lnSpc>
                <a:spcPct val="120000"/>
              </a:lnSpc>
            </a:pPr>
            <a:r>
              <a:rPr sz="2400" b="1">
                <a:solidFill>
                  <a:srgbClr val="1F3A5F"/>
                </a:solidFill>
                <a:latin typeface="BIZ UDPゴシック"/>
                <a:ea typeface="BIZ UDPゴシック"/>
              </a:rPr>
              <a:t>月面での </a:t>
            </a:r>
            <a:r>
              <a:rPr sz="2400" b="1" u="heavy">
                <a:solidFill>
                  <a:srgbClr val="215F9A"/>
                </a:solidFill>
                <a:uFill>
                  <a:solidFill>
                    <a:srgbClr val="FFC000"/>
                  </a:solidFill>
                </a:uFill>
                <a:latin typeface="BIZ UDPゴシック"/>
                <a:ea typeface="BIZ UDPゴシック"/>
              </a:rPr>
              <a:t>ローバーの走行を再現</a:t>
            </a:r>
            <a:r>
              <a:rPr sz="2400" b="1">
                <a:solidFill>
                  <a:srgbClr val="1F3A5F"/>
                </a:solidFill>
                <a:latin typeface="BIZ UDPゴシック"/>
                <a:ea typeface="BIZ UDPゴシック"/>
              </a:rPr>
              <a:t> するシミュレータが必要</a:t>
            </a:r>
          </a:p>
        </p:txBody>
      </p:sp>
      <p:sp>
        <p:nvSpPr>
          <p:cNvPr id="18" name="TextBox 17"/>
          <p:cNvSpPr txBox="1"/>
          <p:nvPr/>
        </p:nvSpPr>
        <p:spPr>
          <a:xfrm>
            <a:off x="548640" y="6139053"/>
            <a:ext cx="11064240" cy="188595"/>
          </a:xfrm>
          <a:prstGeom prst="rect">
            <a:avLst/>
          </a:prstGeom>
          <a:noFill/>
        </p:spPr>
        <p:txBody>
          <a:bodyPr wrap="square" anchor="t" lIns="0" rIns="0" tIns="0" bIns="0">
            <a:spAutoFit/>
          </a:bodyPr>
          <a:lstStyle/>
          <a:p>
            <a:pPr algn="l">
              <a:lnSpc>
                <a:spcPct val="100000"/>
              </a:lnSpc>
            </a:pPr>
            <a:r>
              <a:rPr sz="1100" b="0">
                <a:solidFill>
                  <a:srgbClr val="8C8C8C"/>
                </a:solidFill>
                <a:latin typeface="BIZ UDPゴシック"/>
                <a:ea typeface="BIZ UDPゴシック"/>
              </a:rPr>
              <a:t>[1] https://humans-in-space.jaxa.jp/biz-lab/tech/pressurized-rover/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11512" y="6400800"/>
            <a:ext cx="1828800" cy="228600"/>
          </a:xfrm>
          <a:prstGeom prst="rect">
            <a:avLst/>
          </a:prstGeom>
          <a:noFill/>
        </p:spPr>
        <p:txBody>
          <a:bodyPr wrap="square" anchor="ctr" lIns="0" rIns="0" tIns="0" bIns="0">
            <a:spAutoFit/>
          </a:bodyPr>
          <a:lstStyle/>
          <a:p>
            <a:pPr algn="r">
              <a:lnSpc>
                <a:spcPct val="120000"/>
              </a:lnSpc>
            </a:pPr>
            <a:r>
              <a:rPr sz="1200" b="1">
                <a:solidFill>
                  <a:srgbClr val="4E95D9"/>
                </a:solidFill>
                <a:latin typeface="BIZ UDPゴシック"/>
                <a:ea typeface="BIZ UDPゴシック"/>
              </a:rPr>
              <a:t>5</a:t>
            </a:r>
            <a:r>
              <a:rPr sz="1200" b="0">
                <a:solidFill>
                  <a:srgbClr val="8C8C8C"/>
                </a:solidFill>
                <a:latin typeface="BIZ UDPゴシック"/>
                <a:ea typeface="BIZ UDPゴシック"/>
              </a:rPr>
              <a:t> / 26</a:t>
            </a:r>
          </a:p>
        </p:txBody>
      </p:sp>
      <p:sp>
        <p:nvSpPr>
          <p:cNvPr id="3" name="下端の線"/>
          <p:cNvSpPr/>
          <p:nvPr/>
        </p:nvSpPr>
        <p:spPr>
          <a:xfrm>
            <a:off x="0" y="6803136"/>
            <a:ext cx="12192000" cy="54864"/>
          </a:xfrm>
          <a:prstGeom prst="rect">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の札"/>
          <p:cNvSpPr/>
          <p:nvPr/>
        </p:nvSpPr>
        <p:spPr>
          <a:xfrm>
            <a:off x="548640" y="292608"/>
            <a:ext cx="1584960" cy="274320"/>
          </a:xfrm>
          <a:prstGeom prst="roundRect">
            <a:avLst>
              <a:gd name="adj" fmla="val 50000"/>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BIZ UDPゴシック"/>
                <a:ea typeface="BIZ UDPゴシック"/>
              </a:rPr>
              <a:t>01  研究背景</a:t>
            </a:r>
          </a:p>
        </p:txBody>
      </p:sp>
      <p:sp>
        <p:nvSpPr>
          <p:cNvPr id="5" name="TextBox 4"/>
          <p:cNvSpPr txBox="1"/>
          <p:nvPr/>
        </p:nvSpPr>
        <p:spPr>
          <a:xfrm>
            <a:off x="548640" y="621792"/>
            <a:ext cx="11064240" cy="548640"/>
          </a:xfrm>
          <a:prstGeom prst="rect">
            <a:avLst/>
          </a:prstGeom>
          <a:noFill/>
        </p:spPr>
        <p:txBody>
          <a:bodyPr wrap="square" anchor="ctr" lIns="0" rIns="0" tIns="0" bIns="0">
            <a:spAutoFit/>
          </a:bodyPr>
          <a:lstStyle/>
          <a:p>
            <a:pPr algn="l">
              <a:lnSpc>
                <a:spcPct val="100000"/>
              </a:lnSpc>
            </a:pPr>
            <a:r>
              <a:rPr sz="3000" b="1">
                <a:solidFill>
                  <a:srgbClr val="1F3A5F"/>
                </a:solidFill>
                <a:latin typeface="BIZ UDPゴシック"/>
                <a:ea typeface="BIZ UDPゴシック"/>
              </a:rPr>
              <a:t>レゴリスと走行への影響</a:t>
            </a:r>
          </a:p>
        </p:txBody>
      </p:sp>
      <p:sp>
        <p:nvSpPr>
          <p:cNvPr id="6" name="区切り線"/>
          <p:cNvSpPr/>
          <p:nvPr/>
        </p:nvSpPr>
        <p:spPr>
          <a:xfrm>
            <a:off x="548640" y="1225296"/>
            <a:ext cx="11091672" cy="12700"/>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egolith.jpg"/>
          <p:cNvPicPr>
            <a:picLocks noChangeAspect="1"/>
          </p:cNvPicPr>
          <p:nvPr/>
        </p:nvPicPr>
        <p:blipFill>
          <a:blip r:embed="rId3"/>
          <a:stretch>
            <a:fillRect/>
          </a:stretch>
        </p:blipFill>
        <p:spPr>
          <a:xfrm>
            <a:off x="650966" y="1508760"/>
            <a:ext cx="2721428" cy="2743200"/>
          </a:xfrm>
          <a:prstGeom prst="roundRect">
            <a:avLst>
              <a:gd name="adj" fmla="val 4000"/>
            </a:avLst>
          </a:prstGeom>
        </p:spPr>
      </p:pic>
      <p:sp>
        <p:nvSpPr>
          <p:cNvPr id="8" name="TextBox 7"/>
          <p:cNvSpPr txBox="1"/>
          <p:nvPr/>
        </p:nvSpPr>
        <p:spPr>
          <a:xfrm>
            <a:off x="640080" y="4325112"/>
            <a:ext cx="2743200" cy="320040"/>
          </a:xfrm>
          <a:prstGeom prst="rect">
            <a:avLst/>
          </a:prstGeom>
          <a:noFill/>
        </p:spPr>
        <p:txBody>
          <a:bodyPr wrap="square" anchor="t" lIns="0" rIns="0" tIns="0" bIns="0">
            <a:spAutoFit/>
          </a:bodyPr>
          <a:lstStyle/>
          <a:p>
            <a:pPr algn="ctr">
              <a:lnSpc>
                <a:spcPct val="120000"/>
              </a:lnSpc>
            </a:pPr>
            <a:r>
              <a:rPr sz="1600" b="0">
                <a:solidFill>
                  <a:srgbClr val="8C8C8C"/>
                </a:solidFill>
                <a:latin typeface="BIZ UDPゴシック"/>
                <a:ea typeface="BIZ UDPゴシック"/>
              </a:rPr>
              <a:t>レゴリス [2]</a:t>
            </a:r>
          </a:p>
        </p:txBody>
      </p:sp>
      <p:sp>
        <p:nvSpPr>
          <p:cNvPr id="9" name="TextBox 8"/>
          <p:cNvSpPr txBox="1"/>
          <p:nvPr/>
        </p:nvSpPr>
        <p:spPr>
          <a:xfrm>
            <a:off x="3840480" y="1508760"/>
            <a:ext cx="7680960" cy="365760"/>
          </a:xfrm>
          <a:prstGeom prst="rect">
            <a:avLst/>
          </a:prstGeom>
          <a:noFill/>
        </p:spPr>
        <p:txBody>
          <a:bodyPr wrap="square" anchor="t" lIns="0" rIns="0" tIns="0" bIns="0">
            <a:spAutoFit/>
          </a:bodyPr>
          <a:lstStyle/>
          <a:p>
            <a:pPr algn="l">
              <a:lnSpc>
                <a:spcPct val="120000"/>
              </a:lnSpc>
            </a:pPr>
            <a:r>
              <a:rPr sz="2000" b="1">
                <a:solidFill>
                  <a:srgbClr val="215F9A"/>
                </a:solidFill>
                <a:latin typeface="BIZ UDPゴシック"/>
                <a:ea typeface="BIZ UDPゴシック"/>
              </a:rPr>
              <a:t>レゴリス</a:t>
            </a:r>
            <a:r>
              <a:rPr sz="2000" b="0">
                <a:latin typeface="BIZ UDPゴシック"/>
                <a:ea typeface="BIZ UDPゴシック"/>
              </a:rPr>
              <a:t>：天体表面を覆う細かな砂状の堆積層</a:t>
            </a:r>
          </a:p>
        </p:txBody>
      </p:sp>
      <p:sp>
        <p:nvSpPr>
          <p:cNvPr id="10" name="行頭の点"/>
          <p:cNvSpPr/>
          <p:nvPr/>
        </p:nvSpPr>
        <p:spPr>
          <a:xfrm>
            <a:off x="3840480" y="2195830"/>
            <a:ext cx="91440" cy="91440"/>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56380" y="2057400"/>
            <a:ext cx="7465060" cy="368300"/>
          </a:xfrm>
          <a:prstGeom prst="rect">
            <a:avLst/>
          </a:prstGeom>
          <a:noFill/>
        </p:spPr>
        <p:txBody>
          <a:bodyPr wrap="square" anchor="ctr" lIns="0" rIns="0" tIns="0" bIns="0">
            <a:spAutoFit/>
          </a:bodyPr>
          <a:lstStyle/>
          <a:p>
            <a:pPr algn="l">
              <a:lnSpc>
                <a:spcPct val="120000"/>
              </a:lnSpc>
            </a:pPr>
            <a:r>
              <a:rPr sz="2000" b="0">
                <a:solidFill>
                  <a:srgbClr val="262626"/>
                </a:solidFill>
                <a:latin typeface="BIZ UDPゴシック"/>
                <a:ea typeface="BIZ UDPゴシック"/>
              </a:rPr>
              <a:t>砂地のように沈み込み、走破性が下がる</a:t>
            </a:r>
          </a:p>
        </p:txBody>
      </p:sp>
      <p:sp>
        <p:nvSpPr>
          <p:cNvPr id="12" name="行頭の点"/>
          <p:cNvSpPr/>
          <p:nvPr/>
        </p:nvSpPr>
        <p:spPr>
          <a:xfrm>
            <a:off x="3840480" y="2637282"/>
            <a:ext cx="91440" cy="91440"/>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56380" y="2498852"/>
            <a:ext cx="7465060" cy="368300"/>
          </a:xfrm>
          <a:prstGeom prst="rect">
            <a:avLst/>
          </a:prstGeom>
          <a:noFill/>
        </p:spPr>
        <p:txBody>
          <a:bodyPr wrap="square" anchor="ctr" lIns="0" rIns="0" tIns="0" bIns="0">
            <a:spAutoFit/>
          </a:bodyPr>
          <a:lstStyle/>
          <a:p>
            <a:pPr algn="l">
              <a:lnSpc>
                <a:spcPct val="120000"/>
              </a:lnSpc>
            </a:pPr>
            <a:r>
              <a:rPr sz="2000" b="0">
                <a:solidFill>
                  <a:srgbClr val="262626"/>
                </a:solidFill>
                <a:latin typeface="BIZ UDPゴシック"/>
                <a:ea typeface="BIZ UDPゴシック"/>
              </a:rPr>
              <a:t>タイヤに付着し、走行性能が持続的に下がる</a:t>
            </a:r>
          </a:p>
        </p:txBody>
      </p:sp>
      <p:sp>
        <p:nvSpPr>
          <p:cNvPr id="14" name="行頭の点"/>
          <p:cNvSpPr/>
          <p:nvPr/>
        </p:nvSpPr>
        <p:spPr>
          <a:xfrm>
            <a:off x="3840480" y="3078734"/>
            <a:ext cx="91440" cy="91440"/>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56380" y="2940304"/>
            <a:ext cx="7465060" cy="368300"/>
          </a:xfrm>
          <a:prstGeom prst="rect">
            <a:avLst/>
          </a:prstGeom>
          <a:noFill/>
        </p:spPr>
        <p:txBody>
          <a:bodyPr wrap="square" anchor="ctr" lIns="0" rIns="0" tIns="0" bIns="0">
            <a:spAutoFit/>
          </a:bodyPr>
          <a:lstStyle/>
          <a:p>
            <a:pPr algn="l">
              <a:lnSpc>
                <a:spcPct val="120000"/>
              </a:lnSpc>
            </a:pPr>
            <a:r>
              <a:rPr sz="2000" b="0">
                <a:solidFill>
                  <a:srgbClr val="262626"/>
                </a:solidFill>
                <a:latin typeface="BIZ UDPゴシック"/>
                <a:ea typeface="BIZ UDPゴシック"/>
              </a:rPr>
              <a:t>走行時に舞い上がり、視界やセンサーを遮る</a:t>
            </a:r>
          </a:p>
        </p:txBody>
      </p:sp>
      <p:sp>
        <p:nvSpPr>
          <p:cNvPr id="16" name="結論の面"/>
          <p:cNvSpPr/>
          <p:nvPr/>
        </p:nvSpPr>
        <p:spPr>
          <a:xfrm>
            <a:off x="1645920" y="4709160"/>
            <a:ext cx="8897112" cy="749808"/>
          </a:xfrm>
          <a:prstGeom prst="roundRect">
            <a:avLst>
              <a:gd name="adj" fmla="val 18000"/>
            </a:avLst>
          </a:prstGeom>
          <a:solidFill>
            <a:srgbClr val="DCE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20240" y="4709160"/>
            <a:ext cx="8348472" cy="749808"/>
          </a:xfrm>
          <a:prstGeom prst="rect">
            <a:avLst/>
          </a:prstGeom>
          <a:noFill/>
        </p:spPr>
        <p:txBody>
          <a:bodyPr wrap="square" anchor="ctr" lIns="0" rIns="0" tIns="0" bIns="0">
            <a:spAutoFit/>
          </a:bodyPr>
          <a:lstStyle/>
          <a:p>
            <a:pPr algn="ctr">
              <a:lnSpc>
                <a:spcPct val="120000"/>
              </a:lnSpc>
            </a:pPr>
            <a:r>
              <a:rPr sz="2400" b="1">
                <a:solidFill>
                  <a:srgbClr val="1F3A5F"/>
                </a:solidFill>
                <a:latin typeface="BIZ UDPゴシック"/>
                <a:ea typeface="BIZ UDPゴシック"/>
              </a:rPr>
              <a:t>レゴリスとホイールの </a:t>
            </a:r>
            <a:r>
              <a:rPr sz="2400" b="1" u="heavy">
                <a:solidFill>
                  <a:srgbClr val="215F9A"/>
                </a:solidFill>
                <a:uFill>
                  <a:solidFill>
                    <a:srgbClr val="FFC000"/>
                  </a:solidFill>
                </a:uFill>
                <a:latin typeface="BIZ UDPゴシック"/>
                <a:ea typeface="BIZ UDPゴシック"/>
              </a:rPr>
              <a:t>相互作用の再現</a:t>
            </a:r>
            <a:r>
              <a:rPr sz="2400" b="1">
                <a:solidFill>
                  <a:srgbClr val="1F3A5F"/>
                </a:solidFill>
                <a:latin typeface="BIZ UDPゴシック"/>
                <a:ea typeface="BIZ UDPゴシック"/>
              </a:rPr>
              <a:t> が不可欠</a:t>
            </a:r>
          </a:p>
        </p:txBody>
      </p:sp>
      <p:sp>
        <p:nvSpPr>
          <p:cNvPr id="18" name="TextBox 17"/>
          <p:cNvSpPr txBox="1"/>
          <p:nvPr/>
        </p:nvSpPr>
        <p:spPr>
          <a:xfrm>
            <a:off x="548640" y="6139053"/>
            <a:ext cx="11064240" cy="188595"/>
          </a:xfrm>
          <a:prstGeom prst="rect">
            <a:avLst/>
          </a:prstGeom>
          <a:noFill/>
        </p:spPr>
        <p:txBody>
          <a:bodyPr wrap="square" anchor="t" lIns="0" rIns="0" tIns="0" bIns="0">
            <a:spAutoFit/>
          </a:bodyPr>
          <a:lstStyle/>
          <a:p>
            <a:pPr algn="l">
              <a:lnSpc>
                <a:spcPct val="100000"/>
              </a:lnSpc>
            </a:pPr>
            <a:r>
              <a:rPr sz="1100" b="0">
                <a:solidFill>
                  <a:srgbClr val="8C8C8C"/>
                </a:solidFill>
                <a:latin typeface="BIZ UDPゴシック"/>
                <a:ea typeface="BIZ UDPゴシック"/>
              </a:rPr>
              <a:t>[2] https://ja.wikipedia.org/wiki/レゴリス</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11512" y="6400800"/>
            <a:ext cx="1828800" cy="228600"/>
          </a:xfrm>
          <a:prstGeom prst="rect">
            <a:avLst/>
          </a:prstGeom>
          <a:noFill/>
        </p:spPr>
        <p:txBody>
          <a:bodyPr wrap="square" anchor="ctr" lIns="0" rIns="0" tIns="0" bIns="0">
            <a:spAutoFit/>
          </a:bodyPr>
          <a:lstStyle/>
          <a:p>
            <a:pPr algn="r">
              <a:lnSpc>
                <a:spcPct val="120000"/>
              </a:lnSpc>
            </a:pPr>
            <a:r>
              <a:rPr sz="1200" b="1">
                <a:solidFill>
                  <a:srgbClr val="4E95D9"/>
                </a:solidFill>
                <a:latin typeface="BIZ UDPゴシック"/>
                <a:ea typeface="BIZ UDPゴシック"/>
              </a:rPr>
              <a:t>6</a:t>
            </a:r>
            <a:r>
              <a:rPr sz="1200" b="0">
                <a:solidFill>
                  <a:srgbClr val="8C8C8C"/>
                </a:solidFill>
                <a:latin typeface="BIZ UDPゴシック"/>
                <a:ea typeface="BIZ UDPゴシック"/>
              </a:rPr>
              <a:t> / 26</a:t>
            </a:r>
          </a:p>
        </p:txBody>
      </p:sp>
      <p:sp>
        <p:nvSpPr>
          <p:cNvPr id="3" name="下端の線"/>
          <p:cNvSpPr/>
          <p:nvPr/>
        </p:nvSpPr>
        <p:spPr>
          <a:xfrm>
            <a:off x="0" y="6803136"/>
            <a:ext cx="12192000" cy="54864"/>
          </a:xfrm>
          <a:prstGeom prst="rect">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5029200" cy="2194560"/>
          </a:xfrm>
          <a:prstGeom prst="rect">
            <a:avLst/>
          </a:prstGeom>
          <a:noFill/>
        </p:spPr>
        <p:txBody>
          <a:bodyPr wrap="square" anchor="b" lIns="0" rIns="0" tIns="0" bIns="0">
            <a:spAutoFit/>
          </a:bodyPr>
          <a:lstStyle/>
          <a:p>
            <a:pPr algn="l">
              <a:lnSpc>
                <a:spcPct val="90000"/>
              </a:lnSpc>
            </a:pPr>
            <a:r>
              <a:rPr sz="15000" b="1">
                <a:solidFill>
                  <a:srgbClr val="DCEAF7"/>
                </a:solidFill>
                <a:latin typeface="BIZ UDPゴシック"/>
                <a:ea typeface="BIZ UDPゴシック"/>
              </a:rPr>
              <a:t>02</a:t>
            </a:r>
          </a:p>
        </p:txBody>
      </p:sp>
      <p:sp>
        <p:nvSpPr>
          <p:cNvPr id="5" name="TextBox 4"/>
          <p:cNvSpPr txBox="1"/>
          <p:nvPr/>
        </p:nvSpPr>
        <p:spPr>
          <a:xfrm>
            <a:off x="685800" y="3429000"/>
            <a:ext cx="5669280" cy="1280160"/>
          </a:xfrm>
          <a:prstGeom prst="rect">
            <a:avLst/>
          </a:prstGeom>
          <a:noFill/>
        </p:spPr>
        <p:txBody>
          <a:bodyPr wrap="square" anchor="t" lIns="0" rIns="0" tIns="0" bIns="0">
            <a:spAutoFit/>
          </a:bodyPr>
          <a:lstStyle/>
          <a:p>
            <a:pPr algn="l">
              <a:lnSpc>
                <a:spcPct val="120000"/>
              </a:lnSpc>
            </a:pPr>
            <a:r>
              <a:rPr sz="3600" b="1">
                <a:solidFill>
                  <a:srgbClr val="1F3A5F"/>
                </a:solidFill>
                <a:latin typeface="BIZ UDPゴシック"/>
                <a:ea typeface="BIZ UDPゴシック"/>
              </a:rPr>
              <a:t>関連研究</a:t>
            </a:r>
          </a:p>
        </p:txBody>
      </p:sp>
      <p:sp>
        <p:nvSpPr>
          <p:cNvPr id="6" name="Rectangle 5"/>
          <p:cNvSpPr/>
          <p:nvPr/>
        </p:nvSpPr>
        <p:spPr>
          <a:xfrm>
            <a:off x="6720840" y="1463040"/>
            <a:ext cx="12700" cy="3657600"/>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86600" y="1737360"/>
            <a:ext cx="4572000" cy="3291840"/>
          </a:xfrm>
          <a:prstGeom prst="rect">
            <a:avLst/>
          </a:prstGeom>
          <a:noFill/>
        </p:spPr>
        <p:txBody>
          <a:bodyPr wrap="square" anchor="t" lIns="0" rIns="0" tIns="0" bIns="0">
            <a:spAutoFit/>
          </a:bodyPr>
          <a:lstStyle/>
          <a:p>
            <a:pPr algn="l">
              <a:lnSpc>
                <a:spcPct val="100000"/>
              </a:lnSpc>
              <a:spcAft>
                <a:spcPts val="1800"/>
              </a:spcAft>
            </a:pPr>
            <a:r>
              <a:rPr sz="2000" b="1">
                <a:solidFill>
                  <a:srgbClr val="D9DEE6"/>
                </a:solidFill>
                <a:latin typeface="BIZ UDPゴシック"/>
                <a:ea typeface="BIZ UDPゴシック"/>
              </a:rPr>
              <a:t>01</a:t>
            </a:r>
            <a:r>
              <a:rPr sz="2000" b="0">
                <a:solidFill>
                  <a:srgbClr val="8C8C8C"/>
                </a:solidFill>
                <a:latin typeface="BIZ UDPゴシック"/>
                <a:ea typeface="BIZ UDPゴシック"/>
              </a:rPr>
              <a:t>　研究背景</a:t>
            </a:r>
          </a:p>
          <a:p>
            <a:pPr algn="l">
              <a:lnSpc>
                <a:spcPct val="100000"/>
              </a:lnSpc>
              <a:spcAft>
                <a:spcPts val="1800"/>
              </a:spcAft>
            </a:pPr>
            <a:r>
              <a:rPr sz="2000" b="1">
                <a:solidFill>
                  <a:srgbClr val="4E95D9"/>
                </a:solidFill>
                <a:latin typeface="BIZ UDPゴシック"/>
                <a:ea typeface="BIZ UDPゴシック"/>
              </a:rPr>
              <a:t>02</a:t>
            </a:r>
            <a:r>
              <a:rPr sz="2000" b="1">
                <a:solidFill>
                  <a:srgbClr val="1F3A5F"/>
                </a:solidFill>
                <a:latin typeface="BIZ UDPゴシック"/>
                <a:ea typeface="BIZ UDPゴシック"/>
              </a:rPr>
              <a:t>　関連研究</a:t>
            </a:r>
          </a:p>
          <a:p>
            <a:pPr algn="l">
              <a:lnSpc>
                <a:spcPct val="100000"/>
              </a:lnSpc>
              <a:spcAft>
                <a:spcPts val="1800"/>
              </a:spcAft>
            </a:pPr>
            <a:r>
              <a:rPr sz="2000" b="1">
                <a:solidFill>
                  <a:srgbClr val="D9DEE6"/>
                </a:solidFill>
                <a:latin typeface="BIZ UDPゴシック"/>
                <a:ea typeface="BIZ UDPゴシック"/>
              </a:rPr>
              <a:t>03</a:t>
            </a:r>
            <a:r>
              <a:rPr sz="2000" b="0">
                <a:solidFill>
                  <a:srgbClr val="8C8C8C"/>
                </a:solidFill>
                <a:latin typeface="BIZ UDPゴシック"/>
                <a:ea typeface="BIZ UDPゴシック"/>
              </a:rPr>
              <a:t>　研究目的</a:t>
            </a:r>
          </a:p>
          <a:p>
            <a:pPr algn="l">
              <a:lnSpc>
                <a:spcPct val="100000"/>
              </a:lnSpc>
              <a:spcAft>
                <a:spcPts val="1800"/>
              </a:spcAft>
            </a:pPr>
            <a:r>
              <a:rPr sz="2000" b="1">
                <a:solidFill>
                  <a:srgbClr val="D9DEE6"/>
                </a:solidFill>
                <a:latin typeface="BIZ UDPゴシック"/>
                <a:ea typeface="BIZ UDPゴシック"/>
              </a:rPr>
              <a:t>04</a:t>
            </a:r>
            <a:r>
              <a:rPr sz="2000" b="0">
                <a:solidFill>
                  <a:srgbClr val="8C8C8C"/>
                </a:solidFill>
                <a:latin typeface="BIZ UDPゴシック"/>
                <a:ea typeface="BIZ UDPゴシック"/>
              </a:rPr>
              <a:t>　提案手法</a:t>
            </a:r>
          </a:p>
          <a:p>
            <a:pPr algn="l">
              <a:lnSpc>
                <a:spcPct val="100000"/>
              </a:lnSpc>
              <a:spcAft>
                <a:spcPts val="1800"/>
              </a:spcAft>
            </a:pPr>
            <a:r>
              <a:rPr sz="2000" b="1">
                <a:solidFill>
                  <a:srgbClr val="D9DEE6"/>
                </a:solidFill>
                <a:latin typeface="BIZ UDPゴシック"/>
                <a:ea typeface="BIZ UDPゴシック"/>
              </a:rPr>
              <a:t>05</a:t>
            </a:r>
            <a:r>
              <a:rPr sz="2000" b="0">
                <a:solidFill>
                  <a:srgbClr val="8C8C8C"/>
                </a:solidFill>
                <a:latin typeface="BIZ UDPゴシック"/>
                <a:ea typeface="BIZ UDPゴシック"/>
              </a:rPr>
              <a:t>　進捗</a:t>
            </a:r>
          </a:p>
          <a:p>
            <a:pPr algn="l">
              <a:lnSpc>
                <a:spcPct val="100000"/>
              </a:lnSpc>
              <a:spcAft>
                <a:spcPts val="1800"/>
              </a:spcAft>
            </a:pPr>
            <a:r>
              <a:rPr sz="2000" b="1">
                <a:solidFill>
                  <a:srgbClr val="D9DEE6"/>
                </a:solidFill>
                <a:latin typeface="BIZ UDPゴシック"/>
                <a:ea typeface="BIZ UDPゴシック"/>
              </a:rPr>
              <a:t>06</a:t>
            </a:r>
            <a:r>
              <a:rPr sz="2000" b="0">
                <a:solidFill>
                  <a:srgbClr val="8C8C8C"/>
                </a:solidFill>
                <a:latin typeface="BIZ UDPゴシック"/>
                <a:ea typeface="BIZ UDPゴシック"/>
              </a:rPr>
              <a:t>　今後の計画</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11512" y="6400800"/>
            <a:ext cx="1828800" cy="228600"/>
          </a:xfrm>
          <a:prstGeom prst="rect">
            <a:avLst/>
          </a:prstGeom>
          <a:noFill/>
        </p:spPr>
        <p:txBody>
          <a:bodyPr wrap="square" anchor="ctr" lIns="0" rIns="0" tIns="0" bIns="0">
            <a:spAutoFit/>
          </a:bodyPr>
          <a:lstStyle/>
          <a:p>
            <a:pPr algn="r">
              <a:lnSpc>
                <a:spcPct val="120000"/>
              </a:lnSpc>
            </a:pPr>
            <a:r>
              <a:rPr sz="1200" b="1">
                <a:solidFill>
                  <a:srgbClr val="4E95D9"/>
                </a:solidFill>
                <a:latin typeface="BIZ UDPゴシック"/>
                <a:ea typeface="BIZ UDPゴシック"/>
              </a:rPr>
              <a:t>7</a:t>
            </a:r>
            <a:r>
              <a:rPr sz="1200" b="0">
                <a:solidFill>
                  <a:srgbClr val="8C8C8C"/>
                </a:solidFill>
                <a:latin typeface="BIZ UDPゴシック"/>
                <a:ea typeface="BIZ UDPゴシック"/>
              </a:rPr>
              <a:t> / 26</a:t>
            </a:r>
          </a:p>
        </p:txBody>
      </p:sp>
      <p:sp>
        <p:nvSpPr>
          <p:cNvPr id="3" name="下端の線"/>
          <p:cNvSpPr/>
          <p:nvPr/>
        </p:nvSpPr>
        <p:spPr>
          <a:xfrm>
            <a:off x="0" y="6803136"/>
            <a:ext cx="12192000" cy="54864"/>
          </a:xfrm>
          <a:prstGeom prst="rect">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の札"/>
          <p:cNvSpPr/>
          <p:nvPr/>
        </p:nvSpPr>
        <p:spPr>
          <a:xfrm>
            <a:off x="548640" y="292608"/>
            <a:ext cx="1584960" cy="274320"/>
          </a:xfrm>
          <a:prstGeom prst="roundRect">
            <a:avLst>
              <a:gd name="adj" fmla="val 50000"/>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BIZ UDPゴシック"/>
                <a:ea typeface="BIZ UDPゴシック"/>
              </a:rPr>
              <a:t>02  関連研究</a:t>
            </a:r>
          </a:p>
        </p:txBody>
      </p:sp>
      <p:sp>
        <p:nvSpPr>
          <p:cNvPr id="5" name="TextBox 4"/>
          <p:cNvSpPr txBox="1"/>
          <p:nvPr/>
        </p:nvSpPr>
        <p:spPr>
          <a:xfrm>
            <a:off x="548640" y="621792"/>
            <a:ext cx="11064240" cy="548640"/>
          </a:xfrm>
          <a:prstGeom prst="rect">
            <a:avLst/>
          </a:prstGeom>
          <a:noFill/>
        </p:spPr>
        <p:txBody>
          <a:bodyPr wrap="square" anchor="ctr" lIns="0" rIns="0" tIns="0" bIns="0">
            <a:spAutoFit/>
          </a:bodyPr>
          <a:lstStyle/>
          <a:p>
            <a:pPr algn="l">
              <a:lnSpc>
                <a:spcPct val="100000"/>
              </a:lnSpc>
            </a:pPr>
            <a:r>
              <a:rPr sz="3000" b="1">
                <a:solidFill>
                  <a:srgbClr val="1F3A5F"/>
                </a:solidFill>
                <a:latin typeface="BIZ UDPゴシック"/>
                <a:ea typeface="BIZ UDPゴシック"/>
              </a:rPr>
              <a:t>ホイールとレゴリスの相互作用の解析</a:t>
            </a:r>
          </a:p>
        </p:txBody>
      </p:sp>
      <p:sp>
        <p:nvSpPr>
          <p:cNvPr id="6" name="区切り線"/>
          <p:cNvSpPr/>
          <p:nvPr/>
        </p:nvSpPr>
        <p:spPr>
          <a:xfrm>
            <a:off x="548640" y="1225296"/>
            <a:ext cx="11091672" cy="12700"/>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jiang_dem.png"/>
          <p:cNvPicPr>
            <a:picLocks noChangeAspect="1"/>
          </p:cNvPicPr>
          <p:nvPr/>
        </p:nvPicPr>
        <p:blipFill>
          <a:blip r:embed="rId3"/>
          <a:stretch>
            <a:fillRect/>
          </a:stretch>
        </p:blipFill>
        <p:spPr>
          <a:xfrm>
            <a:off x="731520" y="1585564"/>
            <a:ext cx="5669280" cy="1766631"/>
          </a:xfrm>
          <a:prstGeom prst="roundRect">
            <a:avLst>
              <a:gd name="adj" fmla="val 4000"/>
            </a:avLst>
          </a:prstGeom>
        </p:spPr>
      </p:pic>
      <p:sp>
        <p:nvSpPr>
          <p:cNvPr id="8" name="TextBox 7"/>
          <p:cNvSpPr txBox="1"/>
          <p:nvPr/>
        </p:nvSpPr>
        <p:spPr>
          <a:xfrm>
            <a:off x="731520" y="3425347"/>
            <a:ext cx="5669280" cy="320040"/>
          </a:xfrm>
          <a:prstGeom prst="rect">
            <a:avLst/>
          </a:prstGeom>
          <a:noFill/>
        </p:spPr>
        <p:txBody>
          <a:bodyPr wrap="square" anchor="t" lIns="0" rIns="0" tIns="0" bIns="0">
            <a:spAutoFit/>
          </a:bodyPr>
          <a:lstStyle/>
          <a:p>
            <a:pPr algn="ctr">
              <a:lnSpc>
                <a:spcPct val="120000"/>
              </a:lnSpc>
            </a:pPr>
            <a:r>
              <a:rPr sz="1600" b="0">
                <a:solidFill>
                  <a:srgbClr val="8C8C8C"/>
                </a:solidFill>
                <a:latin typeface="BIZ UDPゴシック"/>
                <a:ea typeface="BIZ UDPゴシック"/>
              </a:rPr>
              <a:t>DEM によるモデル化 [3]</a:t>
            </a:r>
          </a:p>
        </p:txBody>
      </p:sp>
      <p:pic>
        <p:nvPicPr>
          <p:cNvPr id="9" name="Picture 8" descr="jiang_experiment.png"/>
          <p:cNvPicPr>
            <a:picLocks noChangeAspect="1"/>
          </p:cNvPicPr>
          <p:nvPr/>
        </p:nvPicPr>
        <p:blipFill>
          <a:blip r:embed="rId4"/>
          <a:stretch>
            <a:fillRect/>
          </a:stretch>
        </p:blipFill>
        <p:spPr>
          <a:xfrm>
            <a:off x="7321163" y="1554480"/>
            <a:ext cx="3462793" cy="2377440"/>
          </a:xfrm>
          <a:prstGeom prst="roundRect">
            <a:avLst>
              <a:gd name="adj" fmla="val 4000"/>
            </a:avLst>
          </a:prstGeom>
        </p:spPr>
      </p:pic>
      <p:sp>
        <p:nvSpPr>
          <p:cNvPr id="10" name="TextBox 9"/>
          <p:cNvSpPr txBox="1"/>
          <p:nvPr/>
        </p:nvSpPr>
        <p:spPr>
          <a:xfrm>
            <a:off x="6949440" y="4005072"/>
            <a:ext cx="4206240" cy="320040"/>
          </a:xfrm>
          <a:prstGeom prst="rect">
            <a:avLst/>
          </a:prstGeom>
          <a:noFill/>
        </p:spPr>
        <p:txBody>
          <a:bodyPr wrap="square" anchor="t" lIns="0" rIns="0" tIns="0" bIns="0">
            <a:spAutoFit/>
          </a:bodyPr>
          <a:lstStyle/>
          <a:p>
            <a:pPr algn="ctr">
              <a:lnSpc>
                <a:spcPct val="120000"/>
              </a:lnSpc>
            </a:pPr>
            <a:r>
              <a:rPr sz="1600" b="0">
                <a:solidFill>
                  <a:srgbClr val="8C8C8C"/>
                </a:solidFill>
                <a:latin typeface="BIZ UDPゴシック"/>
                <a:ea typeface="BIZ UDPゴシック"/>
              </a:rPr>
              <a:t>月面模擬土での実験 [3]</a:t>
            </a:r>
          </a:p>
        </p:txBody>
      </p:sp>
      <p:sp>
        <p:nvSpPr>
          <p:cNvPr id="11" name="行頭の点"/>
          <p:cNvSpPr/>
          <p:nvPr/>
        </p:nvSpPr>
        <p:spPr>
          <a:xfrm>
            <a:off x="731520" y="4527550"/>
            <a:ext cx="91440" cy="91440"/>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7420" y="4389120"/>
            <a:ext cx="10299700" cy="368300"/>
          </a:xfrm>
          <a:prstGeom prst="rect">
            <a:avLst/>
          </a:prstGeom>
          <a:noFill/>
        </p:spPr>
        <p:txBody>
          <a:bodyPr wrap="square" anchor="ctr" lIns="0" rIns="0" tIns="0" bIns="0">
            <a:spAutoFit/>
          </a:bodyPr>
          <a:lstStyle/>
          <a:p>
            <a:pPr algn="l">
              <a:lnSpc>
                <a:spcPct val="120000"/>
              </a:lnSpc>
            </a:pPr>
            <a:r>
              <a:rPr sz="2000" b="1">
                <a:solidFill>
                  <a:srgbClr val="215F9A"/>
                </a:solidFill>
                <a:latin typeface="BIZ UDPゴシック"/>
                <a:ea typeface="BIZ UDPゴシック"/>
              </a:rPr>
              <a:t>DEM</a:t>
            </a:r>
            <a:r>
              <a:rPr sz="2000" b="0">
                <a:solidFill>
                  <a:srgbClr val="262626"/>
                </a:solidFill>
                <a:latin typeface="BIZ UDPゴシック"/>
                <a:ea typeface="BIZ UDPゴシック"/>
              </a:rPr>
              <a:t>（個別要素法）：一粒ずつの運動を追う</a:t>
            </a:r>
          </a:p>
        </p:txBody>
      </p:sp>
      <p:sp>
        <p:nvSpPr>
          <p:cNvPr id="13" name="行頭の点"/>
          <p:cNvSpPr/>
          <p:nvPr/>
        </p:nvSpPr>
        <p:spPr>
          <a:xfrm>
            <a:off x="731520" y="4941570"/>
            <a:ext cx="91440" cy="91440"/>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7420" y="4803140"/>
            <a:ext cx="10299700" cy="368300"/>
          </a:xfrm>
          <a:prstGeom prst="rect">
            <a:avLst/>
          </a:prstGeom>
          <a:noFill/>
        </p:spPr>
        <p:txBody>
          <a:bodyPr wrap="square" anchor="ctr" lIns="0" rIns="0" tIns="0" bIns="0">
            <a:spAutoFit/>
          </a:bodyPr>
          <a:lstStyle/>
          <a:p>
            <a:pPr algn="l">
              <a:lnSpc>
                <a:spcPct val="120000"/>
              </a:lnSpc>
            </a:pPr>
            <a:r>
              <a:rPr sz="2000" b="0">
                <a:solidFill>
                  <a:srgbClr val="262626"/>
                </a:solidFill>
                <a:latin typeface="BIZ UDPゴシック"/>
                <a:ea typeface="BIZ UDPゴシック"/>
              </a:rPr>
              <a:t>接触している </a:t>
            </a:r>
            <a:r>
              <a:rPr sz="2000" b="1">
                <a:solidFill>
                  <a:srgbClr val="215F9A"/>
                </a:solidFill>
                <a:latin typeface="BIZ UDPゴシック"/>
                <a:ea typeface="BIZ UDPゴシック"/>
              </a:rPr>
              <a:t>すべての粒子</a:t>
            </a:r>
            <a:r>
              <a:rPr sz="2000" b="0">
                <a:solidFill>
                  <a:srgbClr val="262626"/>
                </a:solidFill>
                <a:latin typeface="BIZ UDPゴシック"/>
                <a:ea typeface="BIZ UDPゴシック"/>
              </a:rPr>
              <a:t> からの力を合計する</a:t>
            </a:r>
          </a:p>
        </p:txBody>
      </p:sp>
      <p:sp>
        <p:nvSpPr>
          <p:cNvPr id="15" name="TextBox 14"/>
          <p:cNvSpPr txBox="1"/>
          <p:nvPr/>
        </p:nvSpPr>
        <p:spPr>
          <a:xfrm>
            <a:off x="548640" y="6139053"/>
            <a:ext cx="11064240" cy="188595"/>
          </a:xfrm>
          <a:prstGeom prst="rect">
            <a:avLst/>
          </a:prstGeom>
          <a:noFill/>
        </p:spPr>
        <p:txBody>
          <a:bodyPr wrap="square" anchor="t" lIns="0" rIns="0" tIns="0" bIns="0">
            <a:spAutoFit/>
          </a:bodyPr>
          <a:lstStyle/>
          <a:p>
            <a:pPr algn="l">
              <a:lnSpc>
                <a:spcPct val="100000"/>
              </a:lnSpc>
            </a:pPr>
            <a:r>
              <a:rPr sz="1100" b="0">
                <a:solidFill>
                  <a:srgbClr val="8C8C8C"/>
                </a:solidFill>
                <a:latin typeface="BIZ UDPゴシック"/>
                <a:ea typeface="BIZ UDPゴシック"/>
              </a:rPr>
              <a:t>[3] M. Jiang et al., "Experimental and DEM analyses on wheel-soil interaction," Journal of Terramechanics, 76, pp. 15-28, 2018.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11512" y="6400800"/>
            <a:ext cx="1828800" cy="228600"/>
          </a:xfrm>
          <a:prstGeom prst="rect">
            <a:avLst/>
          </a:prstGeom>
          <a:noFill/>
        </p:spPr>
        <p:txBody>
          <a:bodyPr wrap="square" anchor="ctr" lIns="0" rIns="0" tIns="0" bIns="0">
            <a:spAutoFit/>
          </a:bodyPr>
          <a:lstStyle/>
          <a:p>
            <a:pPr algn="r">
              <a:lnSpc>
                <a:spcPct val="120000"/>
              </a:lnSpc>
            </a:pPr>
            <a:r>
              <a:rPr sz="1200" b="1">
                <a:solidFill>
                  <a:srgbClr val="4E95D9"/>
                </a:solidFill>
                <a:latin typeface="BIZ UDPゴシック"/>
                <a:ea typeface="BIZ UDPゴシック"/>
              </a:rPr>
              <a:t>8</a:t>
            </a:r>
            <a:r>
              <a:rPr sz="1200" b="0">
                <a:solidFill>
                  <a:srgbClr val="8C8C8C"/>
                </a:solidFill>
                <a:latin typeface="BIZ UDPゴシック"/>
                <a:ea typeface="BIZ UDPゴシック"/>
              </a:rPr>
              <a:t> / 26</a:t>
            </a:r>
          </a:p>
        </p:txBody>
      </p:sp>
      <p:sp>
        <p:nvSpPr>
          <p:cNvPr id="3" name="下端の線"/>
          <p:cNvSpPr/>
          <p:nvPr/>
        </p:nvSpPr>
        <p:spPr>
          <a:xfrm>
            <a:off x="0" y="6803136"/>
            <a:ext cx="12192000" cy="54864"/>
          </a:xfrm>
          <a:prstGeom prst="rect">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の札"/>
          <p:cNvSpPr/>
          <p:nvPr/>
        </p:nvSpPr>
        <p:spPr>
          <a:xfrm>
            <a:off x="548640" y="292608"/>
            <a:ext cx="1584960" cy="274320"/>
          </a:xfrm>
          <a:prstGeom prst="roundRect">
            <a:avLst>
              <a:gd name="adj" fmla="val 50000"/>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BIZ UDPゴシック"/>
                <a:ea typeface="BIZ UDPゴシック"/>
              </a:rPr>
              <a:t>02  関連研究</a:t>
            </a:r>
          </a:p>
        </p:txBody>
      </p:sp>
      <p:sp>
        <p:nvSpPr>
          <p:cNvPr id="5" name="TextBox 4"/>
          <p:cNvSpPr txBox="1"/>
          <p:nvPr/>
        </p:nvSpPr>
        <p:spPr>
          <a:xfrm>
            <a:off x="548640" y="621792"/>
            <a:ext cx="11064240" cy="548640"/>
          </a:xfrm>
          <a:prstGeom prst="rect">
            <a:avLst/>
          </a:prstGeom>
          <a:noFill/>
        </p:spPr>
        <p:txBody>
          <a:bodyPr wrap="square" anchor="ctr" lIns="0" rIns="0" tIns="0" bIns="0">
            <a:spAutoFit/>
          </a:bodyPr>
          <a:lstStyle/>
          <a:p>
            <a:pPr algn="l">
              <a:lnSpc>
                <a:spcPct val="100000"/>
              </a:lnSpc>
            </a:pPr>
            <a:r>
              <a:rPr sz="3000" b="1">
                <a:solidFill>
                  <a:srgbClr val="1F3A5F"/>
                </a:solidFill>
                <a:latin typeface="BIZ UDPゴシック"/>
                <a:ea typeface="BIZ UDPゴシック"/>
              </a:rPr>
              <a:t>DEM の課題</a:t>
            </a:r>
          </a:p>
        </p:txBody>
      </p:sp>
      <p:sp>
        <p:nvSpPr>
          <p:cNvPr id="6" name="区切り線"/>
          <p:cNvSpPr/>
          <p:nvPr/>
        </p:nvSpPr>
        <p:spPr>
          <a:xfrm>
            <a:off x="548640" y="1225296"/>
            <a:ext cx="11091672" cy="12700"/>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97280" y="1645920"/>
            <a:ext cx="3075432" cy="1005840"/>
          </a:xfrm>
          <a:prstGeom prst="roundRect">
            <a:avLst>
              <a:gd name="adj" fmla="val 14000"/>
            </a:avLst>
          </a:prstGeom>
          <a:solidFill>
            <a:srgbClr val="F3F8FD"/>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1F3A5F"/>
                </a:solidFill>
                <a:latin typeface="BIZ UDPゴシック"/>
                <a:ea typeface="BIZ UDPゴシック"/>
              </a:rPr>
              <a:t>接触判定</a:t>
            </a:r>
          </a:p>
          <a:p>
            <a:pPr algn="ctr"/>
            <a:r>
              <a:rPr sz="1800" b="0">
                <a:solidFill>
                  <a:srgbClr val="262626"/>
                </a:solidFill>
                <a:latin typeface="BIZ UDPゴシック"/>
                <a:ea typeface="BIZ UDPゴシック"/>
              </a:rPr>
              <a:t>全粒子の組み合わせ</a:t>
            </a:r>
          </a:p>
        </p:txBody>
      </p:sp>
      <p:sp>
        <p:nvSpPr>
          <p:cNvPr id="8" name="Chevron 7"/>
          <p:cNvSpPr/>
          <p:nvPr/>
        </p:nvSpPr>
        <p:spPr>
          <a:xfrm>
            <a:off x="4273296" y="2002536"/>
            <a:ext cx="182880" cy="292608"/>
          </a:xfrm>
          <a:prstGeom prst="chevron">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56760" y="1645920"/>
            <a:ext cx="3075432" cy="1005840"/>
          </a:xfrm>
          <a:prstGeom prst="roundRect">
            <a:avLst>
              <a:gd name="adj" fmla="val 14000"/>
            </a:avLst>
          </a:prstGeom>
          <a:solidFill>
            <a:srgbClr val="F3F8FD"/>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1F3A5F"/>
                </a:solidFill>
                <a:latin typeface="BIZ UDPゴシック"/>
                <a:ea typeface="BIZ UDPゴシック"/>
              </a:rPr>
              <a:t>計算量</a:t>
            </a:r>
          </a:p>
          <a:p>
            <a:pPr algn="ctr"/>
            <a:r>
              <a:rPr sz="1800" b="0">
                <a:solidFill>
                  <a:srgbClr val="262626"/>
                </a:solidFill>
                <a:latin typeface="BIZ UDPゴシック"/>
                <a:ea typeface="BIZ UDPゴシック"/>
              </a:rPr>
              <a:t>粒子数 N の 2 乗</a:t>
            </a:r>
          </a:p>
        </p:txBody>
      </p:sp>
      <p:sp>
        <p:nvSpPr>
          <p:cNvPr id="10" name="Chevron 9"/>
          <p:cNvSpPr/>
          <p:nvPr/>
        </p:nvSpPr>
        <p:spPr>
          <a:xfrm>
            <a:off x="7732776" y="2002536"/>
            <a:ext cx="182880" cy="292608"/>
          </a:xfrm>
          <a:prstGeom prst="chevron">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16240" y="1645920"/>
            <a:ext cx="3075432" cy="1005840"/>
          </a:xfrm>
          <a:prstGeom prst="roundRect">
            <a:avLst>
              <a:gd name="adj" fmla="val 14000"/>
            </a:avLst>
          </a:prstGeom>
          <a:solidFill>
            <a:srgbClr val="F3F8FD"/>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1F3A5F"/>
                </a:solidFill>
                <a:latin typeface="BIZ UDPゴシック"/>
                <a:ea typeface="BIZ UDPゴシック"/>
              </a:rPr>
              <a:t>再現に必要な粒子</a:t>
            </a:r>
          </a:p>
          <a:p>
            <a:pPr algn="ctr"/>
            <a:r>
              <a:rPr sz="1800" b="0">
                <a:solidFill>
                  <a:srgbClr val="262626"/>
                </a:solidFill>
                <a:latin typeface="BIZ UDPゴシック"/>
                <a:ea typeface="BIZ UDPゴシック"/>
              </a:rPr>
              <a:t>膨大な数</a:t>
            </a:r>
          </a:p>
        </p:txBody>
      </p:sp>
      <p:sp>
        <p:nvSpPr>
          <p:cNvPr id="12" name="TextBox 11"/>
          <p:cNvSpPr txBox="1"/>
          <p:nvPr/>
        </p:nvSpPr>
        <p:spPr>
          <a:xfrm>
            <a:off x="1097280" y="2971800"/>
            <a:ext cx="9994392" cy="365760"/>
          </a:xfrm>
          <a:prstGeom prst="rect">
            <a:avLst/>
          </a:prstGeom>
          <a:noFill/>
        </p:spPr>
        <p:txBody>
          <a:bodyPr wrap="square" anchor="t" lIns="0" rIns="0" tIns="0" bIns="0">
            <a:spAutoFit/>
          </a:bodyPr>
          <a:lstStyle/>
          <a:p>
            <a:pPr algn="l">
              <a:lnSpc>
                <a:spcPct val="120000"/>
              </a:lnSpc>
            </a:pPr>
            <a:r>
              <a:rPr sz="2000" b="1">
                <a:solidFill>
                  <a:srgbClr val="215F9A"/>
                </a:solidFill>
                <a:latin typeface="BIZ UDPゴシック"/>
                <a:ea typeface="BIZ UDPゴシック"/>
              </a:rPr>
              <a:t>先行研究の簡略化</a:t>
            </a:r>
            <a:r>
              <a:rPr sz="2000" b="0">
                <a:latin typeface="BIZ UDPゴシック"/>
                <a:ea typeface="BIZ UDPゴシック"/>
              </a:rPr>
              <a:t>：2 次元での解析、粒径を大きくして粒子数を削減</a:t>
            </a:r>
          </a:p>
        </p:txBody>
      </p:sp>
      <p:sp>
        <p:nvSpPr>
          <p:cNvPr id="13" name="帰結の矢印"/>
          <p:cNvSpPr/>
          <p:nvPr/>
        </p:nvSpPr>
        <p:spPr>
          <a:xfrm rot="5400000">
            <a:off x="5948172" y="3529584"/>
            <a:ext cx="292608" cy="548640"/>
          </a:xfrm>
          <a:prstGeom prst="chevron">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結論の面"/>
          <p:cNvSpPr/>
          <p:nvPr/>
        </p:nvSpPr>
        <p:spPr>
          <a:xfrm>
            <a:off x="1645920" y="4206240"/>
            <a:ext cx="8897112" cy="749808"/>
          </a:xfrm>
          <a:prstGeom prst="roundRect">
            <a:avLst>
              <a:gd name="adj" fmla="val 18000"/>
            </a:avLst>
          </a:prstGeom>
          <a:solidFill>
            <a:srgbClr val="DCE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20240" y="4206240"/>
            <a:ext cx="8348472" cy="749808"/>
          </a:xfrm>
          <a:prstGeom prst="rect">
            <a:avLst/>
          </a:prstGeom>
          <a:noFill/>
        </p:spPr>
        <p:txBody>
          <a:bodyPr wrap="square" anchor="ctr" lIns="0" rIns="0" tIns="0" bIns="0">
            <a:spAutoFit/>
          </a:bodyPr>
          <a:lstStyle/>
          <a:p>
            <a:pPr algn="ctr">
              <a:lnSpc>
                <a:spcPct val="120000"/>
              </a:lnSpc>
            </a:pPr>
            <a:r>
              <a:rPr sz="2400" b="1">
                <a:solidFill>
                  <a:srgbClr val="1F3A5F"/>
                </a:solidFill>
                <a:latin typeface="BIZ UDPゴシック"/>
                <a:ea typeface="BIZ UDPゴシック"/>
              </a:rPr>
              <a:t>DEM では運転に必要な </a:t>
            </a:r>
            <a:r>
              <a:rPr sz="2400" b="1" u="heavy">
                <a:solidFill>
                  <a:srgbClr val="215F9A"/>
                </a:solidFill>
                <a:uFill>
                  <a:solidFill>
                    <a:srgbClr val="FFC000"/>
                  </a:solidFill>
                </a:uFill>
                <a:latin typeface="BIZ UDPゴシック"/>
                <a:ea typeface="BIZ UDPゴシック"/>
              </a:rPr>
              <a:t>リアルタイム性</a:t>
            </a:r>
            <a:r>
              <a:rPr sz="2400" b="1">
                <a:solidFill>
                  <a:srgbClr val="1F3A5F"/>
                </a:solidFill>
                <a:latin typeface="BIZ UDPゴシック"/>
                <a:ea typeface="BIZ UDPゴシック"/>
              </a:rPr>
              <a:t> を確保しにくい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11512" y="6400800"/>
            <a:ext cx="1828800" cy="228600"/>
          </a:xfrm>
          <a:prstGeom prst="rect">
            <a:avLst/>
          </a:prstGeom>
          <a:noFill/>
        </p:spPr>
        <p:txBody>
          <a:bodyPr wrap="square" anchor="ctr" lIns="0" rIns="0" tIns="0" bIns="0">
            <a:spAutoFit/>
          </a:bodyPr>
          <a:lstStyle/>
          <a:p>
            <a:pPr algn="r">
              <a:lnSpc>
                <a:spcPct val="120000"/>
              </a:lnSpc>
            </a:pPr>
            <a:r>
              <a:rPr sz="1200" b="1">
                <a:solidFill>
                  <a:srgbClr val="4E95D9"/>
                </a:solidFill>
                <a:latin typeface="BIZ UDPゴシック"/>
                <a:ea typeface="BIZ UDPゴシック"/>
              </a:rPr>
              <a:t>9</a:t>
            </a:r>
            <a:r>
              <a:rPr sz="1200" b="0">
                <a:solidFill>
                  <a:srgbClr val="8C8C8C"/>
                </a:solidFill>
                <a:latin typeface="BIZ UDPゴシック"/>
                <a:ea typeface="BIZ UDPゴシック"/>
              </a:rPr>
              <a:t> / 26</a:t>
            </a:r>
          </a:p>
        </p:txBody>
      </p:sp>
      <p:sp>
        <p:nvSpPr>
          <p:cNvPr id="3" name="下端の線"/>
          <p:cNvSpPr/>
          <p:nvPr/>
        </p:nvSpPr>
        <p:spPr>
          <a:xfrm>
            <a:off x="0" y="6803136"/>
            <a:ext cx="12192000" cy="54864"/>
          </a:xfrm>
          <a:prstGeom prst="rect">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5029200" cy="2194560"/>
          </a:xfrm>
          <a:prstGeom prst="rect">
            <a:avLst/>
          </a:prstGeom>
          <a:noFill/>
        </p:spPr>
        <p:txBody>
          <a:bodyPr wrap="square" anchor="b" lIns="0" rIns="0" tIns="0" bIns="0">
            <a:spAutoFit/>
          </a:bodyPr>
          <a:lstStyle/>
          <a:p>
            <a:pPr algn="l">
              <a:lnSpc>
                <a:spcPct val="90000"/>
              </a:lnSpc>
            </a:pPr>
            <a:r>
              <a:rPr sz="15000" b="1">
                <a:solidFill>
                  <a:srgbClr val="DCEAF7"/>
                </a:solidFill>
                <a:latin typeface="BIZ UDPゴシック"/>
                <a:ea typeface="BIZ UDPゴシック"/>
              </a:rPr>
              <a:t>03</a:t>
            </a:r>
          </a:p>
        </p:txBody>
      </p:sp>
      <p:sp>
        <p:nvSpPr>
          <p:cNvPr id="5" name="TextBox 4"/>
          <p:cNvSpPr txBox="1"/>
          <p:nvPr/>
        </p:nvSpPr>
        <p:spPr>
          <a:xfrm>
            <a:off x="685800" y="3429000"/>
            <a:ext cx="5669280" cy="1280160"/>
          </a:xfrm>
          <a:prstGeom prst="rect">
            <a:avLst/>
          </a:prstGeom>
          <a:noFill/>
        </p:spPr>
        <p:txBody>
          <a:bodyPr wrap="square" anchor="t" lIns="0" rIns="0" tIns="0" bIns="0">
            <a:spAutoFit/>
          </a:bodyPr>
          <a:lstStyle/>
          <a:p>
            <a:pPr algn="l">
              <a:lnSpc>
                <a:spcPct val="120000"/>
              </a:lnSpc>
            </a:pPr>
            <a:r>
              <a:rPr sz="3600" b="1">
                <a:solidFill>
                  <a:srgbClr val="1F3A5F"/>
                </a:solidFill>
                <a:latin typeface="BIZ UDPゴシック"/>
                <a:ea typeface="BIZ UDPゴシック"/>
              </a:rPr>
              <a:t>研究目的</a:t>
            </a:r>
          </a:p>
        </p:txBody>
      </p:sp>
      <p:sp>
        <p:nvSpPr>
          <p:cNvPr id="6" name="Rectangle 5"/>
          <p:cNvSpPr/>
          <p:nvPr/>
        </p:nvSpPr>
        <p:spPr>
          <a:xfrm>
            <a:off x="6720840" y="1463040"/>
            <a:ext cx="12700" cy="3657600"/>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86600" y="1737360"/>
            <a:ext cx="4572000" cy="3291840"/>
          </a:xfrm>
          <a:prstGeom prst="rect">
            <a:avLst/>
          </a:prstGeom>
          <a:noFill/>
        </p:spPr>
        <p:txBody>
          <a:bodyPr wrap="square" anchor="t" lIns="0" rIns="0" tIns="0" bIns="0">
            <a:spAutoFit/>
          </a:bodyPr>
          <a:lstStyle/>
          <a:p>
            <a:pPr algn="l">
              <a:lnSpc>
                <a:spcPct val="100000"/>
              </a:lnSpc>
              <a:spcAft>
                <a:spcPts val="1800"/>
              </a:spcAft>
            </a:pPr>
            <a:r>
              <a:rPr sz="2000" b="1">
                <a:solidFill>
                  <a:srgbClr val="D9DEE6"/>
                </a:solidFill>
                <a:latin typeface="BIZ UDPゴシック"/>
                <a:ea typeface="BIZ UDPゴシック"/>
              </a:rPr>
              <a:t>01</a:t>
            </a:r>
            <a:r>
              <a:rPr sz="2000" b="0">
                <a:solidFill>
                  <a:srgbClr val="8C8C8C"/>
                </a:solidFill>
                <a:latin typeface="BIZ UDPゴシック"/>
                <a:ea typeface="BIZ UDPゴシック"/>
              </a:rPr>
              <a:t>　研究背景</a:t>
            </a:r>
          </a:p>
          <a:p>
            <a:pPr algn="l">
              <a:lnSpc>
                <a:spcPct val="100000"/>
              </a:lnSpc>
              <a:spcAft>
                <a:spcPts val="1800"/>
              </a:spcAft>
            </a:pPr>
            <a:r>
              <a:rPr sz="2000" b="1">
                <a:solidFill>
                  <a:srgbClr val="D9DEE6"/>
                </a:solidFill>
                <a:latin typeface="BIZ UDPゴシック"/>
                <a:ea typeface="BIZ UDPゴシック"/>
              </a:rPr>
              <a:t>02</a:t>
            </a:r>
            <a:r>
              <a:rPr sz="2000" b="0">
                <a:solidFill>
                  <a:srgbClr val="8C8C8C"/>
                </a:solidFill>
                <a:latin typeface="BIZ UDPゴシック"/>
                <a:ea typeface="BIZ UDPゴシック"/>
              </a:rPr>
              <a:t>　関連研究</a:t>
            </a:r>
          </a:p>
          <a:p>
            <a:pPr algn="l">
              <a:lnSpc>
                <a:spcPct val="100000"/>
              </a:lnSpc>
              <a:spcAft>
                <a:spcPts val="1800"/>
              </a:spcAft>
            </a:pPr>
            <a:r>
              <a:rPr sz="2000" b="1">
                <a:solidFill>
                  <a:srgbClr val="4E95D9"/>
                </a:solidFill>
                <a:latin typeface="BIZ UDPゴシック"/>
                <a:ea typeface="BIZ UDPゴシック"/>
              </a:rPr>
              <a:t>03</a:t>
            </a:r>
            <a:r>
              <a:rPr sz="2000" b="1">
                <a:solidFill>
                  <a:srgbClr val="1F3A5F"/>
                </a:solidFill>
                <a:latin typeface="BIZ UDPゴシック"/>
                <a:ea typeface="BIZ UDPゴシック"/>
              </a:rPr>
              <a:t>　研究目的</a:t>
            </a:r>
          </a:p>
          <a:p>
            <a:pPr algn="l">
              <a:lnSpc>
                <a:spcPct val="100000"/>
              </a:lnSpc>
              <a:spcAft>
                <a:spcPts val="1800"/>
              </a:spcAft>
            </a:pPr>
            <a:r>
              <a:rPr sz="2000" b="1">
                <a:solidFill>
                  <a:srgbClr val="D9DEE6"/>
                </a:solidFill>
                <a:latin typeface="BIZ UDPゴシック"/>
                <a:ea typeface="BIZ UDPゴシック"/>
              </a:rPr>
              <a:t>04</a:t>
            </a:r>
            <a:r>
              <a:rPr sz="2000" b="0">
                <a:solidFill>
                  <a:srgbClr val="8C8C8C"/>
                </a:solidFill>
                <a:latin typeface="BIZ UDPゴシック"/>
                <a:ea typeface="BIZ UDPゴシック"/>
              </a:rPr>
              <a:t>　提案手法</a:t>
            </a:r>
          </a:p>
          <a:p>
            <a:pPr algn="l">
              <a:lnSpc>
                <a:spcPct val="100000"/>
              </a:lnSpc>
              <a:spcAft>
                <a:spcPts val="1800"/>
              </a:spcAft>
            </a:pPr>
            <a:r>
              <a:rPr sz="2000" b="1">
                <a:solidFill>
                  <a:srgbClr val="D9DEE6"/>
                </a:solidFill>
                <a:latin typeface="BIZ UDPゴシック"/>
                <a:ea typeface="BIZ UDPゴシック"/>
              </a:rPr>
              <a:t>05</a:t>
            </a:r>
            <a:r>
              <a:rPr sz="2000" b="0">
                <a:solidFill>
                  <a:srgbClr val="8C8C8C"/>
                </a:solidFill>
                <a:latin typeface="BIZ UDPゴシック"/>
                <a:ea typeface="BIZ UDPゴシック"/>
              </a:rPr>
              <a:t>　進捗</a:t>
            </a:r>
          </a:p>
          <a:p>
            <a:pPr algn="l">
              <a:lnSpc>
                <a:spcPct val="100000"/>
              </a:lnSpc>
              <a:spcAft>
                <a:spcPts val="1800"/>
              </a:spcAft>
            </a:pPr>
            <a:r>
              <a:rPr sz="2000" b="1">
                <a:solidFill>
                  <a:srgbClr val="D9DEE6"/>
                </a:solidFill>
                <a:latin typeface="BIZ UDPゴシック"/>
                <a:ea typeface="BIZ UDPゴシック"/>
              </a:rPr>
              <a:t>06</a:t>
            </a:r>
            <a:r>
              <a:rPr sz="2000" b="0">
                <a:solidFill>
                  <a:srgbClr val="8C8C8C"/>
                </a:solidFill>
                <a:latin typeface="BIZ UDPゴシック"/>
                <a:ea typeface="BIZ UDPゴシック"/>
              </a:rPr>
              <a:t>　今後の計画</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11512" y="6400800"/>
            <a:ext cx="1828800" cy="228600"/>
          </a:xfrm>
          <a:prstGeom prst="rect">
            <a:avLst/>
          </a:prstGeom>
          <a:noFill/>
        </p:spPr>
        <p:txBody>
          <a:bodyPr wrap="square" anchor="ctr" lIns="0" rIns="0" tIns="0" bIns="0">
            <a:spAutoFit/>
          </a:bodyPr>
          <a:lstStyle/>
          <a:p>
            <a:pPr algn="r">
              <a:lnSpc>
                <a:spcPct val="120000"/>
              </a:lnSpc>
            </a:pPr>
            <a:r>
              <a:rPr sz="1200" b="1">
                <a:solidFill>
                  <a:srgbClr val="4E95D9"/>
                </a:solidFill>
                <a:latin typeface="BIZ UDPゴシック"/>
                <a:ea typeface="BIZ UDPゴシック"/>
              </a:rPr>
              <a:t>10</a:t>
            </a:r>
            <a:r>
              <a:rPr sz="1200" b="0">
                <a:solidFill>
                  <a:srgbClr val="8C8C8C"/>
                </a:solidFill>
                <a:latin typeface="BIZ UDPゴシック"/>
                <a:ea typeface="BIZ UDPゴシック"/>
              </a:rPr>
              <a:t> / 26</a:t>
            </a:r>
          </a:p>
        </p:txBody>
      </p:sp>
      <p:sp>
        <p:nvSpPr>
          <p:cNvPr id="3" name="下端の線"/>
          <p:cNvSpPr/>
          <p:nvPr/>
        </p:nvSpPr>
        <p:spPr>
          <a:xfrm>
            <a:off x="0" y="6803136"/>
            <a:ext cx="12192000" cy="54864"/>
          </a:xfrm>
          <a:prstGeom prst="rect">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の札"/>
          <p:cNvSpPr/>
          <p:nvPr/>
        </p:nvSpPr>
        <p:spPr>
          <a:xfrm>
            <a:off x="548640" y="292608"/>
            <a:ext cx="1584960" cy="274320"/>
          </a:xfrm>
          <a:prstGeom prst="roundRect">
            <a:avLst>
              <a:gd name="adj" fmla="val 50000"/>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BIZ UDPゴシック"/>
                <a:ea typeface="BIZ UDPゴシック"/>
              </a:rPr>
              <a:t>03  研究目的</a:t>
            </a:r>
          </a:p>
        </p:txBody>
      </p:sp>
      <p:sp>
        <p:nvSpPr>
          <p:cNvPr id="5" name="TextBox 4"/>
          <p:cNvSpPr txBox="1"/>
          <p:nvPr/>
        </p:nvSpPr>
        <p:spPr>
          <a:xfrm>
            <a:off x="548640" y="621792"/>
            <a:ext cx="11064240" cy="548640"/>
          </a:xfrm>
          <a:prstGeom prst="rect">
            <a:avLst/>
          </a:prstGeom>
          <a:noFill/>
        </p:spPr>
        <p:txBody>
          <a:bodyPr wrap="square" anchor="ctr" lIns="0" rIns="0" tIns="0" bIns="0">
            <a:spAutoFit/>
          </a:bodyPr>
          <a:lstStyle/>
          <a:p>
            <a:pPr algn="l">
              <a:lnSpc>
                <a:spcPct val="100000"/>
              </a:lnSpc>
            </a:pPr>
            <a:r>
              <a:rPr sz="3000" b="1">
                <a:solidFill>
                  <a:srgbClr val="1F3A5F"/>
                </a:solidFill>
                <a:latin typeface="BIZ UDPゴシック"/>
                <a:ea typeface="BIZ UDPゴシック"/>
              </a:rPr>
              <a:t>研究目的</a:t>
            </a:r>
          </a:p>
        </p:txBody>
      </p:sp>
      <p:sp>
        <p:nvSpPr>
          <p:cNvPr id="6" name="区切り線"/>
          <p:cNvSpPr/>
          <p:nvPr/>
        </p:nvSpPr>
        <p:spPr>
          <a:xfrm>
            <a:off x="548640" y="1225296"/>
            <a:ext cx="11091672" cy="12700"/>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結論の面"/>
          <p:cNvSpPr/>
          <p:nvPr/>
        </p:nvSpPr>
        <p:spPr>
          <a:xfrm>
            <a:off x="1097280" y="1828800"/>
            <a:ext cx="9994392" cy="1207008"/>
          </a:xfrm>
          <a:prstGeom prst="roundRect">
            <a:avLst>
              <a:gd name="adj" fmla="val 18000"/>
            </a:avLst>
          </a:prstGeom>
          <a:solidFill>
            <a:srgbClr val="DCE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1828800"/>
            <a:ext cx="9445752" cy="1207008"/>
          </a:xfrm>
          <a:prstGeom prst="rect">
            <a:avLst/>
          </a:prstGeom>
          <a:noFill/>
        </p:spPr>
        <p:txBody>
          <a:bodyPr wrap="square" anchor="ctr" lIns="0" rIns="0" tIns="0" bIns="0">
            <a:spAutoFit/>
          </a:bodyPr>
          <a:lstStyle/>
          <a:p>
            <a:pPr algn="ctr">
              <a:lnSpc>
                <a:spcPct val="120000"/>
              </a:lnSpc>
            </a:pPr>
            <a:r>
              <a:rPr sz="2400" b="1">
                <a:solidFill>
                  <a:srgbClr val="1F3A5F"/>
                </a:solidFill>
                <a:latin typeface="BIZ UDPゴシック"/>
                <a:ea typeface="BIZ UDPゴシック"/>
              </a:rPr>
              <a:t>ホイールとレゴリスの相互作用の </a:t>
            </a:r>
            <a:r>
              <a:rPr sz="2400" b="1" u="heavy">
                <a:solidFill>
                  <a:srgbClr val="215F9A"/>
                </a:solidFill>
                <a:uFill>
                  <a:solidFill>
                    <a:srgbClr val="FFC000"/>
                  </a:solidFill>
                </a:uFill>
                <a:latin typeface="BIZ UDPゴシック"/>
                <a:ea typeface="BIZ UDPゴシック"/>
              </a:rPr>
              <a:t>リアルタイム再現手法</a:t>
            </a:r>
            <a:r>
              <a:rPr sz="2400" b="1">
                <a:solidFill>
                  <a:srgbClr val="1F3A5F"/>
                </a:solidFill>
                <a:latin typeface="BIZ UDPゴシック"/>
                <a:ea typeface="BIZ UDPゴシック"/>
              </a:rPr>
              <a:t> の構築</a:t>
            </a:r>
          </a:p>
          <a:p>
            <a:pPr algn="ctr">
              <a:lnSpc>
                <a:spcPct val="120000"/>
              </a:lnSpc>
            </a:pPr>
            <a:r>
              <a:rPr sz="2400" b="1">
                <a:solidFill>
                  <a:srgbClr val="1F3A5F"/>
                </a:solidFill>
                <a:latin typeface="BIZ UDPゴシック"/>
                <a:ea typeface="BIZ UDPゴシック"/>
              </a:rPr>
              <a:t>および月面ローバー運転シミュレータの開発</a:t>
            </a:r>
          </a:p>
        </p:txBody>
      </p:sp>
      <p:sp>
        <p:nvSpPr>
          <p:cNvPr id="9" name="Rounded Rectangle 8"/>
          <p:cNvSpPr/>
          <p:nvPr/>
        </p:nvSpPr>
        <p:spPr>
          <a:xfrm>
            <a:off x="2743200" y="3474720"/>
            <a:ext cx="3076956" cy="2103120"/>
          </a:xfrm>
          <a:prstGeom prst="roundRect">
            <a:avLst>
              <a:gd name="adj" fmla="val 8000"/>
            </a:avLst>
          </a:prstGeom>
          <a:solidFill>
            <a:srgbClr val="FFFFFF"/>
          </a:solidFill>
          <a:ln w="1587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062222" y="3657600"/>
            <a:ext cx="438912" cy="438912"/>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BIZ UDPゴシック"/>
                <a:ea typeface="BIZ UDPゴシック"/>
              </a:rPr>
              <a:t>1</a:t>
            </a:r>
          </a:p>
        </p:txBody>
      </p:sp>
      <p:sp>
        <p:nvSpPr>
          <p:cNvPr id="11" name="TextBox 10"/>
          <p:cNvSpPr txBox="1"/>
          <p:nvPr/>
        </p:nvSpPr>
        <p:spPr>
          <a:xfrm>
            <a:off x="2743200" y="4206240"/>
            <a:ext cx="3076956" cy="411480"/>
          </a:xfrm>
          <a:prstGeom prst="rect">
            <a:avLst/>
          </a:prstGeom>
          <a:noFill/>
        </p:spPr>
        <p:txBody>
          <a:bodyPr wrap="square" anchor="t" lIns="0" rIns="0" tIns="0" bIns="0">
            <a:spAutoFit/>
          </a:bodyPr>
          <a:lstStyle/>
          <a:p>
            <a:pPr algn="ctr">
              <a:lnSpc>
                <a:spcPct val="120000"/>
              </a:lnSpc>
            </a:pPr>
            <a:r>
              <a:rPr sz="2400" b="1">
                <a:solidFill>
                  <a:srgbClr val="1F3A5F"/>
                </a:solidFill>
                <a:latin typeface="BIZ UDPゴシック"/>
                <a:ea typeface="BIZ UDPゴシック"/>
              </a:rPr>
              <a:t>物理的な妥当性</a:t>
            </a:r>
          </a:p>
        </p:txBody>
      </p:sp>
      <p:sp>
        <p:nvSpPr>
          <p:cNvPr id="12" name="TextBox 11"/>
          <p:cNvSpPr txBox="1"/>
          <p:nvPr/>
        </p:nvSpPr>
        <p:spPr>
          <a:xfrm>
            <a:off x="2803200" y="4709160"/>
            <a:ext cx="2956956" cy="662940"/>
          </a:xfrm>
          <a:prstGeom prst="rect">
            <a:avLst/>
          </a:prstGeom>
          <a:noFill/>
        </p:spPr>
        <p:txBody>
          <a:bodyPr wrap="square" anchor="t" lIns="0" rIns="0" tIns="0" bIns="0">
            <a:spAutoFit/>
          </a:bodyPr>
          <a:lstStyle/>
          <a:p>
            <a:pPr algn="ctr">
              <a:lnSpc>
                <a:spcPct val="120000"/>
              </a:lnSpc>
            </a:pPr>
            <a:r>
              <a:rPr sz="1800" b="0">
                <a:solidFill>
                  <a:srgbClr val="262626"/>
                </a:solidFill>
                <a:latin typeface="BIZ UDPゴシック"/>
                <a:ea typeface="BIZ UDPゴシック"/>
              </a:rPr>
              <a:t>理論や文献値と</a:t>
            </a:r>
          </a:p>
          <a:p>
            <a:pPr algn="ctr">
              <a:lnSpc>
                <a:spcPct val="120000"/>
              </a:lnSpc>
            </a:pPr>
            <a:r>
              <a:rPr sz="1800" b="0">
                <a:solidFill>
                  <a:srgbClr val="262626"/>
                </a:solidFill>
                <a:latin typeface="BIZ UDPゴシック"/>
                <a:ea typeface="BIZ UDPゴシック"/>
              </a:rPr>
              <a:t>対応がとれる</a:t>
            </a:r>
          </a:p>
        </p:txBody>
      </p:sp>
      <p:sp>
        <p:nvSpPr>
          <p:cNvPr id="13" name="Rounded Rectangle 12"/>
          <p:cNvSpPr/>
          <p:nvPr/>
        </p:nvSpPr>
        <p:spPr>
          <a:xfrm>
            <a:off x="6368796" y="3474720"/>
            <a:ext cx="3076956" cy="2103120"/>
          </a:xfrm>
          <a:prstGeom prst="roundRect">
            <a:avLst>
              <a:gd name="adj" fmla="val 8000"/>
            </a:avLst>
          </a:prstGeom>
          <a:solidFill>
            <a:srgbClr val="FFFFFF"/>
          </a:solidFill>
          <a:ln w="1587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687818" y="3657600"/>
            <a:ext cx="438912" cy="438912"/>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BIZ UDPゴシック"/>
                <a:ea typeface="BIZ UDPゴシック"/>
              </a:rPr>
              <a:t>2</a:t>
            </a:r>
          </a:p>
        </p:txBody>
      </p:sp>
      <p:sp>
        <p:nvSpPr>
          <p:cNvPr id="15" name="TextBox 14"/>
          <p:cNvSpPr txBox="1"/>
          <p:nvPr/>
        </p:nvSpPr>
        <p:spPr>
          <a:xfrm>
            <a:off x="6368796" y="4206240"/>
            <a:ext cx="3076956" cy="411480"/>
          </a:xfrm>
          <a:prstGeom prst="rect">
            <a:avLst/>
          </a:prstGeom>
          <a:noFill/>
        </p:spPr>
        <p:txBody>
          <a:bodyPr wrap="square" anchor="t" lIns="0" rIns="0" tIns="0" bIns="0">
            <a:spAutoFit/>
          </a:bodyPr>
          <a:lstStyle/>
          <a:p>
            <a:pPr algn="ctr">
              <a:lnSpc>
                <a:spcPct val="120000"/>
              </a:lnSpc>
            </a:pPr>
            <a:r>
              <a:rPr sz="2400" b="1">
                <a:solidFill>
                  <a:srgbClr val="1F3A5F"/>
                </a:solidFill>
                <a:latin typeface="BIZ UDPゴシック"/>
                <a:ea typeface="BIZ UDPゴシック"/>
              </a:rPr>
              <a:t>リアルタイム性</a:t>
            </a:r>
          </a:p>
        </p:txBody>
      </p:sp>
      <p:sp>
        <p:nvSpPr>
          <p:cNvPr id="16" name="TextBox 15"/>
          <p:cNvSpPr txBox="1"/>
          <p:nvPr/>
        </p:nvSpPr>
        <p:spPr>
          <a:xfrm>
            <a:off x="6428796" y="4709160"/>
            <a:ext cx="2956956" cy="662940"/>
          </a:xfrm>
          <a:prstGeom prst="rect">
            <a:avLst/>
          </a:prstGeom>
          <a:noFill/>
        </p:spPr>
        <p:txBody>
          <a:bodyPr wrap="square" anchor="t" lIns="0" rIns="0" tIns="0" bIns="0">
            <a:spAutoFit/>
          </a:bodyPr>
          <a:lstStyle/>
          <a:p>
            <a:pPr algn="ctr">
              <a:lnSpc>
                <a:spcPct val="120000"/>
              </a:lnSpc>
            </a:pPr>
            <a:r>
              <a:rPr sz="1800" b="0">
                <a:solidFill>
                  <a:srgbClr val="262626"/>
                </a:solidFill>
                <a:latin typeface="BIZ UDPゴシック"/>
                <a:ea typeface="BIZ UDPゴシック"/>
              </a:rPr>
              <a:t>運転操作に</a:t>
            </a:r>
          </a:p>
          <a:p>
            <a:pPr algn="ctr">
              <a:lnSpc>
                <a:spcPct val="120000"/>
              </a:lnSpc>
            </a:pPr>
            <a:r>
              <a:rPr sz="1800" b="0">
                <a:solidFill>
                  <a:srgbClr val="262626"/>
                </a:solidFill>
                <a:latin typeface="BIZ UDPゴシック"/>
                <a:ea typeface="BIZ UDPゴシック"/>
              </a:rPr>
              <a:t>即座に反応する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11512" y="6400800"/>
            <a:ext cx="1828800" cy="228600"/>
          </a:xfrm>
          <a:prstGeom prst="rect">
            <a:avLst/>
          </a:prstGeom>
          <a:noFill/>
        </p:spPr>
        <p:txBody>
          <a:bodyPr wrap="square" anchor="ctr" lIns="0" rIns="0" tIns="0" bIns="0">
            <a:spAutoFit/>
          </a:bodyPr>
          <a:lstStyle/>
          <a:p>
            <a:pPr algn="r">
              <a:lnSpc>
                <a:spcPct val="120000"/>
              </a:lnSpc>
            </a:pPr>
            <a:r>
              <a:rPr sz="1200" b="1">
                <a:solidFill>
                  <a:srgbClr val="4E95D9"/>
                </a:solidFill>
                <a:latin typeface="BIZ UDPゴシック"/>
                <a:ea typeface="BIZ UDPゴシック"/>
              </a:rPr>
              <a:t>11</a:t>
            </a:r>
            <a:r>
              <a:rPr sz="1200" b="0">
                <a:solidFill>
                  <a:srgbClr val="8C8C8C"/>
                </a:solidFill>
                <a:latin typeface="BIZ UDPゴシック"/>
                <a:ea typeface="BIZ UDPゴシック"/>
              </a:rPr>
              <a:t> / 26</a:t>
            </a:r>
          </a:p>
        </p:txBody>
      </p:sp>
      <p:sp>
        <p:nvSpPr>
          <p:cNvPr id="3" name="下端の線"/>
          <p:cNvSpPr/>
          <p:nvPr/>
        </p:nvSpPr>
        <p:spPr>
          <a:xfrm>
            <a:off x="0" y="6803136"/>
            <a:ext cx="12192000" cy="54864"/>
          </a:xfrm>
          <a:prstGeom prst="rect">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5029200" cy="2194560"/>
          </a:xfrm>
          <a:prstGeom prst="rect">
            <a:avLst/>
          </a:prstGeom>
          <a:noFill/>
        </p:spPr>
        <p:txBody>
          <a:bodyPr wrap="square" anchor="b" lIns="0" rIns="0" tIns="0" bIns="0">
            <a:spAutoFit/>
          </a:bodyPr>
          <a:lstStyle/>
          <a:p>
            <a:pPr algn="l">
              <a:lnSpc>
                <a:spcPct val="90000"/>
              </a:lnSpc>
            </a:pPr>
            <a:r>
              <a:rPr sz="15000" b="1">
                <a:solidFill>
                  <a:srgbClr val="DCEAF7"/>
                </a:solidFill>
                <a:latin typeface="BIZ UDPゴシック"/>
                <a:ea typeface="BIZ UDPゴシック"/>
              </a:rPr>
              <a:t>04</a:t>
            </a:r>
          </a:p>
        </p:txBody>
      </p:sp>
      <p:sp>
        <p:nvSpPr>
          <p:cNvPr id="5" name="TextBox 4"/>
          <p:cNvSpPr txBox="1"/>
          <p:nvPr/>
        </p:nvSpPr>
        <p:spPr>
          <a:xfrm>
            <a:off x="685800" y="3429000"/>
            <a:ext cx="5669280" cy="1280160"/>
          </a:xfrm>
          <a:prstGeom prst="rect">
            <a:avLst/>
          </a:prstGeom>
          <a:noFill/>
        </p:spPr>
        <p:txBody>
          <a:bodyPr wrap="square" anchor="t" lIns="0" rIns="0" tIns="0" bIns="0">
            <a:spAutoFit/>
          </a:bodyPr>
          <a:lstStyle/>
          <a:p>
            <a:pPr algn="l">
              <a:lnSpc>
                <a:spcPct val="120000"/>
              </a:lnSpc>
            </a:pPr>
            <a:r>
              <a:rPr sz="3600" b="1">
                <a:solidFill>
                  <a:srgbClr val="1F3A5F"/>
                </a:solidFill>
                <a:latin typeface="BIZ UDPゴシック"/>
                <a:ea typeface="BIZ UDPゴシック"/>
              </a:rPr>
              <a:t>提案手法</a:t>
            </a:r>
          </a:p>
        </p:txBody>
      </p:sp>
      <p:sp>
        <p:nvSpPr>
          <p:cNvPr id="6" name="Rectangle 5"/>
          <p:cNvSpPr/>
          <p:nvPr/>
        </p:nvSpPr>
        <p:spPr>
          <a:xfrm>
            <a:off x="6720840" y="1463040"/>
            <a:ext cx="12700" cy="3657600"/>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86600" y="1737360"/>
            <a:ext cx="4572000" cy="3291840"/>
          </a:xfrm>
          <a:prstGeom prst="rect">
            <a:avLst/>
          </a:prstGeom>
          <a:noFill/>
        </p:spPr>
        <p:txBody>
          <a:bodyPr wrap="square" anchor="t" lIns="0" rIns="0" tIns="0" bIns="0">
            <a:spAutoFit/>
          </a:bodyPr>
          <a:lstStyle/>
          <a:p>
            <a:pPr algn="l">
              <a:lnSpc>
                <a:spcPct val="100000"/>
              </a:lnSpc>
              <a:spcAft>
                <a:spcPts val="1800"/>
              </a:spcAft>
            </a:pPr>
            <a:r>
              <a:rPr sz="2000" b="1">
                <a:solidFill>
                  <a:srgbClr val="D9DEE6"/>
                </a:solidFill>
                <a:latin typeface="BIZ UDPゴシック"/>
                <a:ea typeface="BIZ UDPゴシック"/>
              </a:rPr>
              <a:t>01</a:t>
            </a:r>
            <a:r>
              <a:rPr sz="2000" b="0">
                <a:solidFill>
                  <a:srgbClr val="8C8C8C"/>
                </a:solidFill>
                <a:latin typeface="BIZ UDPゴシック"/>
                <a:ea typeface="BIZ UDPゴシック"/>
              </a:rPr>
              <a:t>　研究背景</a:t>
            </a:r>
          </a:p>
          <a:p>
            <a:pPr algn="l">
              <a:lnSpc>
                <a:spcPct val="100000"/>
              </a:lnSpc>
              <a:spcAft>
                <a:spcPts val="1800"/>
              </a:spcAft>
            </a:pPr>
            <a:r>
              <a:rPr sz="2000" b="1">
                <a:solidFill>
                  <a:srgbClr val="D9DEE6"/>
                </a:solidFill>
                <a:latin typeface="BIZ UDPゴシック"/>
                <a:ea typeface="BIZ UDPゴシック"/>
              </a:rPr>
              <a:t>02</a:t>
            </a:r>
            <a:r>
              <a:rPr sz="2000" b="0">
                <a:solidFill>
                  <a:srgbClr val="8C8C8C"/>
                </a:solidFill>
                <a:latin typeface="BIZ UDPゴシック"/>
                <a:ea typeface="BIZ UDPゴシック"/>
              </a:rPr>
              <a:t>　関連研究</a:t>
            </a:r>
          </a:p>
          <a:p>
            <a:pPr algn="l">
              <a:lnSpc>
                <a:spcPct val="100000"/>
              </a:lnSpc>
              <a:spcAft>
                <a:spcPts val="1800"/>
              </a:spcAft>
            </a:pPr>
            <a:r>
              <a:rPr sz="2000" b="1">
                <a:solidFill>
                  <a:srgbClr val="D9DEE6"/>
                </a:solidFill>
                <a:latin typeface="BIZ UDPゴシック"/>
                <a:ea typeface="BIZ UDPゴシック"/>
              </a:rPr>
              <a:t>03</a:t>
            </a:r>
            <a:r>
              <a:rPr sz="2000" b="0">
                <a:solidFill>
                  <a:srgbClr val="8C8C8C"/>
                </a:solidFill>
                <a:latin typeface="BIZ UDPゴシック"/>
                <a:ea typeface="BIZ UDPゴシック"/>
              </a:rPr>
              <a:t>　研究目的</a:t>
            </a:r>
          </a:p>
          <a:p>
            <a:pPr algn="l">
              <a:lnSpc>
                <a:spcPct val="100000"/>
              </a:lnSpc>
              <a:spcAft>
                <a:spcPts val="1800"/>
              </a:spcAft>
            </a:pPr>
            <a:r>
              <a:rPr sz="2000" b="1">
                <a:solidFill>
                  <a:srgbClr val="4E95D9"/>
                </a:solidFill>
                <a:latin typeface="BIZ UDPゴシック"/>
                <a:ea typeface="BIZ UDPゴシック"/>
              </a:rPr>
              <a:t>04</a:t>
            </a:r>
            <a:r>
              <a:rPr sz="2000" b="1">
                <a:solidFill>
                  <a:srgbClr val="1F3A5F"/>
                </a:solidFill>
                <a:latin typeface="BIZ UDPゴシック"/>
                <a:ea typeface="BIZ UDPゴシック"/>
              </a:rPr>
              <a:t>　提案手法</a:t>
            </a:r>
          </a:p>
          <a:p>
            <a:pPr algn="l">
              <a:lnSpc>
                <a:spcPct val="100000"/>
              </a:lnSpc>
              <a:spcAft>
                <a:spcPts val="1800"/>
              </a:spcAft>
            </a:pPr>
            <a:r>
              <a:rPr sz="2000" b="1">
                <a:solidFill>
                  <a:srgbClr val="D9DEE6"/>
                </a:solidFill>
                <a:latin typeface="BIZ UDPゴシック"/>
                <a:ea typeface="BIZ UDPゴシック"/>
              </a:rPr>
              <a:t>05</a:t>
            </a:r>
            <a:r>
              <a:rPr sz="2000" b="0">
                <a:solidFill>
                  <a:srgbClr val="8C8C8C"/>
                </a:solidFill>
                <a:latin typeface="BIZ UDPゴシック"/>
                <a:ea typeface="BIZ UDPゴシック"/>
              </a:rPr>
              <a:t>　進捗</a:t>
            </a:r>
          </a:p>
          <a:p>
            <a:pPr algn="l">
              <a:lnSpc>
                <a:spcPct val="100000"/>
              </a:lnSpc>
              <a:spcAft>
                <a:spcPts val="1800"/>
              </a:spcAft>
            </a:pPr>
            <a:r>
              <a:rPr sz="2000" b="1">
                <a:solidFill>
                  <a:srgbClr val="D9DEE6"/>
                </a:solidFill>
                <a:latin typeface="BIZ UDPゴシック"/>
                <a:ea typeface="BIZ UDPゴシック"/>
              </a:rPr>
              <a:t>06</a:t>
            </a:r>
            <a:r>
              <a:rPr sz="2000" b="0">
                <a:solidFill>
                  <a:srgbClr val="8C8C8C"/>
                </a:solidFill>
                <a:latin typeface="BIZ UDPゴシック"/>
                <a:ea typeface="BIZ UDPゴシック"/>
              </a:rPr>
              <a:t>　今後の計画</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11512" y="6400800"/>
            <a:ext cx="1828800" cy="228600"/>
          </a:xfrm>
          <a:prstGeom prst="rect">
            <a:avLst/>
          </a:prstGeom>
          <a:noFill/>
        </p:spPr>
        <p:txBody>
          <a:bodyPr wrap="square" anchor="ctr" lIns="0" rIns="0" tIns="0" bIns="0">
            <a:spAutoFit/>
          </a:bodyPr>
          <a:lstStyle/>
          <a:p>
            <a:pPr algn="r">
              <a:lnSpc>
                <a:spcPct val="120000"/>
              </a:lnSpc>
            </a:pPr>
            <a:r>
              <a:rPr sz="1200" b="1">
                <a:solidFill>
                  <a:srgbClr val="4E95D9"/>
                </a:solidFill>
                <a:latin typeface="BIZ UDPゴシック"/>
                <a:ea typeface="BIZ UDPゴシック"/>
              </a:rPr>
              <a:t>12</a:t>
            </a:r>
            <a:r>
              <a:rPr sz="1200" b="0">
                <a:solidFill>
                  <a:srgbClr val="8C8C8C"/>
                </a:solidFill>
                <a:latin typeface="BIZ UDPゴシック"/>
                <a:ea typeface="BIZ UDPゴシック"/>
              </a:rPr>
              <a:t> / 26</a:t>
            </a:r>
          </a:p>
        </p:txBody>
      </p:sp>
      <p:sp>
        <p:nvSpPr>
          <p:cNvPr id="3" name="下端の線"/>
          <p:cNvSpPr/>
          <p:nvPr/>
        </p:nvSpPr>
        <p:spPr>
          <a:xfrm>
            <a:off x="0" y="6803136"/>
            <a:ext cx="12192000" cy="54864"/>
          </a:xfrm>
          <a:prstGeom prst="rect">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の札"/>
          <p:cNvSpPr/>
          <p:nvPr/>
        </p:nvSpPr>
        <p:spPr>
          <a:xfrm>
            <a:off x="548640" y="292608"/>
            <a:ext cx="1584960" cy="274320"/>
          </a:xfrm>
          <a:prstGeom prst="roundRect">
            <a:avLst>
              <a:gd name="adj" fmla="val 50000"/>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BIZ UDPゴシック"/>
                <a:ea typeface="BIZ UDPゴシック"/>
              </a:rPr>
              <a:t>04  提案手法</a:t>
            </a:r>
          </a:p>
        </p:txBody>
      </p:sp>
      <p:sp>
        <p:nvSpPr>
          <p:cNvPr id="5" name="TextBox 4"/>
          <p:cNvSpPr txBox="1"/>
          <p:nvPr/>
        </p:nvSpPr>
        <p:spPr>
          <a:xfrm>
            <a:off x="548640" y="621792"/>
            <a:ext cx="11064240" cy="548640"/>
          </a:xfrm>
          <a:prstGeom prst="rect">
            <a:avLst/>
          </a:prstGeom>
          <a:noFill/>
        </p:spPr>
        <p:txBody>
          <a:bodyPr wrap="square" anchor="ctr" lIns="0" rIns="0" tIns="0" bIns="0">
            <a:spAutoFit/>
          </a:bodyPr>
          <a:lstStyle/>
          <a:p>
            <a:pPr algn="l">
              <a:lnSpc>
                <a:spcPct val="100000"/>
              </a:lnSpc>
            </a:pPr>
            <a:r>
              <a:rPr sz="3000" b="1">
                <a:solidFill>
                  <a:srgbClr val="1F3A5F"/>
                </a:solidFill>
                <a:latin typeface="BIZ UDPゴシック"/>
                <a:ea typeface="BIZ UDPゴシック"/>
              </a:rPr>
              <a:t>テラメカニクス × MPM</a:t>
            </a:r>
          </a:p>
        </p:txBody>
      </p:sp>
      <p:sp>
        <p:nvSpPr>
          <p:cNvPr id="6" name="区切り線"/>
          <p:cNvSpPr/>
          <p:nvPr/>
        </p:nvSpPr>
        <p:spPr>
          <a:xfrm>
            <a:off x="548640" y="1225296"/>
            <a:ext cx="11091672" cy="12700"/>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54480" y="1508760"/>
            <a:ext cx="4128516" cy="2651760"/>
          </a:xfrm>
          <a:prstGeom prst="roundRect">
            <a:avLst>
              <a:gd name="adj" fmla="val 8000"/>
            </a:avLst>
          </a:prstGeom>
          <a:solidFill>
            <a:srgbClr val="FFFFFF"/>
          </a:solidFill>
          <a:ln w="1587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399282" y="1691640"/>
            <a:ext cx="438912" cy="438912"/>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BIZ UDPゴシック"/>
                <a:ea typeface="BIZ UDPゴシック"/>
              </a:rPr>
              <a:t>A</a:t>
            </a:r>
          </a:p>
        </p:txBody>
      </p:sp>
      <p:sp>
        <p:nvSpPr>
          <p:cNvPr id="9" name="TextBox 8"/>
          <p:cNvSpPr txBox="1"/>
          <p:nvPr/>
        </p:nvSpPr>
        <p:spPr>
          <a:xfrm>
            <a:off x="1554480" y="2240280"/>
            <a:ext cx="4128516" cy="411480"/>
          </a:xfrm>
          <a:prstGeom prst="rect">
            <a:avLst/>
          </a:prstGeom>
          <a:noFill/>
        </p:spPr>
        <p:txBody>
          <a:bodyPr wrap="square" anchor="t" lIns="0" rIns="0" tIns="0" bIns="0">
            <a:spAutoFit/>
          </a:bodyPr>
          <a:lstStyle/>
          <a:p>
            <a:pPr algn="ctr">
              <a:lnSpc>
                <a:spcPct val="120000"/>
              </a:lnSpc>
            </a:pPr>
            <a:r>
              <a:rPr sz="2400" b="1">
                <a:solidFill>
                  <a:srgbClr val="1F3A5F"/>
                </a:solidFill>
                <a:latin typeface="BIZ UDPゴシック"/>
                <a:ea typeface="BIZ UDPゴシック"/>
              </a:rPr>
              <a:t>テラメカニクス理論</a:t>
            </a:r>
          </a:p>
        </p:txBody>
      </p:sp>
      <p:sp>
        <p:nvSpPr>
          <p:cNvPr id="10" name="TextBox 9"/>
          <p:cNvSpPr txBox="1"/>
          <p:nvPr/>
        </p:nvSpPr>
        <p:spPr>
          <a:xfrm>
            <a:off x="1614480" y="2743200"/>
            <a:ext cx="4008516" cy="662940"/>
          </a:xfrm>
          <a:prstGeom prst="rect">
            <a:avLst/>
          </a:prstGeom>
          <a:noFill/>
        </p:spPr>
        <p:txBody>
          <a:bodyPr wrap="square" anchor="t" lIns="0" rIns="0" tIns="0" bIns="0">
            <a:spAutoFit/>
          </a:bodyPr>
          <a:lstStyle/>
          <a:p>
            <a:pPr algn="ctr">
              <a:lnSpc>
                <a:spcPct val="120000"/>
              </a:lnSpc>
            </a:pPr>
            <a:r>
              <a:rPr sz="1800" b="0">
                <a:solidFill>
                  <a:srgbClr val="262626"/>
                </a:solidFill>
                <a:latin typeface="BIZ UDPゴシック"/>
                <a:ea typeface="BIZ UDPゴシック"/>
              </a:rPr>
              <a:t>スリップ比から沈下量と駆動力を</a:t>
            </a:r>
          </a:p>
          <a:p>
            <a:pPr algn="ctr">
              <a:lnSpc>
                <a:spcPct val="120000"/>
              </a:lnSpc>
            </a:pPr>
            <a:r>
              <a:rPr sz="1800" b="0">
                <a:solidFill>
                  <a:srgbClr val="262626"/>
                </a:solidFill>
                <a:latin typeface="BIZ UDPゴシック"/>
                <a:ea typeface="BIZ UDPゴシック"/>
              </a:rPr>
              <a:t>軽量に算出し、走行体感を作る</a:t>
            </a:r>
          </a:p>
        </p:txBody>
      </p:sp>
      <p:sp>
        <p:nvSpPr>
          <p:cNvPr id="11" name="Rounded Rectangle 10"/>
          <p:cNvSpPr/>
          <p:nvPr/>
        </p:nvSpPr>
        <p:spPr>
          <a:xfrm>
            <a:off x="1737360" y="3593592"/>
            <a:ext cx="3762756" cy="384048"/>
          </a:xfrm>
          <a:prstGeom prst="roundRect">
            <a:avLst>
              <a:gd name="adj" fmla="val 50000"/>
            </a:avLst>
          </a:prstGeom>
          <a:solidFill>
            <a:srgbClr val="D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800" b="1">
                <a:solidFill>
                  <a:srgbClr val="215F9A"/>
                </a:solidFill>
                <a:latin typeface="BIZ UDPゴシック"/>
                <a:ea typeface="BIZ UDPゴシック"/>
              </a:rPr>
              <a:t>土台</a:t>
            </a:r>
          </a:p>
        </p:txBody>
      </p:sp>
      <p:sp>
        <p:nvSpPr>
          <p:cNvPr id="12" name="Rounded Rectangle 11"/>
          <p:cNvSpPr/>
          <p:nvPr/>
        </p:nvSpPr>
        <p:spPr>
          <a:xfrm>
            <a:off x="6505956" y="1508760"/>
            <a:ext cx="4128516" cy="2651760"/>
          </a:xfrm>
          <a:prstGeom prst="roundRect">
            <a:avLst>
              <a:gd name="adj" fmla="val 8000"/>
            </a:avLst>
          </a:prstGeom>
          <a:solidFill>
            <a:srgbClr val="FFFFFF"/>
          </a:solidFill>
          <a:ln w="1587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350758" y="1691640"/>
            <a:ext cx="438912" cy="438912"/>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BIZ UDPゴシック"/>
                <a:ea typeface="BIZ UDPゴシック"/>
              </a:rPr>
              <a:t>B</a:t>
            </a:r>
          </a:p>
        </p:txBody>
      </p:sp>
      <p:sp>
        <p:nvSpPr>
          <p:cNvPr id="14" name="TextBox 13"/>
          <p:cNvSpPr txBox="1"/>
          <p:nvPr/>
        </p:nvSpPr>
        <p:spPr>
          <a:xfrm>
            <a:off x="6505956" y="2240280"/>
            <a:ext cx="4128516" cy="411480"/>
          </a:xfrm>
          <a:prstGeom prst="rect">
            <a:avLst/>
          </a:prstGeom>
          <a:noFill/>
        </p:spPr>
        <p:txBody>
          <a:bodyPr wrap="square" anchor="t" lIns="0" rIns="0" tIns="0" bIns="0">
            <a:spAutoFit/>
          </a:bodyPr>
          <a:lstStyle/>
          <a:p>
            <a:pPr algn="ctr">
              <a:lnSpc>
                <a:spcPct val="120000"/>
              </a:lnSpc>
            </a:pPr>
            <a:r>
              <a:rPr sz="2400" b="1">
                <a:solidFill>
                  <a:srgbClr val="1F3A5F"/>
                </a:solidFill>
                <a:latin typeface="BIZ UDPゴシック"/>
                <a:ea typeface="BIZ UDPゴシック"/>
              </a:rPr>
              <a:t>局所 MPM</a:t>
            </a:r>
          </a:p>
        </p:txBody>
      </p:sp>
      <p:sp>
        <p:nvSpPr>
          <p:cNvPr id="15" name="TextBox 14"/>
          <p:cNvSpPr txBox="1"/>
          <p:nvPr/>
        </p:nvSpPr>
        <p:spPr>
          <a:xfrm>
            <a:off x="6565956" y="2743200"/>
            <a:ext cx="4008516" cy="662940"/>
          </a:xfrm>
          <a:prstGeom prst="rect">
            <a:avLst/>
          </a:prstGeom>
          <a:noFill/>
        </p:spPr>
        <p:txBody>
          <a:bodyPr wrap="square" anchor="t" lIns="0" rIns="0" tIns="0" bIns="0">
            <a:spAutoFit/>
          </a:bodyPr>
          <a:lstStyle/>
          <a:p>
            <a:pPr algn="ctr">
              <a:lnSpc>
                <a:spcPct val="120000"/>
              </a:lnSpc>
            </a:pPr>
            <a:r>
              <a:rPr sz="1800" b="0">
                <a:solidFill>
                  <a:srgbClr val="262626"/>
                </a:solidFill>
                <a:latin typeface="BIZ UDPゴシック"/>
                <a:ea typeface="BIZ UDPゴシック"/>
              </a:rPr>
              <a:t>接地点の周辺だけを粒子で計算し</a:t>
            </a:r>
          </a:p>
          <a:p>
            <a:pPr algn="ctr">
              <a:lnSpc>
                <a:spcPct val="120000"/>
              </a:lnSpc>
            </a:pPr>
            <a:r>
              <a:rPr sz="1800" b="0">
                <a:solidFill>
                  <a:srgbClr val="262626"/>
                </a:solidFill>
                <a:latin typeface="BIZ UDPゴシック"/>
                <a:ea typeface="BIZ UDPゴシック"/>
              </a:rPr>
              <a:t>堆積、飛散、轍を再現</a:t>
            </a:r>
          </a:p>
        </p:txBody>
      </p:sp>
      <p:sp>
        <p:nvSpPr>
          <p:cNvPr id="16" name="Rounded Rectangle 15"/>
          <p:cNvSpPr/>
          <p:nvPr/>
        </p:nvSpPr>
        <p:spPr>
          <a:xfrm>
            <a:off x="6688836" y="3593592"/>
            <a:ext cx="3762756" cy="384048"/>
          </a:xfrm>
          <a:prstGeom prst="roundRect">
            <a:avLst>
              <a:gd name="adj" fmla="val 50000"/>
            </a:avLst>
          </a:prstGeom>
          <a:solidFill>
            <a:srgbClr val="D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800" b="1">
                <a:solidFill>
                  <a:srgbClr val="215F9A"/>
                </a:solidFill>
                <a:latin typeface="BIZ UDPゴシック"/>
                <a:ea typeface="BIZ UDPゴシック"/>
              </a:rPr>
              <a:t>新規性</a:t>
            </a:r>
          </a:p>
        </p:txBody>
      </p:sp>
      <p:sp>
        <p:nvSpPr>
          <p:cNvPr id="17" name="TextBox 16"/>
          <p:cNvSpPr txBox="1"/>
          <p:nvPr/>
        </p:nvSpPr>
        <p:spPr>
          <a:xfrm>
            <a:off x="5728716" y="2514600"/>
            <a:ext cx="731520" cy="731520"/>
          </a:xfrm>
          <a:prstGeom prst="rect">
            <a:avLst/>
          </a:prstGeom>
          <a:noFill/>
        </p:spPr>
        <p:txBody>
          <a:bodyPr wrap="square" anchor="t" lIns="0" rIns="0" tIns="0" bIns="0">
            <a:spAutoFit/>
          </a:bodyPr>
          <a:lstStyle/>
          <a:p>
            <a:pPr algn="ctr">
              <a:lnSpc>
                <a:spcPct val="120000"/>
              </a:lnSpc>
            </a:pPr>
            <a:r>
              <a:rPr sz="4000" b="1">
                <a:solidFill>
                  <a:srgbClr val="8C8C8C"/>
                </a:solidFill>
                <a:latin typeface="BIZ UDPゴシック"/>
                <a:ea typeface="BIZ UDPゴシック"/>
              </a:rPr>
              <a:t>＋</a:t>
            </a:r>
          </a:p>
        </p:txBody>
      </p:sp>
      <p:sp>
        <p:nvSpPr>
          <p:cNvPr id="18" name="結論の面"/>
          <p:cNvSpPr/>
          <p:nvPr/>
        </p:nvSpPr>
        <p:spPr>
          <a:xfrm>
            <a:off x="1645920" y="4389120"/>
            <a:ext cx="8897112" cy="1207008"/>
          </a:xfrm>
          <a:prstGeom prst="roundRect">
            <a:avLst>
              <a:gd name="adj" fmla="val 18000"/>
            </a:avLst>
          </a:prstGeom>
          <a:solidFill>
            <a:srgbClr val="DCE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20240" y="4389120"/>
            <a:ext cx="8348472" cy="1207008"/>
          </a:xfrm>
          <a:prstGeom prst="rect">
            <a:avLst/>
          </a:prstGeom>
          <a:noFill/>
        </p:spPr>
        <p:txBody>
          <a:bodyPr wrap="square" anchor="ctr" lIns="0" rIns="0" tIns="0" bIns="0">
            <a:spAutoFit/>
          </a:bodyPr>
          <a:lstStyle/>
          <a:p>
            <a:pPr algn="ctr">
              <a:lnSpc>
                <a:spcPct val="120000"/>
              </a:lnSpc>
            </a:pPr>
            <a:r>
              <a:rPr sz="2400" b="1">
                <a:solidFill>
                  <a:srgbClr val="1F3A5F"/>
                </a:solidFill>
                <a:latin typeface="BIZ UDPゴシック"/>
                <a:ea typeface="BIZ UDPゴシック"/>
              </a:rPr>
              <a:t>走行体感は理論で、接地部の挙動は粒子で計算し</a:t>
            </a:r>
          </a:p>
          <a:p>
            <a:pPr algn="ctr">
              <a:lnSpc>
                <a:spcPct val="120000"/>
              </a:lnSpc>
            </a:pPr>
            <a:r>
              <a:rPr sz="2400" b="1" u="heavy">
                <a:solidFill>
                  <a:srgbClr val="215F9A"/>
                </a:solidFill>
                <a:uFill>
                  <a:solidFill>
                    <a:srgbClr val="FFC000"/>
                  </a:solidFill>
                </a:uFill>
                <a:latin typeface="BIZ UDPゴシック"/>
                <a:ea typeface="BIZ UDPゴシック"/>
              </a:rPr>
              <a:t>リアルタイム性と物理的な妥当性</a:t>
            </a:r>
            <a:r>
              <a:rPr sz="2400" b="1">
                <a:solidFill>
                  <a:srgbClr val="1F3A5F"/>
                </a:solidFill>
                <a:latin typeface="BIZ UDPゴシック"/>
                <a:ea typeface="BIZ UDPゴシック"/>
              </a:rPr>
              <a:t> を両立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11512" y="6400800"/>
            <a:ext cx="1828800" cy="228600"/>
          </a:xfrm>
          <a:prstGeom prst="rect">
            <a:avLst/>
          </a:prstGeom>
          <a:noFill/>
        </p:spPr>
        <p:txBody>
          <a:bodyPr wrap="square" anchor="ctr" lIns="0" rIns="0" tIns="0" bIns="0">
            <a:spAutoFit/>
          </a:bodyPr>
          <a:lstStyle/>
          <a:p>
            <a:pPr algn="r">
              <a:lnSpc>
                <a:spcPct val="120000"/>
              </a:lnSpc>
            </a:pPr>
            <a:r>
              <a:rPr sz="1200" b="1">
                <a:solidFill>
                  <a:srgbClr val="4E95D9"/>
                </a:solidFill>
                <a:latin typeface="BIZ UDPゴシック"/>
                <a:ea typeface="BIZ UDPゴシック"/>
              </a:rPr>
              <a:t>13</a:t>
            </a:r>
            <a:r>
              <a:rPr sz="1200" b="0">
                <a:solidFill>
                  <a:srgbClr val="8C8C8C"/>
                </a:solidFill>
                <a:latin typeface="BIZ UDPゴシック"/>
                <a:ea typeface="BIZ UDPゴシック"/>
              </a:rPr>
              <a:t> / 26</a:t>
            </a:r>
          </a:p>
        </p:txBody>
      </p:sp>
      <p:sp>
        <p:nvSpPr>
          <p:cNvPr id="3" name="下端の線"/>
          <p:cNvSpPr/>
          <p:nvPr/>
        </p:nvSpPr>
        <p:spPr>
          <a:xfrm>
            <a:off x="0" y="6803136"/>
            <a:ext cx="12192000" cy="54864"/>
          </a:xfrm>
          <a:prstGeom prst="rect">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の札"/>
          <p:cNvSpPr/>
          <p:nvPr/>
        </p:nvSpPr>
        <p:spPr>
          <a:xfrm>
            <a:off x="548640" y="292608"/>
            <a:ext cx="1584960" cy="274320"/>
          </a:xfrm>
          <a:prstGeom prst="roundRect">
            <a:avLst>
              <a:gd name="adj" fmla="val 50000"/>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BIZ UDPゴシック"/>
                <a:ea typeface="BIZ UDPゴシック"/>
              </a:rPr>
              <a:t>04  提案手法</a:t>
            </a:r>
          </a:p>
        </p:txBody>
      </p:sp>
      <p:sp>
        <p:nvSpPr>
          <p:cNvPr id="5" name="TextBox 4"/>
          <p:cNvSpPr txBox="1"/>
          <p:nvPr/>
        </p:nvSpPr>
        <p:spPr>
          <a:xfrm>
            <a:off x="548640" y="621792"/>
            <a:ext cx="11064240" cy="548640"/>
          </a:xfrm>
          <a:prstGeom prst="rect">
            <a:avLst/>
          </a:prstGeom>
          <a:noFill/>
        </p:spPr>
        <p:txBody>
          <a:bodyPr wrap="square" anchor="ctr" lIns="0" rIns="0" tIns="0" bIns="0">
            <a:spAutoFit/>
          </a:bodyPr>
          <a:lstStyle/>
          <a:p>
            <a:pPr algn="l">
              <a:lnSpc>
                <a:spcPct val="100000"/>
              </a:lnSpc>
            </a:pPr>
            <a:r>
              <a:rPr sz="3000" b="1">
                <a:solidFill>
                  <a:srgbClr val="1F3A5F"/>
                </a:solidFill>
                <a:latin typeface="BIZ UDPゴシック"/>
                <a:ea typeface="BIZ UDPゴシック"/>
              </a:rPr>
              <a:t>テラメカニクスモデル</a:t>
            </a:r>
          </a:p>
        </p:txBody>
      </p:sp>
      <p:sp>
        <p:nvSpPr>
          <p:cNvPr id="6" name="区切り線"/>
          <p:cNvSpPr/>
          <p:nvPr/>
        </p:nvSpPr>
        <p:spPr>
          <a:xfrm>
            <a:off x="548640" y="1225296"/>
            <a:ext cx="11091672" cy="12700"/>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508760"/>
          <a:ext cx="11091672" cy="2267712"/>
        </p:xfrm>
        <a:graphic>
          <a:graphicData uri="http://schemas.openxmlformats.org/drawingml/2006/table">
            <a:tbl>
              <a:tblPr firstRow="0" bandRow="0">
                <a:tableStyleId>{2D5ABB26-0587-4C30-8999-92F81FD0307C}</a:tableStyleId>
              </a:tblPr>
              <a:tblGrid>
                <a:gridCol w="2377440"/>
                <a:gridCol w="4937760"/>
                <a:gridCol w="3776472"/>
              </a:tblGrid>
              <a:tr h="566928">
                <a:tc>
                  <a:txBody>
                    <a:bodyPr/>
                    <a:lstStyle/>
                    <a:p>
                      <a:pPr algn="ctr"/>
                      <a:r>
                        <a:rPr sz="1600" b="1">
                          <a:solidFill>
                            <a:srgbClr val="FFFFFF"/>
                          </a:solidFill>
                          <a:latin typeface="BIZ UDPゴシック"/>
                          <a:ea typeface="BIZ UDPゴシック"/>
                        </a:rPr>
                        <a:t>モデル</a:t>
                      </a:r>
                    </a:p>
                  </a:txBody>
                  <a:tcPr marL="91440" marR="91440" anchor="ctr">
                    <a:lnL w="0">
                      <a:noFill/>
                    </a:lnL>
                    <a:lnR w="0">
                      <a:noFill/>
                    </a:lnR>
                    <a:lnT w="0">
                      <a:noFill/>
                    </a:lnT>
                    <a:lnB w="9525">
                      <a:solidFill>
                        <a:srgbClr val="D9DEE6"/>
                      </a:solidFill>
                    </a:lnB>
                    <a:solidFill>
                      <a:srgbClr val="1F3A5F"/>
                    </a:solidFill>
                  </a:tcPr>
                </a:tc>
                <a:tc>
                  <a:txBody>
                    <a:bodyPr/>
                    <a:lstStyle/>
                    <a:p>
                      <a:pPr algn="ctr"/>
                      <a:r>
                        <a:rPr sz="1600" b="1">
                          <a:solidFill>
                            <a:srgbClr val="FFFFFF"/>
                          </a:solidFill>
                          <a:latin typeface="BIZ UDPゴシック"/>
                          <a:ea typeface="BIZ UDPゴシック"/>
                        </a:rPr>
                        <a:t>式</a:t>
                      </a:r>
                    </a:p>
                  </a:txBody>
                  <a:tcPr marL="91440" marR="91440" anchor="ctr">
                    <a:lnL w="0">
                      <a:noFill/>
                    </a:lnL>
                    <a:lnR w="0">
                      <a:noFill/>
                    </a:lnR>
                    <a:lnT w="0">
                      <a:noFill/>
                    </a:lnT>
                    <a:lnB w="9525">
                      <a:solidFill>
                        <a:srgbClr val="D9DEE6"/>
                      </a:solidFill>
                    </a:lnB>
                    <a:solidFill>
                      <a:srgbClr val="215F9A"/>
                    </a:solidFill>
                  </a:tcPr>
                </a:tc>
                <a:tc>
                  <a:txBody>
                    <a:bodyPr/>
                    <a:lstStyle/>
                    <a:p>
                      <a:pPr algn="ctr"/>
                      <a:r>
                        <a:rPr sz="1600" b="1">
                          <a:solidFill>
                            <a:srgbClr val="FFFFFF"/>
                          </a:solidFill>
                          <a:latin typeface="BIZ UDPゴシック"/>
                          <a:ea typeface="BIZ UDPゴシック"/>
                        </a:rPr>
                        <a:t>表すもの</a:t>
                      </a:r>
                    </a:p>
                  </a:txBody>
                  <a:tcPr marL="91440" marR="91440" anchor="ctr">
                    <a:lnL w="0">
                      <a:noFill/>
                    </a:lnL>
                    <a:lnR w="0">
                      <a:noFill/>
                    </a:lnR>
                    <a:lnT w="0">
                      <a:noFill/>
                    </a:lnT>
                    <a:lnB w="9525">
                      <a:solidFill>
                        <a:srgbClr val="D9DEE6"/>
                      </a:solidFill>
                    </a:lnB>
                    <a:solidFill>
                      <a:srgbClr val="1F3A5F"/>
                    </a:solidFill>
                  </a:tcPr>
                </a:tc>
              </a:tr>
              <a:tr h="566928">
                <a:tc>
                  <a:txBody>
                    <a:bodyPr/>
                    <a:lstStyle/>
                    <a:p>
                      <a:pPr algn="ctr"/>
                      <a:r>
                        <a:rPr sz="1800" b="0">
                          <a:solidFill>
                            <a:srgbClr val="262626"/>
                          </a:solidFill>
                          <a:latin typeface="BIZ UDPゴシック"/>
                          <a:ea typeface="BIZ UDPゴシック"/>
                        </a:rPr>
                        <a:t>Bekker</a:t>
                      </a:r>
                    </a:p>
                  </a:txBody>
                  <a:tcPr marL="91440" marR="91440" anchor="ctr">
                    <a:lnL w="0">
                      <a:noFill/>
                    </a:lnL>
                    <a:lnR w="0">
                      <a:noFill/>
                    </a:lnR>
                    <a:lnT w="0">
                      <a:noFill/>
                    </a:lnT>
                    <a:lnB w="9525">
                      <a:solidFill>
                        <a:srgbClr val="D9DEE6"/>
                      </a:solidFill>
                    </a:lnB>
                    <a:noFill/>
                  </a:tcPr>
                </a:tc>
                <a:tc>
                  <a:txBody>
                    <a:bodyPr/>
                    <a:lstStyle/>
                    <a:p>
                      <a:pPr algn="ctr"/>
                      <a:r>
                        <a:rPr sz="1800" b="1">
                          <a:solidFill>
                            <a:srgbClr val="215F9A"/>
                          </a:solidFill>
                          <a:latin typeface="BIZ UDPゴシック"/>
                          <a:ea typeface="BIZ UDPゴシック"/>
                        </a:rPr>
                        <a:t>p = (k_c / b + k_φ) z^n</a:t>
                      </a:r>
                    </a:p>
                  </a:txBody>
                  <a:tcPr marL="91440" marR="91440" anchor="ctr">
                    <a:lnL w="0">
                      <a:noFill/>
                    </a:lnL>
                    <a:lnR w="0">
                      <a:noFill/>
                    </a:lnR>
                    <a:lnT w="0">
                      <a:noFill/>
                    </a:lnT>
                    <a:lnB w="9525">
                      <a:solidFill>
                        <a:srgbClr val="D9DEE6"/>
                      </a:solidFill>
                    </a:lnB>
                    <a:solidFill>
                      <a:srgbClr val="DCEAF7"/>
                    </a:solidFill>
                  </a:tcPr>
                </a:tc>
                <a:tc>
                  <a:txBody>
                    <a:bodyPr/>
                    <a:lstStyle/>
                    <a:p>
                      <a:pPr algn="ctr"/>
                      <a:r>
                        <a:rPr sz="1800" b="0">
                          <a:solidFill>
                            <a:srgbClr val="262626"/>
                          </a:solidFill>
                          <a:latin typeface="BIZ UDPゴシック"/>
                          <a:ea typeface="BIZ UDPゴシック"/>
                        </a:rPr>
                        <a:t>沈下量 z と接地圧 p</a:t>
                      </a:r>
                    </a:p>
                  </a:txBody>
                  <a:tcPr marL="91440" marR="91440" anchor="ctr">
                    <a:lnL w="0">
                      <a:noFill/>
                    </a:lnL>
                    <a:lnR w="0">
                      <a:noFill/>
                    </a:lnR>
                    <a:lnT w="0">
                      <a:noFill/>
                    </a:lnT>
                    <a:lnB w="9525">
                      <a:solidFill>
                        <a:srgbClr val="D9DEE6"/>
                      </a:solidFill>
                    </a:lnB>
                    <a:noFill/>
                  </a:tcPr>
                </a:tc>
              </a:tr>
              <a:tr h="566928">
                <a:tc>
                  <a:txBody>
                    <a:bodyPr/>
                    <a:lstStyle/>
                    <a:p>
                      <a:pPr algn="ctr"/>
                      <a:r>
                        <a:rPr sz="1800" b="0">
                          <a:solidFill>
                            <a:srgbClr val="262626"/>
                          </a:solidFill>
                          <a:latin typeface="BIZ UDPゴシック"/>
                          <a:ea typeface="BIZ UDPゴシック"/>
                        </a:rPr>
                        <a:t>Janosi-Hanamoto</a:t>
                      </a:r>
                    </a:p>
                  </a:txBody>
                  <a:tcPr marL="91440" marR="91440" anchor="ctr">
                    <a:lnL w="0">
                      <a:noFill/>
                    </a:lnL>
                    <a:lnR w="0">
                      <a:noFill/>
                    </a:lnR>
                    <a:lnT w="0">
                      <a:noFill/>
                    </a:lnT>
                    <a:lnB w="9525">
                      <a:solidFill>
                        <a:srgbClr val="D9DEE6"/>
                      </a:solidFill>
                    </a:lnB>
                    <a:noFill/>
                  </a:tcPr>
                </a:tc>
                <a:tc>
                  <a:txBody>
                    <a:bodyPr/>
                    <a:lstStyle/>
                    <a:p>
                      <a:pPr algn="ctr"/>
                      <a:r>
                        <a:rPr sz="1800" b="1">
                          <a:solidFill>
                            <a:srgbClr val="215F9A"/>
                          </a:solidFill>
                          <a:latin typeface="BIZ UDPゴシック"/>
                          <a:ea typeface="BIZ UDPゴシック"/>
                        </a:rPr>
                        <a:t>τ = (c + σ tan φ)(1 − exp(−j / K))</a:t>
                      </a:r>
                    </a:p>
                  </a:txBody>
                  <a:tcPr marL="91440" marR="91440" anchor="ctr">
                    <a:lnL w="0">
                      <a:noFill/>
                    </a:lnL>
                    <a:lnR w="0">
                      <a:noFill/>
                    </a:lnR>
                    <a:lnT w="0">
                      <a:noFill/>
                    </a:lnT>
                    <a:lnB w="9525">
                      <a:solidFill>
                        <a:srgbClr val="D9DEE6"/>
                      </a:solidFill>
                    </a:lnB>
                    <a:solidFill>
                      <a:srgbClr val="DCEAF7"/>
                    </a:solidFill>
                  </a:tcPr>
                </a:tc>
                <a:tc>
                  <a:txBody>
                    <a:bodyPr/>
                    <a:lstStyle/>
                    <a:p>
                      <a:pPr algn="ctr"/>
                      <a:r>
                        <a:rPr sz="1800" b="0">
                          <a:solidFill>
                            <a:srgbClr val="262626"/>
                          </a:solidFill>
                          <a:latin typeface="BIZ UDPゴシック"/>
                          <a:ea typeface="BIZ UDPゴシック"/>
                        </a:rPr>
                        <a:t>せん断応力 τ（前に進む力）</a:t>
                      </a:r>
                    </a:p>
                  </a:txBody>
                  <a:tcPr marL="91440" marR="91440" anchor="ctr">
                    <a:lnL w="0">
                      <a:noFill/>
                    </a:lnL>
                    <a:lnR w="0">
                      <a:noFill/>
                    </a:lnR>
                    <a:lnT w="0">
                      <a:noFill/>
                    </a:lnT>
                    <a:lnB w="9525">
                      <a:solidFill>
                        <a:srgbClr val="D9DEE6"/>
                      </a:solidFill>
                    </a:lnB>
                    <a:noFill/>
                  </a:tcPr>
                </a:tc>
              </a:tr>
              <a:tr h="566928">
                <a:tc>
                  <a:txBody>
                    <a:bodyPr/>
                    <a:lstStyle/>
                    <a:p>
                      <a:pPr algn="ctr"/>
                      <a:r>
                        <a:rPr sz="1800" b="0">
                          <a:solidFill>
                            <a:srgbClr val="262626"/>
                          </a:solidFill>
                          <a:latin typeface="BIZ UDPゴシック"/>
                          <a:ea typeface="BIZ UDPゴシック"/>
                        </a:rPr>
                        <a:t>スリップ比</a:t>
                      </a:r>
                    </a:p>
                  </a:txBody>
                  <a:tcPr marL="91440" marR="91440" anchor="ctr">
                    <a:lnL w="0">
                      <a:noFill/>
                    </a:lnL>
                    <a:lnR w="0">
                      <a:noFill/>
                    </a:lnR>
                    <a:lnT w="0">
                      <a:noFill/>
                    </a:lnT>
                    <a:lnB w="9525">
                      <a:solidFill>
                        <a:srgbClr val="D9DEE6"/>
                      </a:solidFill>
                    </a:lnB>
                    <a:noFill/>
                  </a:tcPr>
                </a:tc>
                <a:tc>
                  <a:txBody>
                    <a:bodyPr/>
                    <a:lstStyle/>
                    <a:p>
                      <a:pPr algn="ctr"/>
                      <a:r>
                        <a:rPr sz="1800" b="1">
                          <a:solidFill>
                            <a:srgbClr val="215F9A"/>
                          </a:solidFill>
                          <a:latin typeface="BIZ UDPゴシック"/>
                          <a:ea typeface="BIZ UDPゴシック"/>
                        </a:rPr>
                        <a:t>i = (rω − v) / (rω)</a:t>
                      </a:r>
                    </a:p>
                  </a:txBody>
                  <a:tcPr marL="91440" marR="91440" anchor="ctr">
                    <a:lnL w="0">
                      <a:noFill/>
                    </a:lnL>
                    <a:lnR w="0">
                      <a:noFill/>
                    </a:lnR>
                    <a:lnT w="0">
                      <a:noFill/>
                    </a:lnT>
                    <a:lnB w="9525">
                      <a:solidFill>
                        <a:srgbClr val="D9DEE6"/>
                      </a:solidFill>
                    </a:lnB>
                    <a:solidFill>
                      <a:srgbClr val="DCEAF7"/>
                    </a:solidFill>
                  </a:tcPr>
                </a:tc>
                <a:tc>
                  <a:txBody>
                    <a:bodyPr/>
                    <a:lstStyle/>
                    <a:p>
                      <a:pPr algn="ctr"/>
                      <a:r>
                        <a:rPr sz="1800" b="0">
                          <a:solidFill>
                            <a:srgbClr val="262626"/>
                          </a:solidFill>
                          <a:latin typeface="BIZ UDPゴシック"/>
                          <a:ea typeface="BIZ UDPゴシック"/>
                        </a:rPr>
                        <a:t>回転のうちの空回りの割合</a:t>
                      </a:r>
                    </a:p>
                  </a:txBody>
                  <a:tcPr marL="91440" marR="91440" anchor="ctr">
                    <a:lnL w="0">
                      <a:noFill/>
                    </a:lnL>
                    <a:lnR w="0">
                      <a:noFill/>
                    </a:lnR>
                    <a:lnT w="0">
                      <a:noFill/>
                    </a:lnT>
                    <a:lnB w="9525">
                      <a:solidFill>
                        <a:srgbClr val="D9DEE6"/>
                      </a:solidFill>
                    </a:lnB>
                    <a:noFill/>
                  </a:tcPr>
                </a:tc>
              </a:tr>
            </a:tbl>
          </a:graphicData>
        </a:graphic>
      </p:graphicFrame>
      <p:sp>
        <p:nvSpPr>
          <p:cNvPr id="8" name="TextBox 7"/>
          <p:cNvSpPr txBox="1"/>
          <p:nvPr/>
        </p:nvSpPr>
        <p:spPr>
          <a:xfrm>
            <a:off x="548640" y="4114800"/>
            <a:ext cx="11091672" cy="822960"/>
          </a:xfrm>
          <a:prstGeom prst="rect">
            <a:avLst/>
          </a:prstGeom>
          <a:noFill/>
        </p:spPr>
        <p:txBody>
          <a:bodyPr wrap="square" anchor="t" lIns="0" rIns="0" tIns="0" bIns="0">
            <a:spAutoFit/>
          </a:bodyPr>
          <a:lstStyle/>
          <a:p>
            <a:pPr algn="ctr">
              <a:lnSpc>
                <a:spcPct val="120000"/>
              </a:lnSpc>
            </a:pPr>
            <a:r>
              <a:rPr sz="1400" b="0">
                <a:solidFill>
                  <a:srgbClr val="8C8C8C"/>
                </a:solidFill>
                <a:latin typeface="BIZ UDPゴシック"/>
                <a:ea typeface="BIZ UDPゴシック"/>
              </a:rPr>
              <a:t>z：沈下量、b：タイヤ幅、k_c, k_φ, n：土の定数、c：粘着力、φ：内部摩擦角、</a:t>
            </a:r>
          </a:p>
          <a:p>
            <a:pPr algn="ctr">
              <a:lnSpc>
                <a:spcPct val="120000"/>
              </a:lnSpc>
            </a:pPr>
            <a:r>
              <a:rPr sz="1400" b="0">
                <a:solidFill>
                  <a:srgbClr val="8C8C8C"/>
                </a:solidFill>
                <a:latin typeface="BIZ UDPゴシック"/>
                <a:ea typeface="BIZ UDPゴシック"/>
              </a:rPr>
              <a:t>σ：垂直応力、j：せん断変位、K：せん断変形係数、r：タイヤ半径、ω：角速度、v：前進速度</a:t>
            </a:r>
          </a:p>
        </p:txBody>
      </p:sp>
      <p:sp>
        <p:nvSpPr>
          <p:cNvPr id="9" name="結論の面"/>
          <p:cNvSpPr/>
          <p:nvPr/>
        </p:nvSpPr>
        <p:spPr>
          <a:xfrm>
            <a:off x="1828800" y="4983480"/>
            <a:ext cx="8531352" cy="749808"/>
          </a:xfrm>
          <a:prstGeom prst="roundRect">
            <a:avLst>
              <a:gd name="adj" fmla="val 18000"/>
            </a:avLst>
          </a:prstGeom>
          <a:solidFill>
            <a:srgbClr val="DCE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03120" y="4983480"/>
            <a:ext cx="7982712" cy="749808"/>
          </a:xfrm>
          <a:prstGeom prst="rect">
            <a:avLst/>
          </a:prstGeom>
          <a:noFill/>
        </p:spPr>
        <p:txBody>
          <a:bodyPr wrap="square" anchor="ctr" lIns="0" rIns="0" tIns="0" bIns="0">
            <a:spAutoFit/>
          </a:bodyPr>
          <a:lstStyle/>
          <a:p>
            <a:pPr algn="ctr">
              <a:lnSpc>
                <a:spcPct val="120000"/>
              </a:lnSpc>
            </a:pPr>
            <a:r>
              <a:rPr sz="2400" b="1">
                <a:solidFill>
                  <a:srgbClr val="1F3A5F"/>
                </a:solidFill>
                <a:latin typeface="BIZ UDPゴシック"/>
                <a:ea typeface="BIZ UDPゴシック"/>
              </a:rPr>
              <a:t>スリップ比から </a:t>
            </a:r>
            <a:r>
              <a:rPr sz="2400" b="1" u="heavy">
                <a:solidFill>
                  <a:srgbClr val="215F9A"/>
                </a:solidFill>
                <a:uFill>
                  <a:solidFill>
                    <a:srgbClr val="FFC000"/>
                  </a:solidFill>
                </a:uFill>
                <a:latin typeface="BIZ UDPゴシック"/>
                <a:ea typeface="BIZ UDPゴシック"/>
              </a:rPr>
              <a:t>沈下量と駆動力</a:t>
            </a:r>
            <a:r>
              <a:rPr sz="2400" b="1">
                <a:solidFill>
                  <a:srgbClr val="1F3A5F"/>
                </a:solidFill>
                <a:latin typeface="BIZ UDPゴシック"/>
                <a:ea typeface="BIZ UDPゴシック"/>
              </a:rPr>
              <a:t> を軽量に求める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11512" y="6400800"/>
            <a:ext cx="1828800" cy="228600"/>
          </a:xfrm>
          <a:prstGeom prst="rect">
            <a:avLst/>
          </a:prstGeom>
          <a:noFill/>
        </p:spPr>
        <p:txBody>
          <a:bodyPr wrap="square" anchor="ctr" lIns="0" rIns="0" tIns="0" bIns="0">
            <a:spAutoFit/>
          </a:bodyPr>
          <a:lstStyle/>
          <a:p>
            <a:pPr algn="r">
              <a:lnSpc>
                <a:spcPct val="120000"/>
              </a:lnSpc>
            </a:pPr>
            <a:r>
              <a:rPr sz="1200" b="1">
                <a:solidFill>
                  <a:srgbClr val="4E95D9"/>
                </a:solidFill>
                <a:latin typeface="BIZ UDPゴシック"/>
                <a:ea typeface="BIZ UDPゴシック"/>
              </a:rPr>
              <a:t>14</a:t>
            </a:r>
            <a:r>
              <a:rPr sz="1200" b="0">
                <a:solidFill>
                  <a:srgbClr val="8C8C8C"/>
                </a:solidFill>
                <a:latin typeface="BIZ UDPゴシック"/>
                <a:ea typeface="BIZ UDPゴシック"/>
              </a:rPr>
              <a:t> / 26</a:t>
            </a:r>
          </a:p>
        </p:txBody>
      </p:sp>
      <p:sp>
        <p:nvSpPr>
          <p:cNvPr id="3" name="下端の線"/>
          <p:cNvSpPr/>
          <p:nvPr/>
        </p:nvSpPr>
        <p:spPr>
          <a:xfrm>
            <a:off x="0" y="6803136"/>
            <a:ext cx="12192000" cy="54864"/>
          </a:xfrm>
          <a:prstGeom prst="rect">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の札"/>
          <p:cNvSpPr/>
          <p:nvPr/>
        </p:nvSpPr>
        <p:spPr>
          <a:xfrm>
            <a:off x="548640" y="292608"/>
            <a:ext cx="1584960" cy="274320"/>
          </a:xfrm>
          <a:prstGeom prst="roundRect">
            <a:avLst>
              <a:gd name="adj" fmla="val 50000"/>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BIZ UDPゴシック"/>
                <a:ea typeface="BIZ UDPゴシック"/>
              </a:rPr>
              <a:t>04  提案手法</a:t>
            </a:r>
          </a:p>
        </p:txBody>
      </p:sp>
      <p:sp>
        <p:nvSpPr>
          <p:cNvPr id="5" name="TextBox 4"/>
          <p:cNvSpPr txBox="1"/>
          <p:nvPr/>
        </p:nvSpPr>
        <p:spPr>
          <a:xfrm>
            <a:off x="548640" y="621792"/>
            <a:ext cx="11064240" cy="548640"/>
          </a:xfrm>
          <a:prstGeom prst="rect">
            <a:avLst/>
          </a:prstGeom>
          <a:noFill/>
        </p:spPr>
        <p:txBody>
          <a:bodyPr wrap="square" anchor="ctr" lIns="0" rIns="0" tIns="0" bIns="0">
            <a:spAutoFit/>
          </a:bodyPr>
          <a:lstStyle/>
          <a:p>
            <a:pPr algn="l">
              <a:lnSpc>
                <a:spcPct val="100000"/>
              </a:lnSpc>
            </a:pPr>
            <a:r>
              <a:rPr sz="3000" b="1">
                <a:solidFill>
                  <a:srgbClr val="1F3A5F"/>
                </a:solidFill>
                <a:latin typeface="BIZ UDPゴシック"/>
                <a:ea typeface="BIZ UDPゴシック"/>
              </a:rPr>
              <a:t>Material Point Method（MPM）</a:t>
            </a:r>
          </a:p>
        </p:txBody>
      </p:sp>
      <p:sp>
        <p:nvSpPr>
          <p:cNvPr id="6" name="区切り線"/>
          <p:cNvSpPr/>
          <p:nvPr/>
        </p:nvSpPr>
        <p:spPr>
          <a:xfrm>
            <a:off x="548640" y="1225296"/>
            <a:ext cx="11091672" cy="12700"/>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pm_cycle.png"/>
          <p:cNvPicPr>
            <a:picLocks noChangeAspect="1"/>
          </p:cNvPicPr>
          <p:nvPr/>
        </p:nvPicPr>
        <p:blipFill>
          <a:blip r:embed="rId3"/>
          <a:stretch>
            <a:fillRect/>
          </a:stretch>
        </p:blipFill>
        <p:spPr>
          <a:xfrm>
            <a:off x="7888952" y="1417320"/>
            <a:ext cx="3333055" cy="3474720"/>
          </a:xfrm>
          <a:prstGeom prst="roundRect">
            <a:avLst>
              <a:gd name="adj" fmla="val 4000"/>
            </a:avLst>
          </a:prstGeom>
        </p:spPr>
      </p:pic>
      <p:sp>
        <p:nvSpPr>
          <p:cNvPr id="8" name="TextBox 7"/>
          <p:cNvSpPr txBox="1"/>
          <p:nvPr/>
        </p:nvSpPr>
        <p:spPr>
          <a:xfrm>
            <a:off x="7772400" y="4965192"/>
            <a:ext cx="3566160" cy="320040"/>
          </a:xfrm>
          <a:prstGeom prst="rect">
            <a:avLst/>
          </a:prstGeom>
          <a:noFill/>
        </p:spPr>
        <p:txBody>
          <a:bodyPr wrap="square" anchor="t" lIns="0" rIns="0" tIns="0" bIns="0">
            <a:spAutoFit/>
          </a:bodyPr>
          <a:lstStyle/>
          <a:p>
            <a:pPr algn="ctr">
              <a:lnSpc>
                <a:spcPct val="120000"/>
              </a:lnSpc>
            </a:pPr>
            <a:r>
              <a:rPr sz="1600" b="0">
                <a:solidFill>
                  <a:srgbClr val="8C8C8C"/>
                </a:solidFill>
                <a:latin typeface="BIZ UDPゴシック"/>
                <a:ea typeface="BIZ UDPゴシック"/>
              </a:rPr>
              <a:t>MPM の処理手順 [4]</a:t>
            </a:r>
          </a:p>
        </p:txBody>
      </p:sp>
      <p:sp>
        <p:nvSpPr>
          <p:cNvPr id="9" name="Rounded Rectangle 8"/>
          <p:cNvSpPr/>
          <p:nvPr/>
        </p:nvSpPr>
        <p:spPr>
          <a:xfrm>
            <a:off x="548640" y="1737360"/>
            <a:ext cx="1999488" cy="960120"/>
          </a:xfrm>
          <a:prstGeom prst="roundRect">
            <a:avLst>
              <a:gd name="adj" fmla="val 14000"/>
            </a:avLst>
          </a:prstGeom>
          <a:solidFill>
            <a:srgbClr val="F3F8FD"/>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r>
              <a:rPr sz="1800" b="1">
                <a:solidFill>
                  <a:srgbClr val="1F3A5F"/>
                </a:solidFill>
                <a:latin typeface="BIZ UDPゴシック"/>
                <a:ea typeface="BIZ UDPゴシック"/>
              </a:rPr>
              <a:t>P2G</a:t>
            </a:r>
          </a:p>
          <a:p>
            <a:pPr algn="ctr"/>
            <a:r>
              <a:rPr sz="1800" b="0">
                <a:solidFill>
                  <a:srgbClr val="262626"/>
                </a:solidFill>
                <a:latin typeface="BIZ UDPゴシック"/>
                <a:ea typeface="BIZ UDPゴシック"/>
              </a:rPr>
              <a:t>粒子 → 格子</a:t>
            </a:r>
          </a:p>
        </p:txBody>
      </p:sp>
      <p:sp>
        <p:nvSpPr>
          <p:cNvPr id="10" name="Oval 9"/>
          <p:cNvSpPr/>
          <p:nvPr/>
        </p:nvSpPr>
        <p:spPr>
          <a:xfrm>
            <a:off x="1383792" y="1572768"/>
            <a:ext cx="329184" cy="329184"/>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BIZ UDPゴシック"/>
                <a:ea typeface="BIZ UDPゴシック"/>
              </a:rPr>
              <a:t>1</a:t>
            </a:r>
          </a:p>
        </p:txBody>
      </p:sp>
      <p:sp>
        <p:nvSpPr>
          <p:cNvPr id="11" name="Chevron 10"/>
          <p:cNvSpPr/>
          <p:nvPr/>
        </p:nvSpPr>
        <p:spPr>
          <a:xfrm>
            <a:off x="2648712" y="2071116"/>
            <a:ext cx="182880" cy="292608"/>
          </a:xfrm>
          <a:prstGeom prst="chevron">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932176" y="1737360"/>
            <a:ext cx="1999488" cy="960120"/>
          </a:xfrm>
          <a:prstGeom prst="roundRect">
            <a:avLst>
              <a:gd name="adj" fmla="val 14000"/>
            </a:avLst>
          </a:prstGeom>
          <a:solidFill>
            <a:srgbClr val="F3F8FD"/>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r>
              <a:rPr sz="1800" b="1">
                <a:solidFill>
                  <a:srgbClr val="1F3A5F"/>
                </a:solidFill>
                <a:latin typeface="BIZ UDPゴシック"/>
                <a:ea typeface="BIZ UDPゴシック"/>
              </a:rPr>
              <a:t>格子の更新</a:t>
            </a:r>
          </a:p>
          <a:p>
            <a:pPr algn="ctr"/>
            <a:r>
              <a:rPr sz="1800" b="0">
                <a:solidFill>
                  <a:srgbClr val="262626"/>
                </a:solidFill>
                <a:latin typeface="BIZ UDPゴシック"/>
                <a:ea typeface="BIZ UDPゴシック"/>
              </a:rPr>
              <a:t>運動方程式</a:t>
            </a:r>
          </a:p>
        </p:txBody>
      </p:sp>
      <p:sp>
        <p:nvSpPr>
          <p:cNvPr id="13" name="Oval 12"/>
          <p:cNvSpPr/>
          <p:nvPr/>
        </p:nvSpPr>
        <p:spPr>
          <a:xfrm>
            <a:off x="3767328" y="1572768"/>
            <a:ext cx="329184" cy="329184"/>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BIZ UDPゴシック"/>
                <a:ea typeface="BIZ UDPゴシック"/>
              </a:rPr>
              <a:t>2</a:t>
            </a:r>
          </a:p>
        </p:txBody>
      </p:sp>
      <p:sp>
        <p:nvSpPr>
          <p:cNvPr id="14" name="Chevron 13"/>
          <p:cNvSpPr/>
          <p:nvPr/>
        </p:nvSpPr>
        <p:spPr>
          <a:xfrm>
            <a:off x="5032248" y="2071116"/>
            <a:ext cx="182880" cy="292608"/>
          </a:xfrm>
          <a:prstGeom prst="chevron">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315712" y="1737360"/>
            <a:ext cx="1999488" cy="960120"/>
          </a:xfrm>
          <a:prstGeom prst="roundRect">
            <a:avLst>
              <a:gd name="adj" fmla="val 14000"/>
            </a:avLst>
          </a:prstGeom>
          <a:solidFill>
            <a:srgbClr val="F3F8FD"/>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r>
              <a:rPr sz="1800" b="1">
                <a:solidFill>
                  <a:srgbClr val="1F3A5F"/>
                </a:solidFill>
                <a:latin typeface="BIZ UDPゴシック"/>
                <a:ea typeface="BIZ UDPゴシック"/>
              </a:rPr>
              <a:t>G2P</a:t>
            </a:r>
          </a:p>
          <a:p>
            <a:pPr algn="ctr"/>
            <a:r>
              <a:rPr sz="1800" b="0">
                <a:solidFill>
                  <a:srgbClr val="262626"/>
                </a:solidFill>
                <a:latin typeface="BIZ UDPゴシック"/>
                <a:ea typeface="BIZ UDPゴシック"/>
              </a:rPr>
              <a:t>格子 → 粒子</a:t>
            </a:r>
          </a:p>
        </p:txBody>
      </p:sp>
      <p:sp>
        <p:nvSpPr>
          <p:cNvPr id="16" name="Oval 15"/>
          <p:cNvSpPr/>
          <p:nvPr/>
        </p:nvSpPr>
        <p:spPr>
          <a:xfrm>
            <a:off x="6150864" y="1572768"/>
            <a:ext cx="329184" cy="329184"/>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BIZ UDPゴシック"/>
                <a:ea typeface="BIZ UDPゴシック"/>
              </a:rPr>
              <a:t>3</a:t>
            </a:r>
          </a:p>
        </p:txBody>
      </p:sp>
      <p:sp>
        <p:nvSpPr>
          <p:cNvPr id="17" name="行頭の点"/>
          <p:cNvSpPr/>
          <p:nvPr/>
        </p:nvSpPr>
        <p:spPr>
          <a:xfrm>
            <a:off x="731520" y="3293110"/>
            <a:ext cx="91440" cy="91440"/>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7420" y="3154680"/>
            <a:ext cx="6367780" cy="368300"/>
          </a:xfrm>
          <a:prstGeom prst="rect">
            <a:avLst/>
          </a:prstGeom>
          <a:noFill/>
        </p:spPr>
        <p:txBody>
          <a:bodyPr wrap="square" anchor="ctr" lIns="0" rIns="0" tIns="0" bIns="0">
            <a:spAutoFit/>
          </a:bodyPr>
          <a:lstStyle/>
          <a:p>
            <a:pPr algn="l">
              <a:lnSpc>
                <a:spcPct val="120000"/>
              </a:lnSpc>
            </a:pPr>
            <a:r>
              <a:rPr sz="2000" b="1">
                <a:solidFill>
                  <a:srgbClr val="215F9A"/>
                </a:solidFill>
                <a:latin typeface="BIZ UDPゴシック"/>
                <a:ea typeface="BIZ UDPゴシック"/>
              </a:rPr>
              <a:t>粒子</a:t>
            </a:r>
            <a:r>
              <a:rPr sz="2000" b="0">
                <a:solidFill>
                  <a:srgbClr val="262626"/>
                </a:solidFill>
                <a:latin typeface="BIZ UDPゴシック"/>
                <a:ea typeface="BIZ UDPゴシック"/>
              </a:rPr>
              <a:t>：物質（砂の塊）を表す</a:t>
            </a:r>
          </a:p>
        </p:txBody>
      </p:sp>
      <p:sp>
        <p:nvSpPr>
          <p:cNvPr id="19" name="行頭の点"/>
          <p:cNvSpPr/>
          <p:nvPr/>
        </p:nvSpPr>
        <p:spPr>
          <a:xfrm>
            <a:off x="731520" y="3752850"/>
            <a:ext cx="91440" cy="91440"/>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7420" y="3614420"/>
            <a:ext cx="6367780" cy="368300"/>
          </a:xfrm>
          <a:prstGeom prst="rect">
            <a:avLst/>
          </a:prstGeom>
          <a:noFill/>
        </p:spPr>
        <p:txBody>
          <a:bodyPr wrap="square" anchor="ctr" lIns="0" rIns="0" tIns="0" bIns="0">
            <a:spAutoFit/>
          </a:bodyPr>
          <a:lstStyle/>
          <a:p>
            <a:pPr algn="l">
              <a:lnSpc>
                <a:spcPct val="120000"/>
              </a:lnSpc>
            </a:pPr>
            <a:r>
              <a:rPr sz="2000" b="1">
                <a:solidFill>
                  <a:srgbClr val="215F9A"/>
                </a:solidFill>
                <a:latin typeface="BIZ UDPゴシック"/>
                <a:ea typeface="BIZ UDPゴシック"/>
              </a:rPr>
              <a:t>格子</a:t>
            </a:r>
            <a:r>
              <a:rPr sz="2000" b="0">
                <a:solidFill>
                  <a:srgbClr val="262626"/>
                </a:solidFill>
                <a:latin typeface="BIZ UDPゴシック"/>
                <a:ea typeface="BIZ UDPゴシック"/>
              </a:rPr>
              <a:t>：力と速度の計算に使う背景</a:t>
            </a:r>
          </a:p>
        </p:txBody>
      </p:sp>
      <p:sp>
        <p:nvSpPr>
          <p:cNvPr id="21" name="行頭の点"/>
          <p:cNvSpPr/>
          <p:nvPr/>
        </p:nvSpPr>
        <p:spPr>
          <a:xfrm>
            <a:off x="731520" y="4212590"/>
            <a:ext cx="91440" cy="91440"/>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7420" y="4074160"/>
            <a:ext cx="6367780" cy="736600"/>
          </a:xfrm>
          <a:prstGeom prst="rect">
            <a:avLst/>
          </a:prstGeom>
          <a:noFill/>
        </p:spPr>
        <p:txBody>
          <a:bodyPr wrap="square" anchor="t" lIns="0" rIns="0" tIns="0" bIns="0">
            <a:spAutoFit/>
          </a:bodyPr>
          <a:lstStyle/>
          <a:p>
            <a:pPr algn="l">
              <a:lnSpc>
                <a:spcPct val="120000"/>
              </a:lnSpc>
            </a:pPr>
            <a:r>
              <a:rPr sz="2000" b="0">
                <a:solidFill>
                  <a:srgbClr val="262626"/>
                </a:solidFill>
                <a:latin typeface="BIZ UDPゴシック"/>
                <a:ea typeface="BIZ UDPゴシック"/>
              </a:rPr>
              <a:t>近くの格子点とだけやり取りし、</a:t>
            </a:r>
          </a:p>
          <a:p>
            <a:pPr algn="l">
              <a:lnSpc>
                <a:spcPct val="120000"/>
              </a:lnSpc>
            </a:pPr>
            <a:r>
              <a:rPr sz="2000" b="0">
                <a:solidFill>
                  <a:srgbClr val="262626"/>
                </a:solidFill>
                <a:latin typeface="BIZ UDPゴシック"/>
                <a:ea typeface="BIZ UDPゴシック"/>
              </a:rPr>
              <a:t>全粒子の接触判定が不要</a:t>
            </a:r>
          </a:p>
        </p:txBody>
      </p:sp>
      <p:sp>
        <p:nvSpPr>
          <p:cNvPr id="23" name="TextBox 22"/>
          <p:cNvSpPr txBox="1"/>
          <p:nvPr/>
        </p:nvSpPr>
        <p:spPr>
          <a:xfrm>
            <a:off x="548640" y="6139053"/>
            <a:ext cx="11064240" cy="188595"/>
          </a:xfrm>
          <a:prstGeom prst="rect">
            <a:avLst/>
          </a:prstGeom>
          <a:noFill/>
        </p:spPr>
        <p:txBody>
          <a:bodyPr wrap="square" anchor="t" lIns="0" rIns="0" tIns="0" bIns="0">
            <a:spAutoFit/>
          </a:bodyPr>
          <a:lstStyle/>
          <a:p>
            <a:pPr algn="l">
              <a:lnSpc>
                <a:spcPct val="100000"/>
              </a:lnSpc>
            </a:pPr>
            <a:r>
              <a:rPr sz="1100" b="0">
                <a:solidFill>
                  <a:srgbClr val="8C8C8C"/>
                </a:solidFill>
                <a:latin typeface="BIZ UDPゴシック"/>
                <a:ea typeface="BIZ UDPゴシック"/>
              </a:rPr>
              <a:t>[4] A. de Vaucorbeil et al., "Material point method after 25 years: Theory, implementation, and applications," Advances in Applied Mechanics, 53, pp. 185-398, 2020.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11512" y="6400800"/>
            <a:ext cx="1828800" cy="228600"/>
          </a:xfrm>
          <a:prstGeom prst="rect">
            <a:avLst/>
          </a:prstGeom>
          <a:noFill/>
        </p:spPr>
        <p:txBody>
          <a:bodyPr wrap="square" anchor="ctr" lIns="0" rIns="0" tIns="0" bIns="0">
            <a:spAutoFit/>
          </a:bodyPr>
          <a:lstStyle/>
          <a:p>
            <a:pPr algn="r">
              <a:lnSpc>
                <a:spcPct val="120000"/>
              </a:lnSpc>
            </a:pPr>
            <a:r>
              <a:rPr sz="1200" b="1">
                <a:solidFill>
                  <a:srgbClr val="4E95D9"/>
                </a:solidFill>
                <a:latin typeface="BIZ UDPゴシック"/>
                <a:ea typeface="BIZ UDPゴシック"/>
              </a:rPr>
              <a:t>15</a:t>
            </a:r>
            <a:r>
              <a:rPr sz="1200" b="0">
                <a:solidFill>
                  <a:srgbClr val="8C8C8C"/>
                </a:solidFill>
                <a:latin typeface="BIZ UDPゴシック"/>
                <a:ea typeface="BIZ UDPゴシック"/>
              </a:rPr>
              <a:t> / 26</a:t>
            </a:r>
          </a:p>
        </p:txBody>
      </p:sp>
      <p:sp>
        <p:nvSpPr>
          <p:cNvPr id="3" name="下端の線"/>
          <p:cNvSpPr/>
          <p:nvPr/>
        </p:nvSpPr>
        <p:spPr>
          <a:xfrm>
            <a:off x="0" y="6803136"/>
            <a:ext cx="12192000" cy="54864"/>
          </a:xfrm>
          <a:prstGeom prst="rect">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の札"/>
          <p:cNvSpPr/>
          <p:nvPr/>
        </p:nvSpPr>
        <p:spPr>
          <a:xfrm>
            <a:off x="548640" y="292608"/>
            <a:ext cx="1584960" cy="274320"/>
          </a:xfrm>
          <a:prstGeom prst="roundRect">
            <a:avLst>
              <a:gd name="adj" fmla="val 50000"/>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BIZ UDPゴシック"/>
                <a:ea typeface="BIZ UDPゴシック"/>
              </a:rPr>
              <a:t>04  提案手法</a:t>
            </a:r>
          </a:p>
        </p:txBody>
      </p:sp>
      <p:sp>
        <p:nvSpPr>
          <p:cNvPr id="5" name="TextBox 4"/>
          <p:cNvSpPr txBox="1"/>
          <p:nvPr/>
        </p:nvSpPr>
        <p:spPr>
          <a:xfrm>
            <a:off x="548640" y="621792"/>
            <a:ext cx="11064240" cy="548640"/>
          </a:xfrm>
          <a:prstGeom prst="rect">
            <a:avLst/>
          </a:prstGeom>
          <a:noFill/>
        </p:spPr>
        <p:txBody>
          <a:bodyPr wrap="square" anchor="ctr" lIns="0" rIns="0" tIns="0" bIns="0">
            <a:spAutoFit/>
          </a:bodyPr>
          <a:lstStyle/>
          <a:p>
            <a:pPr algn="l">
              <a:lnSpc>
                <a:spcPct val="100000"/>
              </a:lnSpc>
            </a:pPr>
            <a:r>
              <a:rPr sz="3000" b="1">
                <a:solidFill>
                  <a:srgbClr val="1F3A5F"/>
                </a:solidFill>
                <a:latin typeface="BIZ UDPゴシック"/>
                <a:ea typeface="BIZ UDPゴシック"/>
              </a:rPr>
              <a:t>MPM を選ぶ理由と粗視化</a:t>
            </a:r>
          </a:p>
        </p:txBody>
      </p:sp>
      <p:sp>
        <p:nvSpPr>
          <p:cNvPr id="6" name="区切り線"/>
          <p:cNvSpPr/>
          <p:nvPr/>
        </p:nvSpPr>
        <p:spPr>
          <a:xfrm>
            <a:off x="548640" y="1225296"/>
            <a:ext cx="11091672" cy="12700"/>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63040"/>
            <a:ext cx="3422904" cy="2514600"/>
          </a:xfrm>
          <a:prstGeom prst="roundRect">
            <a:avLst>
              <a:gd name="adj" fmla="val 8000"/>
            </a:avLst>
          </a:prstGeom>
          <a:solidFill>
            <a:srgbClr val="FFFFFF"/>
          </a:solidFill>
          <a:ln w="1587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223516" y="1645920"/>
            <a:ext cx="438912" cy="438912"/>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BIZ UDPゴシック"/>
                <a:ea typeface="BIZ UDPゴシック"/>
              </a:rPr>
              <a:t>1</a:t>
            </a:r>
          </a:p>
        </p:txBody>
      </p:sp>
      <p:sp>
        <p:nvSpPr>
          <p:cNvPr id="9" name="TextBox 8"/>
          <p:cNvSpPr txBox="1"/>
          <p:nvPr/>
        </p:nvSpPr>
        <p:spPr>
          <a:xfrm>
            <a:off x="731520" y="2194560"/>
            <a:ext cx="3422904" cy="411480"/>
          </a:xfrm>
          <a:prstGeom prst="rect">
            <a:avLst/>
          </a:prstGeom>
          <a:noFill/>
        </p:spPr>
        <p:txBody>
          <a:bodyPr wrap="square" anchor="t" lIns="0" rIns="0" tIns="0" bIns="0">
            <a:spAutoFit/>
          </a:bodyPr>
          <a:lstStyle/>
          <a:p>
            <a:pPr algn="ctr">
              <a:lnSpc>
                <a:spcPct val="120000"/>
              </a:lnSpc>
            </a:pPr>
            <a:r>
              <a:rPr sz="2400" b="1">
                <a:solidFill>
                  <a:srgbClr val="1F3A5F"/>
                </a:solidFill>
                <a:latin typeface="BIZ UDPゴシック"/>
                <a:ea typeface="BIZ UDPゴシック"/>
              </a:rPr>
              <a:t>文献値と対応</a:t>
            </a:r>
          </a:p>
        </p:txBody>
      </p:sp>
      <p:sp>
        <p:nvSpPr>
          <p:cNvPr id="10" name="TextBox 9"/>
          <p:cNvSpPr txBox="1"/>
          <p:nvPr/>
        </p:nvSpPr>
        <p:spPr>
          <a:xfrm>
            <a:off x="791520" y="2697480"/>
            <a:ext cx="3302904" cy="662940"/>
          </a:xfrm>
          <a:prstGeom prst="rect">
            <a:avLst/>
          </a:prstGeom>
          <a:noFill/>
        </p:spPr>
        <p:txBody>
          <a:bodyPr wrap="square" anchor="t" lIns="0" rIns="0" tIns="0" bIns="0">
            <a:spAutoFit/>
          </a:bodyPr>
          <a:lstStyle/>
          <a:p>
            <a:pPr algn="ctr">
              <a:lnSpc>
                <a:spcPct val="120000"/>
              </a:lnSpc>
            </a:pPr>
            <a:r>
              <a:rPr sz="1800" b="0">
                <a:solidFill>
                  <a:srgbClr val="262626"/>
                </a:solidFill>
                <a:latin typeface="BIZ UDPゴシック"/>
                <a:ea typeface="BIZ UDPゴシック"/>
              </a:rPr>
              <a:t>Drucker-Prager [5] が</a:t>
            </a:r>
          </a:p>
          <a:p>
            <a:pPr algn="ctr">
              <a:lnSpc>
                <a:spcPct val="120000"/>
              </a:lnSpc>
            </a:pPr>
            <a:r>
              <a:rPr sz="1800" b="0">
                <a:solidFill>
                  <a:srgbClr val="262626"/>
                </a:solidFill>
                <a:latin typeface="BIZ UDPゴシック"/>
                <a:ea typeface="BIZ UDPゴシック"/>
              </a:rPr>
              <a:t>内部摩擦角 φ を持つ</a:t>
            </a:r>
          </a:p>
        </p:txBody>
      </p:sp>
      <p:sp>
        <p:nvSpPr>
          <p:cNvPr id="11" name="Rounded Rectangle 10"/>
          <p:cNvSpPr/>
          <p:nvPr/>
        </p:nvSpPr>
        <p:spPr>
          <a:xfrm>
            <a:off x="914400" y="3410712"/>
            <a:ext cx="3057144" cy="384048"/>
          </a:xfrm>
          <a:prstGeom prst="roundRect">
            <a:avLst>
              <a:gd name="adj" fmla="val 50000"/>
            </a:avLst>
          </a:prstGeom>
          <a:solidFill>
            <a:srgbClr val="D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800" b="1">
                <a:solidFill>
                  <a:srgbClr val="215F9A"/>
                </a:solidFill>
                <a:latin typeface="BIZ UDPゴシック"/>
                <a:ea typeface="BIZ UDPゴシック"/>
              </a:rPr>
              <a:t>月レゴリス φ ≈ 30〜40°</a:t>
            </a:r>
          </a:p>
        </p:txBody>
      </p:sp>
      <p:sp>
        <p:nvSpPr>
          <p:cNvPr id="12" name="Rounded Rectangle 11"/>
          <p:cNvSpPr/>
          <p:nvPr/>
        </p:nvSpPr>
        <p:spPr>
          <a:xfrm>
            <a:off x="4383024" y="1463040"/>
            <a:ext cx="3422904" cy="2514600"/>
          </a:xfrm>
          <a:prstGeom prst="roundRect">
            <a:avLst>
              <a:gd name="adj" fmla="val 8000"/>
            </a:avLst>
          </a:prstGeom>
          <a:solidFill>
            <a:srgbClr val="FFFFFF"/>
          </a:solidFill>
          <a:ln w="1587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875020" y="1645920"/>
            <a:ext cx="438912" cy="438912"/>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BIZ UDPゴシック"/>
                <a:ea typeface="BIZ UDPゴシック"/>
              </a:rPr>
              <a:t>2</a:t>
            </a:r>
          </a:p>
        </p:txBody>
      </p:sp>
      <p:sp>
        <p:nvSpPr>
          <p:cNvPr id="14" name="TextBox 13"/>
          <p:cNvSpPr txBox="1"/>
          <p:nvPr/>
        </p:nvSpPr>
        <p:spPr>
          <a:xfrm>
            <a:off x="4383024" y="2194560"/>
            <a:ext cx="3422904" cy="411480"/>
          </a:xfrm>
          <a:prstGeom prst="rect">
            <a:avLst/>
          </a:prstGeom>
          <a:noFill/>
        </p:spPr>
        <p:txBody>
          <a:bodyPr wrap="square" anchor="t" lIns="0" rIns="0" tIns="0" bIns="0">
            <a:spAutoFit/>
          </a:bodyPr>
          <a:lstStyle/>
          <a:p>
            <a:pPr algn="ctr">
              <a:lnSpc>
                <a:spcPct val="120000"/>
              </a:lnSpc>
            </a:pPr>
            <a:r>
              <a:rPr sz="2400" b="1">
                <a:solidFill>
                  <a:srgbClr val="1F3A5F"/>
                </a:solidFill>
                <a:latin typeface="BIZ UDPゴシック"/>
                <a:ea typeface="BIZ UDPゴシック"/>
              </a:rPr>
              <a:t>接触判定が不要</a:t>
            </a:r>
          </a:p>
        </p:txBody>
      </p:sp>
      <p:sp>
        <p:nvSpPr>
          <p:cNvPr id="15" name="TextBox 14"/>
          <p:cNvSpPr txBox="1"/>
          <p:nvPr/>
        </p:nvSpPr>
        <p:spPr>
          <a:xfrm>
            <a:off x="4443024" y="2697480"/>
            <a:ext cx="3302904" cy="662940"/>
          </a:xfrm>
          <a:prstGeom prst="rect">
            <a:avLst/>
          </a:prstGeom>
          <a:noFill/>
        </p:spPr>
        <p:txBody>
          <a:bodyPr wrap="square" anchor="t" lIns="0" rIns="0" tIns="0" bIns="0">
            <a:spAutoFit/>
          </a:bodyPr>
          <a:lstStyle/>
          <a:p>
            <a:pPr algn="ctr">
              <a:lnSpc>
                <a:spcPct val="120000"/>
              </a:lnSpc>
            </a:pPr>
            <a:r>
              <a:rPr sz="1800" b="0">
                <a:solidFill>
                  <a:srgbClr val="262626"/>
                </a:solidFill>
                <a:latin typeface="BIZ UDPゴシック"/>
                <a:ea typeface="BIZ UDPゴシック"/>
              </a:rPr>
              <a:t>粒子は近くの格子点と</a:t>
            </a:r>
          </a:p>
          <a:p>
            <a:pPr algn="ctr">
              <a:lnSpc>
                <a:spcPct val="120000"/>
              </a:lnSpc>
            </a:pPr>
            <a:r>
              <a:rPr sz="1800" b="0">
                <a:solidFill>
                  <a:srgbClr val="262626"/>
                </a:solidFill>
                <a:latin typeface="BIZ UDPゴシック"/>
                <a:ea typeface="BIZ UDPゴシック"/>
              </a:rPr>
              <a:t>だけやり取りする</a:t>
            </a:r>
          </a:p>
        </p:txBody>
      </p:sp>
      <p:sp>
        <p:nvSpPr>
          <p:cNvPr id="16" name="Rounded Rectangle 15"/>
          <p:cNvSpPr/>
          <p:nvPr/>
        </p:nvSpPr>
        <p:spPr>
          <a:xfrm>
            <a:off x="4565904" y="3410712"/>
            <a:ext cx="3057144" cy="384048"/>
          </a:xfrm>
          <a:prstGeom prst="roundRect">
            <a:avLst>
              <a:gd name="adj" fmla="val 50000"/>
            </a:avLst>
          </a:prstGeom>
          <a:solidFill>
            <a:srgbClr val="D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800" b="1">
                <a:solidFill>
                  <a:srgbClr val="215F9A"/>
                </a:solidFill>
                <a:latin typeface="BIZ UDPゴシック"/>
                <a:ea typeface="BIZ UDPゴシック"/>
              </a:rPr>
              <a:t>計算が軽い</a:t>
            </a:r>
          </a:p>
        </p:txBody>
      </p:sp>
      <p:sp>
        <p:nvSpPr>
          <p:cNvPr id="17" name="Rounded Rectangle 16"/>
          <p:cNvSpPr/>
          <p:nvPr/>
        </p:nvSpPr>
        <p:spPr>
          <a:xfrm>
            <a:off x="8034528" y="1463040"/>
            <a:ext cx="3422904" cy="2514600"/>
          </a:xfrm>
          <a:prstGeom prst="roundRect">
            <a:avLst>
              <a:gd name="adj" fmla="val 8000"/>
            </a:avLst>
          </a:prstGeom>
          <a:solidFill>
            <a:srgbClr val="FFFFFF"/>
          </a:solidFill>
          <a:ln w="1587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526524" y="1645920"/>
            <a:ext cx="438912" cy="438912"/>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BIZ UDPゴシック"/>
                <a:ea typeface="BIZ UDPゴシック"/>
              </a:rPr>
              <a:t>3</a:t>
            </a:r>
          </a:p>
        </p:txBody>
      </p:sp>
      <p:sp>
        <p:nvSpPr>
          <p:cNvPr id="19" name="TextBox 18"/>
          <p:cNvSpPr txBox="1"/>
          <p:nvPr/>
        </p:nvSpPr>
        <p:spPr>
          <a:xfrm>
            <a:off x="8034528" y="2194560"/>
            <a:ext cx="3422904" cy="411480"/>
          </a:xfrm>
          <a:prstGeom prst="rect">
            <a:avLst/>
          </a:prstGeom>
          <a:noFill/>
        </p:spPr>
        <p:txBody>
          <a:bodyPr wrap="square" anchor="t" lIns="0" rIns="0" tIns="0" bIns="0">
            <a:spAutoFit/>
          </a:bodyPr>
          <a:lstStyle/>
          <a:p>
            <a:pPr algn="ctr">
              <a:lnSpc>
                <a:spcPct val="120000"/>
              </a:lnSpc>
            </a:pPr>
            <a:r>
              <a:rPr sz="2400" b="1">
                <a:solidFill>
                  <a:srgbClr val="1F3A5F"/>
                </a:solidFill>
                <a:latin typeface="BIZ UDPゴシック"/>
                <a:ea typeface="BIZ UDPゴシック"/>
              </a:rPr>
              <a:t>先行研究と差別化</a:t>
            </a:r>
          </a:p>
        </p:txBody>
      </p:sp>
      <p:sp>
        <p:nvSpPr>
          <p:cNvPr id="20" name="TextBox 19"/>
          <p:cNvSpPr txBox="1"/>
          <p:nvPr/>
        </p:nvSpPr>
        <p:spPr>
          <a:xfrm>
            <a:off x="8094528" y="2697480"/>
            <a:ext cx="3302904" cy="662940"/>
          </a:xfrm>
          <a:prstGeom prst="rect">
            <a:avLst/>
          </a:prstGeom>
          <a:noFill/>
        </p:spPr>
        <p:txBody>
          <a:bodyPr wrap="square" anchor="t" lIns="0" rIns="0" tIns="0" bIns="0">
            <a:spAutoFit/>
          </a:bodyPr>
          <a:lstStyle/>
          <a:p>
            <a:pPr algn="ctr">
              <a:lnSpc>
                <a:spcPct val="120000"/>
              </a:lnSpc>
            </a:pPr>
            <a:r>
              <a:rPr sz="1800" b="0">
                <a:solidFill>
                  <a:srgbClr val="262626"/>
                </a:solidFill>
                <a:latin typeface="BIZ UDPゴシック"/>
                <a:ea typeface="BIZ UDPゴシック"/>
              </a:rPr>
              <a:t>Jiang et al. [3] は</a:t>
            </a:r>
          </a:p>
          <a:p>
            <a:pPr algn="ctr">
              <a:lnSpc>
                <a:spcPct val="120000"/>
              </a:lnSpc>
            </a:pPr>
            <a:r>
              <a:rPr sz="1800" b="0">
                <a:solidFill>
                  <a:srgbClr val="262626"/>
                </a:solidFill>
                <a:latin typeface="BIZ UDPゴシック"/>
                <a:ea typeface="BIZ UDPゴシック"/>
              </a:rPr>
              <a:t>DEM で解析</a:t>
            </a:r>
          </a:p>
        </p:txBody>
      </p:sp>
      <p:sp>
        <p:nvSpPr>
          <p:cNvPr id="21" name="Rounded Rectangle 20"/>
          <p:cNvSpPr/>
          <p:nvPr/>
        </p:nvSpPr>
        <p:spPr>
          <a:xfrm>
            <a:off x="8217408" y="3410712"/>
            <a:ext cx="3057144" cy="384048"/>
          </a:xfrm>
          <a:prstGeom prst="roundRect">
            <a:avLst>
              <a:gd name="adj" fmla="val 50000"/>
            </a:avLst>
          </a:prstGeom>
          <a:solidFill>
            <a:srgbClr val="D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800" b="1">
                <a:solidFill>
                  <a:srgbClr val="215F9A"/>
                </a:solidFill>
                <a:latin typeface="BIZ UDPゴシック"/>
                <a:ea typeface="BIZ UDPゴシック"/>
              </a:rPr>
              <a:t>本研究は MPM</a:t>
            </a:r>
          </a:p>
        </p:txBody>
      </p:sp>
      <p:sp>
        <p:nvSpPr>
          <p:cNvPr id="22" name="TextBox 21"/>
          <p:cNvSpPr txBox="1"/>
          <p:nvPr/>
        </p:nvSpPr>
        <p:spPr>
          <a:xfrm>
            <a:off x="914400" y="4160520"/>
            <a:ext cx="1828800" cy="868680"/>
          </a:xfrm>
          <a:prstGeom prst="rect">
            <a:avLst/>
          </a:prstGeom>
          <a:noFill/>
        </p:spPr>
        <p:txBody>
          <a:bodyPr wrap="square" anchor="ctr" lIns="0" rIns="0" tIns="0" bIns="0">
            <a:spAutoFit/>
          </a:bodyPr>
          <a:lstStyle/>
          <a:p>
            <a:pPr algn="r">
              <a:lnSpc>
                <a:spcPct val="120000"/>
              </a:lnSpc>
            </a:pPr>
            <a:r>
              <a:rPr sz="4800" b="1">
                <a:solidFill>
                  <a:srgbClr val="215F9A"/>
                </a:solidFill>
                <a:latin typeface="BIZ UDPゴシック"/>
                <a:ea typeface="BIZ UDPゴシック"/>
              </a:rPr>
              <a:t>70</a:t>
            </a:r>
            <a:r>
              <a:rPr sz="2400" b="1">
                <a:solidFill>
                  <a:srgbClr val="215F9A"/>
                </a:solidFill>
                <a:latin typeface="BIZ UDPゴシック"/>
                <a:ea typeface="BIZ UDPゴシック"/>
              </a:rPr>
              <a:t> μm</a:t>
            </a:r>
          </a:p>
        </p:txBody>
      </p:sp>
      <p:sp>
        <p:nvSpPr>
          <p:cNvPr id="23" name="Rounded Rectangle 22"/>
          <p:cNvSpPr/>
          <p:nvPr/>
        </p:nvSpPr>
        <p:spPr>
          <a:xfrm>
            <a:off x="2880360" y="4407408"/>
            <a:ext cx="2743200" cy="365760"/>
          </a:xfrm>
          <a:prstGeom prst="roundRect">
            <a:avLst>
              <a:gd name="adj" fmla="val 50000"/>
            </a:avLst>
          </a:prstGeom>
          <a:solidFill>
            <a:srgbClr val="D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600" b="1">
                <a:solidFill>
                  <a:srgbClr val="215F9A"/>
                </a:solidFill>
                <a:latin typeface="BIZ UDPゴシック"/>
                <a:ea typeface="BIZ UDPゴシック"/>
              </a:rPr>
              <a:t>実レゴリスの中央粒径</a:t>
            </a:r>
          </a:p>
        </p:txBody>
      </p:sp>
      <p:sp>
        <p:nvSpPr>
          <p:cNvPr id="24" name="TextBox 23"/>
          <p:cNvSpPr txBox="1"/>
          <p:nvPr/>
        </p:nvSpPr>
        <p:spPr>
          <a:xfrm>
            <a:off x="6400800" y="4160520"/>
            <a:ext cx="1828800" cy="868680"/>
          </a:xfrm>
          <a:prstGeom prst="rect">
            <a:avLst/>
          </a:prstGeom>
          <a:noFill/>
        </p:spPr>
        <p:txBody>
          <a:bodyPr wrap="square" anchor="ctr" lIns="0" rIns="0" tIns="0" bIns="0">
            <a:spAutoFit/>
          </a:bodyPr>
          <a:lstStyle/>
          <a:p>
            <a:pPr algn="r">
              <a:lnSpc>
                <a:spcPct val="120000"/>
              </a:lnSpc>
            </a:pPr>
            <a:r>
              <a:rPr sz="4800" b="1">
                <a:solidFill>
                  <a:srgbClr val="215F9A"/>
                </a:solidFill>
                <a:latin typeface="BIZ UDPゴシック"/>
                <a:ea typeface="BIZ UDPゴシック"/>
              </a:rPr>
              <a:t>1</a:t>
            </a:r>
            <a:r>
              <a:rPr sz="2400" b="1">
                <a:solidFill>
                  <a:srgbClr val="215F9A"/>
                </a:solidFill>
                <a:latin typeface="BIZ UDPゴシック"/>
                <a:ea typeface="BIZ UDPゴシック"/>
              </a:rPr>
              <a:t> cm</a:t>
            </a:r>
          </a:p>
        </p:txBody>
      </p:sp>
      <p:sp>
        <p:nvSpPr>
          <p:cNvPr id="25" name="Rounded Rectangle 24"/>
          <p:cNvSpPr/>
          <p:nvPr/>
        </p:nvSpPr>
        <p:spPr>
          <a:xfrm>
            <a:off x="8366760" y="4407408"/>
            <a:ext cx="2743200" cy="365760"/>
          </a:xfrm>
          <a:prstGeom prst="roundRect">
            <a:avLst>
              <a:gd name="adj" fmla="val 50000"/>
            </a:avLst>
          </a:prstGeom>
          <a:solidFill>
            <a:srgbClr val="D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600" b="1">
                <a:solidFill>
                  <a:srgbClr val="215F9A"/>
                </a:solidFill>
                <a:latin typeface="BIZ UDPゴシック"/>
                <a:ea typeface="BIZ UDPゴシック"/>
              </a:rPr>
              <a:t>代表粒子の直径</a:t>
            </a:r>
          </a:p>
        </p:txBody>
      </p:sp>
      <p:sp>
        <p:nvSpPr>
          <p:cNvPr id="26" name="Chevron 25"/>
          <p:cNvSpPr/>
          <p:nvPr/>
        </p:nvSpPr>
        <p:spPr>
          <a:xfrm>
            <a:off x="5806440" y="4343400"/>
            <a:ext cx="365760" cy="502920"/>
          </a:xfrm>
          <a:prstGeom prst="chevron">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6139053"/>
            <a:ext cx="11064240" cy="188595"/>
          </a:xfrm>
          <a:prstGeom prst="rect">
            <a:avLst/>
          </a:prstGeom>
          <a:noFill/>
        </p:spPr>
        <p:txBody>
          <a:bodyPr wrap="square" anchor="t" lIns="0" rIns="0" tIns="0" bIns="0">
            <a:spAutoFit/>
          </a:bodyPr>
          <a:lstStyle/>
          <a:p>
            <a:pPr algn="l">
              <a:lnSpc>
                <a:spcPct val="100000"/>
              </a:lnSpc>
            </a:pPr>
            <a:r>
              <a:rPr sz="1100" b="0">
                <a:solidFill>
                  <a:srgbClr val="8C8C8C"/>
                </a:solidFill>
                <a:latin typeface="BIZ UDPゴシック"/>
                <a:ea typeface="BIZ UDPゴシック"/>
              </a:rPr>
              <a:t>[5] G. Klár et al., "Drucker-Prager Elastoplasticity for Sand Animation," ACM Trans. Graph., 35(4), 2016.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11512" y="6400800"/>
            <a:ext cx="1828800" cy="228600"/>
          </a:xfrm>
          <a:prstGeom prst="rect">
            <a:avLst/>
          </a:prstGeom>
          <a:noFill/>
        </p:spPr>
        <p:txBody>
          <a:bodyPr wrap="square" anchor="ctr" lIns="0" rIns="0" tIns="0" bIns="0">
            <a:spAutoFit/>
          </a:bodyPr>
          <a:lstStyle/>
          <a:p>
            <a:pPr algn="r">
              <a:lnSpc>
                <a:spcPct val="120000"/>
              </a:lnSpc>
            </a:pPr>
            <a:r>
              <a:rPr sz="1200" b="1">
                <a:solidFill>
                  <a:srgbClr val="4E95D9"/>
                </a:solidFill>
                <a:latin typeface="BIZ UDPゴシック"/>
                <a:ea typeface="BIZ UDPゴシック"/>
              </a:rPr>
              <a:t>16</a:t>
            </a:r>
            <a:r>
              <a:rPr sz="1200" b="0">
                <a:solidFill>
                  <a:srgbClr val="8C8C8C"/>
                </a:solidFill>
                <a:latin typeface="BIZ UDPゴシック"/>
                <a:ea typeface="BIZ UDPゴシック"/>
              </a:rPr>
              <a:t> / 26</a:t>
            </a:r>
          </a:p>
        </p:txBody>
      </p:sp>
      <p:sp>
        <p:nvSpPr>
          <p:cNvPr id="3" name="下端の線"/>
          <p:cNvSpPr/>
          <p:nvPr/>
        </p:nvSpPr>
        <p:spPr>
          <a:xfrm>
            <a:off x="0" y="6803136"/>
            <a:ext cx="12192000" cy="54864"/>
          </a:xfrm>
          <a:prstGeom prst="rect">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5029200" cy="2194560"/>
          </a:xfrm>
          <a:prstGeom prst="rect">
            <a:avLst/>
          </a:prstGeom>
          <a:noFill/>
        </p:spPr>
        <p:txBody>
          <a:bodyPr wrap="square" anchor="b" lIns="0" rIns="0" tIns="0" bIns="0">
            <a:spAutoFit/>
          </a:bodyPr>
          <a:lstStyle/>
          <a:p>
            <a:pPr algn="l">
              <a:lnSpc>
                <a:spcPct val="90000"/>
              </a:lnSpc>
            </a:pPr>
            <a:r>
              <a:rPr sz="15000" b="1">
                <a:solidFill>
                  <a:srgbClr val="DCEAF7"/>
                </a:solidFill>
                <a:latin typeface="BIZ UDPゴシック"/>
                <a:ea typeface="BIZ UDPゴシック"/>
              </a:rPr>
              <a:t>05</a:t>
            </a:r>
          </a:p>
        </p:txBody>
      </p:sp>
      <p:sp>
        <p:nvSpPr>
          <p:cNvPr id="5" name="TextBox 4"/>
          <p:cNvSpPr txBox="1"/>
          <p:nvPr/>
        </p:nvSpPr>
        <p:spPr>
          <a:xfrm>
            <a:off x="685800" y="3429000"/>
            <a:ext cx="5669280" cy="1280160"/>
          </a:xfrm>
          <a:prstGeom prst="rect">
            <a:avLst/>
          </a:prstGeom>
          <a:noFill/>
        </p:spPr>
        <p:txBody>
          <a:bodyPr wrap="square" anchor="t" lIns="0" rIns="0" tIns="0" bIns="0">
            <a:spAutoFit/>
          </a:bodyPr>
          <a:lstStyle/>
          <a:p>
            <a:pPr algn="l">
              <a:lnSpc>
                <a:spcPct val="120000"/>
              </a:lnSpc>
            </a:pPr>
            <a:r>
              <a:rPr sz="3600" b="1">
                <a:solidFill>
                  <a:srgbClr val="1F3A5F"/>
                </a:solidFill>
                <a:latin typeface="BIZ UDPゴシック"/>
                <a:ea typeface="BIZ UDPゴシック"/>
              </a:rPr>
              <a:t>進捗</a:t>
            </a:r>
          </a:p>
        </p:txBody>
      </p:sp>
      <p:sp>
        <p:nvSpPr>
          <p:cNvPr id="6" name="Rectangle 5"/>
          <p:cNvSpPr/>
          <p:nvPr/>
        </p:nvSpPr>
        <p:spPr>
          <a:xfrm>
            <a:off x="6720840" y="1463040"/>
            <a:ext cx="12700" cy="3657600"/>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86600" y="1737360"/>
            <a:ext cx="4572000" cy="3291840"/>
          </a:xfrm>
          <a:prstGeom prst="rect">
            <a:avLst/>
          </a:prstGeom>
          <a:noFill/>
        </p:spPr>
        <p:txBody>
          <a:bodyPr wrap="square" anchor="t" lIns="0" rIns="0" tIns="0" bIns="0">
            <a:spAutoFit/>
          </a:bodyPr>
          <a:lstStyle/>
          <a:p>
            <a:pPr algn="l">
              <a:lnSpc>
                <a:spcPct val="100000"/>
              </a:lnSpc>
              <a:spcAft>
                <a:spcPts val="1800"/>
              </a:spcAft>
            </a:pPr>
            <a:r>
              <a:rPr sz="2000" b="1">
                <a:solidFill>
                  <a:srgbClr val="D9DEE6"/>
                </a:solidFill>
                <a:latin typeface="BIZ UDPゴシック"/>
                <a:ea typeface="BIZ UDPゴシック"/>
              </a:rPr>
              <a:t>01</a:t>
            </a:r>
            <a:r>
              <a:rPr sz="2000" b="0">
                <a:solidFill>
                  <a:srgbClr val="8C8C8C"/>
                </a:solidFill>
                <a:latin typeface="BIZ UDPゴシック"/>
                <a:ea typeface="BIZ UDPゴシック"/>
              </a:rPr>
              <a:t>　研究背景</a:t>
            </a:r>
          </a:p>
          <a:p>
            <a:pPr algn="l">
              <a:lnSpc>
                <a:spcPct val="100000"/>
              </a:lnSpc>
              <a:spcAft>
                <a:spcPts val="1800"/>
              </a:spcAft>
            </a:pPr>
            <a:r>
              <a:rPr sz="2000" b="1">
                <a:solidFill>
                  <a:srgbClr val="D9DEE6"/>
                </a:solidFill>
                <a:latin typeface="BIZ UDPゴシック"/>
                <a:ea typeface="BIZ UDPゴシック"/>
              </a:rPr>
              <a:t>02</a:t>
            </a:r>
            <a:r>
              <a:rPr sz="2000" b="0">
                <a:solidFill>
                  <a:srgbClr val="8C8C8C"/>
                </a:solidFill>
                <a:latin typeface="BIZ UDPゴシック"/>
                <a:ea typeface="BIZ UDPゴシック"/>
              </a:rPr>
              <a:t>　関連研究</a:t>
            </a:r>
          </a:p>
          <a:p>
            <a:pPr algn="l">
              <a:lnSpc>
                <a:spcPct val="100000"/>
              </a:lnSpc>
              <a:spcAft>
                <a:spcPts val="1800"/>
              </a:spcAft>
            </a:pPr>
            <a:r>
              <a:rPr sz="2000" b="1">
                <a:solidFill>
                  <a:srgbClr val="D9DEE6"/>
                </a:solidFill>
                <a:latin typeface="BIZ UDPゴシック"/>
                <a:ea typeface="BIZ UDPゴシック"/>
              </a:rPr>
              <a:t>03</a:t>
            </a:r>
            <a:r>
              <a:rPr sz="2000" b="0">
                <a:solidFill>
                  <a:srgbClr val="8C8C8C"/>
                </a:solidFill>
                <a:latin typeface="BIZ UDPゴシック"/>
                <a:ea typeface="BIZ UDPゴシック"/>
              </a:rPr>
              <a:t>　研究目的</a:t>
            </a:r>
          </a:p>
          <a:p>
            <a:pPr algn="l">
              <a:lnSpc>
                <a:spcPct val="100000"/>
              </a:lnSpc>
              <a:spcAft>
                <a:spcPts val="1800"/>
              </a:spcAft>
            </a:pPr>
            <a:r>
              <a:rPr sz="2000" b="1">
                <a:solidFill>
                  <a:srgbClr val="D9DEE6"/>
                </a:solidFill>
                <a:latin typeface="BIZ UDPゴシック"/>
                <a:ea typeface="BIZ UDPゴシック"/>
              </a:rPr>
              <a:t>04</a:t>
            </a:r>
            <a:r>
              <a:rPr sz="2000" b="0">
                <a:solidFill>
                  <a:srgbClr val="8C8C8C"/>
                </a:solidFill>
                <a:latin typeface="BIZ UDPゴシック"/>
                <a:ea typeface="BIZ UDPゴシック"/>
              </a:rPr>
              <a:t>　提案手法</a:t>
            </a:r>
          </a:p>
          <a:p>
            <a:pPr algn="l">
              <a:lnSpc>
                <a:spcPct val="100000"/>
              </a:lnSpc>
              <a:spcAft>
                <a:spcPts val="1800"/>
              </a:spcAft>
            </a:pPr>
            <a:r>
              <a:rPr sz="2000" b="1">
                <a:solidFill>
                  <a:srgbClr val="4E95D9"/>
                </a:solidFill>
                <a:latin typeface="BIZ UDPゴシック"/>
                <a:ea typeface="BIZ UDPゴシック"/>
              </a:rPr>
              <a:t>05</a:t>
            </a:r>
            <a:r>
              <a:rPr sz="2000" b="1">
                <a:solidFill>
                  <a:srgbClr val="1F3A5F"/>
                </a:solidFill>
                <a:latin typeface="BIZ UDPゴシック"/>
                <a:ea typeface="BIZ UDPゴシック"/>
              </a:rPr>
              <a:t>　進捗</a:t>
            </a:r>
          </a:p>
          <a:p>
            <a:pPr algn="l">
              <a:lnSpc>
                <a:spcPct val="100000"/>
              </a:lnSpc>
              <a:spcAft>
                <a:spcPts val="1800"/>
              </a:spcAft>
            </a:pPr>
            <a:r>
              <a:rPr sz="2000" b="1">
                <a:solidFill>
                  <a:srgbClr val="D9DEE6"/>
                </a:solidFill>
                <a:latin typeface="BIZ UDPゴシック"/>
                <a:ea typeface="BIZ UDPゴシック"/>
              </a:rPr>
              <a:t>06</a:t>
            </a:r>
            <a:r>
              <a:rPr sz="2000" b="0">
                <a:solidFill>
                  <a:srgbClr val="8C8C8C"/>
                </a:solidFill>
                <a:latin typeface="BIZ UDPゴシック"/>
                <a:ea typeface="BIZ UDPゴシック"/>
              </a:rPr>
              <a:t>　今後の計画</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11512" y="6400800"/>
            <a:ext cx="1828800" cy="228600"/>
          </a:xfrm>
          <a:prstGeom prst="rect">
            <a:avLst/>
          </a:prstGeom>
          <a:noFill/>
        </p:spPr>
        <p:txBody>
          <a:bodyPr wrap="square" anchor="ctr" lIns="0" rIns="0" tIns="0" bIns="0">
            <a:spAutoFit/>
          </a:bodyPr>
          <a:lstStyle/>
          <a:p>
            <a:pPr algn="r">
              <a:lnSpc>
                <a:spcPct val="120000"/>
              </a:lnSpc>
            </a:pPr>
            <a:r>
              <a:rPr sz="1200" b="1">
                <a:solidFill>
                  <a:srgbClr val="4E95D9"/>
                </a:solidFill>
                <a:latin typeface="BIZ UDPゴシック"/>
                <a:ea typeface="BIZ UDPゴシック"/>
              </a:rPr>
              <a:t>17</a:t>
            </a:r>
            <a:r>
              <a:rPr sz="1200" b="0">
                <a:solidFill>
                  <a:srgbClr val="8C8C8C"/>
                </a:solidFill>
                <a:latin typeface="BIZ UDPゴシック"/>
                <a:ea typeface="BIZ UDPゴシック"/>
              </a:rPr>
              <a:t> / 26</a:t>
            </a:r>
          </a:p>
        </p:txBody>
      </p:sp>
      <p:sp>
        <p:nvSpPr>
          <p:cNvPr id="3" name="下端の線"/>
          <p:cNvSpPr/>
          <p:nvPr/>
        </p:nvSpPr>
        <p:spPr>
          <a:xfrm>
            <a:off x="0" y="6803136"/>
            <a:ext cx="12192000" cy="54864"/>
          </a:xfrm>
          <a:prstGeom prst="rect">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の札"/>
          <p:cNvSpPr/>
          <p:nvPr/>
        </p:nvSpPr>
        <p:spPr>
          <a:xfrm>
            <a:off x="548640" y="292608"/>
            <a:ext cx="1287780" cy="274320"/>
          </a:xfrm>
          <a:prstGeom prst="roundRect">
            <a:avLst>
              <a:gd name="adj" fmla="val 50000"/>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BIZ UDPゴシック"/>
                <a:ea typeface="BIZ UDPゴシック"/>
              </a:rPr>
              <a:t>05  進捗</a:t>
            </a:r>
          </a:p>
        </p:txBody>
      </p:sp>
      <p:sp>
        <p:nvSpPr>
          <p:cNvPr id="5" name="TextBox 4"/>
          <p:cNvSpPr txBox="1"/>
          <p:nvPr/>
        </p:nvSpPr>
        <p:spPr>
          <a:xfrm>
            <a:off x="548640" y="621792"/>
            <a:ext cx="11064240" cy="548640"/>
          </a:xfrm>
          <a:prstGeom prst="rect">
            <a:avLst/>
          </a:prstGeom>
          <a:noFill/>
        </p:spPr>
        <p:txBody>
          <a:bodyPr wrap="square" anchor="ctr" lIns="0" rIns="0" tIns="0" bIns="0">
            <a:spAutoFit/>
          </a:bodyPr>
          <a:lstStyle/>
          <a:p>
            <a:pPr algn="l">
              <a:lnSpc>
                <a:spcPct val="100000"/>
              </a:lnSpc>
            </a:pPr>
            <a:r>
              <a:rPr sz="3000" b="1">
                <a:solidFill>
                  <a:srgbClr val="1F3A5F"/>
                </a:solidFill>
                <a:latin typeface="BIZ UDPゴシック"/>
                <a:ea typeface="BIZ UDPゴシック"/>
              </a:rPr>
              <a:t>進捗の全体像</a:t>
            </a:r>
          </a:p>
        </p:txBody>
      </p:sp>
      <p:sp>
        <p:nvSpPr>
          <p:cNvPr id="6" name="区切り線"/>
          <p:cNvSpPr/>
          <p:nvPr/>
        </p:nvSpPr>
        <p:spPr>
          <a:xfrm>
            <a:off x="548640" y="1225296"/>
            <a:ext cx="11091672" cy="12700"/>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914400" y="1554480"/>
          <a:ext cx="10360153" cy="2743200"/>
        </p:xfrm>
        <a:graphic>
          <a:graphicData uri="http://schemas.openxmlformats.org/drawingml/2006/table">
            <a:tbl>
              <a:tblPr firstRow="0" bandRow="0">
                <a:tableStyleId>{2D5ABB26-0587-4C30-8999-92F81FD0307C}</a:tableStyleId>
              </a:tblPr>
              <a:tblGrid>
                <a:gridCol w="2560320"/>
                <a:gridCol w="4937760"/>
                <a:gridCol w="2862073"/>
              </a:tblGrid>
              <a:tr h="548640">
                <a:tc>
                  <a:txBody>
                    <a:bodyPr/>
                    <a:lstStyle/>
                    <a:p>
                      <a:pPr algn="ctr"/>
                      <a:r>
                        <a:rPr sz="1600" b="1">
                          <a:solidFill>
                            <a:srgbClr val="FFFFFF"/>
                          </a:solidFill>
                          <a:latin typeface="BIZ UDPゴシック"/>
                          <a:ea typeface="BIZ UDPゴシック"/>
                        </a:rPr>
                        <a:t>項目</a:t>
                      </a:r>
                    </a:p>
                  </a:txBody>
                  <a:tcPr marL="91440" marR="91440" anchor="ctr">
                    <a:lnL w="0">
                      <a:noFill/>
                    </a:lnL>
                    <a:lnR w="0">
                      <a:noFill/>
                    </a:lnR>
                    <a:lnT w="0">
                      <a:noFill/>
                    </a:lnT>
                    <a:lnB w="9525">
                      <a:solidFill>
                        <a:srgbClr val="D9DEE6"/>
                      </a:solidFill>
                    </a:lnB>
                    <a:solidFill>
                      <a:srgbClr val="1F3A5F"/>
                    </a:solidFill>
                  </a:tcPr>
                </a:tc>
                <a:tc>
                  <a:txBody>
                    <a:bodyPr/>
                    <a:lstStyle/>
                    <a:p>
                      <a:pPr algn="ctr"/>
                      <a:r>
                        <a:rPr sz="1600" b="1">
                          <a:solidFill>
                            <a:srgbClr val="FFFFFF"/>
                          </a:solidFill>
                          <a:latin typeface="BIZ UDPゴシック"/>
                          <a:ea typeface="BIZ UDPゴシック"/>
                        </a:rPr>
                        <a:t>内容</a:t>
                      </a:r>
                    </a:p>
                  </a:txBody>
                  <a:tcPr marL="91440" marR="91440" anchor="ctr">
                    <a:lnL w="0">
                      <a:noFill/>
                    </a:lnL>
                    <a:lnR w="0">
                      <a:noFill/>
                    </a:lnR>
                    <a:lnT w="0">
                      <a:noFill/>
                    </a:lnT>
                    <a:lnB w="9525">
                      <a:solidFill>
                        <a:srgbClr val="D9DEE6"/>
                      </a:solidFill>
                    </a:lnB>
                    <a:solidFill>
                      <a:srgbClr val="1F3A5F"/>
                    </a:solidFill>
                  </a:tcPr>
                </a:tc>
                <a:tc>
                  <a:txBody>
                    <a:bodyPr/>
                    <a:lstStyle/>
                    <a:p>
                      <a:pPr algn="ctr"/>
                      <a:r>
                        <a:rPr sz="1600" b="1">
                          <a:solidFill>
                            <a:srgbClr val="FFFFFF"/>
                          </a:solidFill>
                          <a:latin typeface="BIZ UDPゴシック"/>
                          <a:ea typeface="BIZ UDPゴシック"/>
                        </a:rPr>
                        <a:t>状況</a:t>
                      </a:r>
                    </a:p>
                  </a:txBody>
                  <a:tcPr marL="91440" marR="91440" anchor="ctr">
                    <a:lnL w="0">
                      <a:noFill/>
                    </a:lnL>
                    <a:lnR w="0">
                      <a:noFill/>
                    </a:lnR>
                    <a:lnT w="0">
                      <a:noFill/>
                    </a:lnT>
                    <a:lnB w="9525">
                      <a:solidFill>
                        <a:srgbClr val="D9DEE6"/>
                      </a:solidFill>
                    </a:lnB>
                    <a:solidFill>
                      <a:srgbClr val="1F3A5F"/>
                    </a:solidFill>
                  </a:tcPr>
                </a:tc>
              </a:tr>
              <a:tr h="548640">
                <a:tc>
                  <a:txBody>
                    <a:bodyPr/>
                    <a:lstStyle/>
                    <a:p>
                      <a:pPr algn="ctr"/>
                      <a:r>
                        <a:rPr sz="1800" b="0">
                          <a:solidFill>
                            <a:srgbClr val="262626"/>
                          </a:solidFill>
                          <a:latin typeface="BIZ UDPゴシック"/>
                          <a:ea typeface="BIZ UDPゴシック"/>
                        </a:rPr>
                        <a:t>月面環境</a:t>
                      </a:r>
                    </a:p>
                  </a:txBody>
                  <a:tcPr marL="91440" marR="91440" anchor="ctr">
                    <a:lnL w="0">
                      <a:noFill/>
                    </a:lnL>
                    <a:lnR w="0">
                      <a:noFill/>
                    </a:lnR>
                    <a:lnT w="0">
                      <a:noFill/>
                    </a:lnT>
                    <a:lnB w="9525">
                      <a:solidFill>
                        <a:srgbClr val="D9DEE6"/>
                      </a:solidFill>
                    </a:lnB>
                    <a:noFill/>
                  </a:tcPr>
                </a:tc>
                <a:tc>
                  <a:txBody>
                    <a:bodyPr/>
                    <a:lstStyle/>
                    <a:p>
                      <a:pPr algn="ctr"/>
                      <a:r>
                        <a:rPr sz="1800" b="0">
                          <a:solidFill>
                            <a:srgbClr val="262626"/>
                          </a:solidFill>
                          <a:latin typeface="BIZ UDPゴシック"/>
                          <a:ea typeface="BIZ UDPゴシック"/>
                        </a:rPr>
                        <a:t>実地形、月面重力、レゴリスの摩擦</a:t>
                      </a:r>
                    </a:p>
                  </a:txBody>
                  <a:tcPr marL="91440" marR="91440" anchor="ctr">
                    <a:lnL w="0">
                      <a:noFill/>
                    </a:lnL>
                    <a:lnR w="0">
                      <a:noFill/>
                    </a:lnR>
                    <a:lnT w="0">
                      <a:noFill/>
                    </a:lnT>
                    <a:lnB w="9525">
                      <a:solidFill>
                        <a:srgbClr val="D9DEE6"/>
                      </a:solidFill>
                    </a:lnB>
                    <a:noFill/>
                  </a:tcPr>
                </a:tc>
                <a:tc>
                  <a:txBody>
                    <a:bodyPr/>
                    <a:lstStyle/>
                    <a:p>
                      <a:pPr algn="ctr"/>
                      <a:r>
                        <a:rPr sz="1800" b="0">
                          <a:solidFill>
                            <a:srgbClr val="262626"/>
                          </a:solidFill>
                          <a:latin typeface="BIZ UDPゴシック"/>
                          <a:ea typeface="BIZ UDPゴシック"/>
                        </a:rPr>
                        <a:t>前回までに完了</a:t>
                      </a:r>
                    </a:p>
                  </a:txBody>
                  <a:tcPr marL="91440" marR="91440" anchor="ctr">
                    <a:lnL w="0">
                      <a:noFill/>
                    </a:lnL>
                    <a:lnR w="0">
                      <a:noFill/>
                    </a:lnR>
                    <a:lnT w="0">
                      <a:noFill/>
                    </a:lnT>
                    <a:lnB w="9525">
                      <a:solidFill>
                        <a:srgbClr val="D9DEE6"/>
                      </a:solidFill>
                    </a:lnB>
                    <a:noFill/>
                  </a:tcPr>
                </a:tc>
              </a:tr>
              <a:tr h="548640">
                <a:tc>
                  <a:txBody>
                    <a:bodyPr/>
                    <a:lstStyle/>
                    <a:p>
                      <a:pPr algn="ctr"/>
                      <a:r>
                        <a:rPr sz="1800" b="0">
                          <a:solidFill>
                            <a:srgbClr val="262626"/>
                          </a:solidFill>
                          <a:latin typeface="BIZ UDPゴシック"/>
                          <a:ea typeface="BIZ UDPゴシック"/>
                        </a:rPr>
                        <a:t>車両とスリップ比</a:t>
                      </a:r>
                    </a:p>
                  </a:txBody>
                  <a:tcPr marL="91440" marR="91440" anchor="ctr">
                    <a:lnL w="0">
                      <a:noFill/>
                    </a:lnL>
                    <a:lnR w="0">
                      <a:noFill/>
                    </a:lnR>
                    <a:lnT w="0">
                      <a:noFill/>
                    </a:lnT>
                    <a:lnB w="9525">
                      <a:solidFill>
                        <a:srgbClr val="D9DEE6"/>
                      </a:solidFill>
                    </a:lnB>
                    <a:noFill/>
                  </a:tcPr>
                </a:tc>
                <a:tc>
                  <a:txBody>
                    <a:bodyPr/>
                    <a:lstStyle/>
                    <a:p>
                      <a:pPr algn="ctr"/>
                      <a:r>
                        <a:rPr sz="1800" b="0">
                          <a:solidFill>
                            <a:srgbClr val="262626"/>
                          </a:solidFill>
                          <a:latin typeface="BIZ UDPゴシック"/>
                          <a:ea typeface="BIZ UDPゴシック"/>
                        </a:rPr>
                        <a:t>車両の走行、各輪のスリップ比の計算</a:t>
                      </a:r>
                    </a:p>
                  </a:txBody>
                  <a:tcPr marL="91440" marR="91440" anchor="ctr">
                    <a:lnL w="0">
                      <a:noFill/>
                    </a:lnL>
                    <a:lnR w="0">
                      <a:noFill/>
                    </a:lnR>
                    <a:lnT w="0">
                      <a:noFill/>
                    </a:lnT>
                    <a:lnB w="9525">
                      <a:solidFill>
                        <a:srgbClr val="D9DEE6"/>
                      </a:solidFill>
                    </a:lnB>
                    <a:noFill/>
                  </a:tcPr>
                </a:tc>
                <a:tc>
                  <a:txBody>
                    <a:bodyPr/>
                    <a:lstStyle/>
                    <a:p>
                      <a:pPr algn="ctr"/>
                      <a:r>
                        <a:rPr sz="1800" b="0">
                          <a:solidFill>
                            <a:srgbClr val="262626"/>
                          </a:solidFill>
                          <a:latin typeface="BIZ UDPゴシック"/>
                          <a:ea typeface="BIZ UDPゴシック"/>
                        </a:rPr>
                        <a:t>前回までに完了</a:t>
                      </a:r>
                    </a:p>
                  </a:txBody>
                  <a:tcPr marL="91440" marR="91440" anchor="ctr">
                    <a:lnL w="0">
                      <a:noFill/>
                    </a:lnL>
                    <a:lnR w="0">
                      <a:noFill/>
                    </a:lnR>
                    <a:lnT w="0">
                      <a:noFill/>
                    </a:lnT>
                    <a:lnB w="9525">
                      <a:solidFill>
                        <a:srgbClr val="D9DEE6"/>
                      </a:solidFill>
                    </a:lnB>
                    <a:noFill/>
                  </a:tcPr>
                </a:tc>
              </a:tr>
              <a:tr h="548640">
                <a:tc>
                  <a:txBody>
                    <a:bodyPr/>
                    <a:lstStyle/>
                    <a:p>
                      <a:pPr algn="ctr"/>
                      <a:r>
                        <a:rPr sz="1800" b="1">
                          <a:solidFill>
                            <a:srgbClr val="215F9A"/>
                          </a:solidFill>
                          <a:latin typeface="BIZ UDPゴシック"/>
                          <a:ea typeface="BIZ UDPゴシック"/>
                        </a:rPr>
                        <a:t>MPM</a:t>
                      </a:r>
                    </a:p>
                  </a:txBody>
                  <a:tcPr marL="91440" marR="91440" anchor="ctr">
                    <a:lnL w="0">
                      <a:noFill/>
                    </a:lnL>
                    <a:lnR w="0">
                      <a:noFill/>
                    </a:lnR>
                    <a:lnT w="0">
                      <a:noFill/>
                    </a:lnT>
                    <a:lnB w="9525">
                      <a:solidFill>
                        <a:srgbClr val="D9DEE6"/>
                      </a:solidFill>
                    </a:lnB>
                    <a:noFill/>
                  </a:tcPr>
                </a:tc>
                <a:tc>
                  <a:txBody>
                    <a:bodyPr/>
                    <a:lstStyle/>
                    <a:p>
                      <a:pPr algn="ctr"/>
                      <a:r>
                        <a:rPr sz="1800" b="1">
                          <a:solidFill>
                            <a:srgbClr val="215F9A"/>
                          </a:solidFill>
                          <a:latin typeface="BIZ UDPゴシック"/>
                          <a:ea typeface="BIZ UDPゴシック"/>
                        </a:rPr>
                        <a:t>Niagara 上での粒子計算</a:t>
                      </a:r>
                    </a:p>
                  </a:txBody>
                  <a:tcPr marL="91440" marR="91440" anchor="ctr">
                    <a:lnL w="0">
                      <a:noFill/>
                    </a:lnL>
                    <a:lnR w="0">
                      <a:noFill/>
                    </a:lnR>
                    <a:lnT w="0">
                      <a:noFill/>
                    </a:lnT>
                    <a:lnB w="9525">
                      <a:solidFill>
                        <a:srgbClr val="D9DEE6"/>
                      </a:solidFill>
                    </a:lnB>
                    <a:noFill/>
                  </a:tcPr>
                </a:tc>
                <a:tc>
                  <a:txBody>
                    <a:bodyPr/>
                    <a:lstStyle/>
                    <a:p>
                      <a:pPr algn="ctr"/>
                      <a:r>
                        <a:rPr sz="1800" b="1">
                          <a:solidFill>
                            <a:srgbClr val="215F9A"/>
                          </a:solidFill>
                          <a:latin typeface="BIZ UDPゴシック"/>
                          <a:ea typeface="BIZ UDPゴシック"/>
                        </a:rPr>
                        <a:t>今回：変形勾配まで</a:t>
                      </a:r>
                    </a:p>
                  </a:txBody>
                  <a:tcPr marL="91440" marR="91440" anchor="ctr">
                    <a:lnL w="0">
                      <a:noFill/>
                    </a:lnL>
                    <a:lnR w="0">
                      <a:noFill/>
                    </a:lnR>
                    <a:lnT w="0">
                      <a:noFill/>
                    </a:lnT>
                    <a:lnB w="9525">
                      <a:solidFill>
                        <a:srgbClr val="D9DEE6"/>
                      </a:solidFill>
                    </a:lnB>
                    <a:noFill/>
                  </a:tcPr>
                </a:tc>
              </a:tr>
              <a:tr h="548640">
                <a:tc>
                  <a:txBody>
                    <a:bodyPr/>
                    <a:lstStyle/>
                    <a:p>
                      <a:pPr algn="ctr"/>
                      <a:r>
                        <a:rPr sz="1800" b="0">
                          <a:solidFill>
                            <a:srgbClr val="262626"/>
                          </a:solidFill>
                          <a:latin typeface="BIZ UDPゴシック"/>
                          <a:ea typeface="BIZ UDPゴシック"/>
                        </a:rPr>
                        <a:t>テラメカニクス補正</a:t>
                      </a:r>
                    </a:p>
                  </a:txBody>
                  <a:tcPr marL="91440" marR="91440" anchor="ctr">
                    <a:lnL w="0">
                      <a:noFill/>
                    </a:lnL>
                    <a:lnR w="0">
                      <a:noFill/>
                    </a:lnR>
                    <a:lnT w="0">
                      <a:noFill/>
                    </a:lnT>
                    <a:lnB w="9525">
                      <a:solidFill>
                        <a:srgbClr val="D9DEE6"/>
                      </a:solidFill>
                    </a:lnB>
                    <a:noFill/>
                  </a:tcPr>
                </a:tc>
                <a:tc>
                  <a:txBody>
                    <a:bodyPr/>
                    <a:lstStyle/>
                    <a:p>
                      <a:pPr algn="ctr"/>
                      <a:r>
                        <a:rPr sz="1800" b="0">
                          <a:solidFill>
                            <a:srgbClr val="262626"/>
                          </a:solidFill>
                          <a:latin typeface="BIZ UDPゴシック"/>
                          <a:ea typeface="BIZ UDPゴシック"/>
                        </a:rPr>
                        <a:t>スリップ比から沈下量と駆動力</a:t>
                      </a:r>
                    </a:p>
                  </a:txBody>
                  <a:tcPr marL="91440" marR="91440" anchor="ctr">
                    <a:lnL w="0">
                      <a:noFill/>
                    </a:lnL>
                    <a:lnR w="0">
                      <a:noFill/>
                    </a:lnR>
                    <a:lnT w="0">
                      <a:noFill/>
                    </a:lnT>
                    <a:lnB w="9525">
                      <a:solidFill>
                        <a:srgbClr val="D9DEE6"/>
                      </a:solidFill>
                    </a:lnB>
                    <a:noFill/>
                  </a:tcPr>
                </a:tc>
                <a:tc>
                  <a:txBody>
                    <a:bodyPr/>
                    <a:lstStyle/>
                    <a:p>
                      <a:pPr algn="ctr"/>
                      <a:r>
                        <a:rPr sz="1800" b="0">
                          <a:solidFill>
                            <a:srgbClr val="262626"/>
                          </a:solidFill>
                          <a:latin typeface="BIZ UDPゴシック"/>
                          <a:ea typeface="BIZ UDPゴシック"/>
                        </a:rPr>
                        <a:t>未着手</a:t>
                      </a:r>
                    </a:p>
                  </a:txBody>
                  <a:tcPr marL="91440" marR="91440" anchor="ctr">
                    <a:lnL w="0">
                      <a:noFill/>
                    </a:lnL>
                    <a:lnR w="0">
                      <a:noFill/>
                    </a:lnR>
                    <a:lnT w="0">
                      <a:noFill/>
                    </a:lnT>
                    <a:lnB w="9525">
                      <a:solidFill>
                        <a:srgbClr val="D9DEE6"/>
                      </a:solidFill>
                    </a:lnB>
                    <a:noFill/>
                  </a:tcPr>
                </a:tc>
              </a:tr>
            </a:tbl>
          </a:graphicData>
        </a:graphic>
      </p:graphicFrame>
      <p:sp>
        <p:nvSpPr>
          <p:cNvPr id="8" name="結論の面"/>
          <p:cNvSpPr/>
          <p:nvPr/>
        </p:nvSpPr>
        <p:spPr>
          <a:xfrm>
            <a:off x="2743200" y="4709160"/>
            <a:ext cx="6702552" cy="749808"/>
          </a:xfrm>
          <a:prstGeom prst="roundRect">
            <a:avLst>
              <a:gd name="adj" fmla="val 18000"/>
            </a:avLst>
          </a:prstGeom>
          <a:solidFill>
            <a:srgbClr val="DCE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17520" y="4709160"/>
            <a:ext cx="6153912" cy="749808"/>
          </a:xfrm>
          <a:prstGeom prst="rect">
            <a:avLst/>
          </a:prstGeom>
          <a:noFill/>
        </p:spPr>
        <p:txBody>
          <a:bodyPr wrap="square" anchor="ctr" lIns="0" rIns="0" tIns="0" bIns="0">
            <a:spAutoFit/>
          </a:bodyPr>
          <a:lstStyle/>
          <a:p>
            <a:pPr algn="ctr">
              <a:lnSpc>
                <a:spcPct val="120000"/>
              </a:lnSpc>
            </a:pPr>
            <a:r>
              <a:rPr sz="2400" b="1">
                <a:solidFill>
                  <a:srgbClr val="1F3A5F"/>
                </a:solidFill>
                <a:latin typeface="BIZ UDPゴシック"/>
                <a:ea typeface="BIZ UDPゴシック"/>
              </a:rPr>
              <a:t>今回は </a:t>
            </a:r>
            <a:r>
              <a:rPr sz="2400" b="1" u="heavy">
                <a:solidFill>
                  <a:srgbClr val="215F9A"/>
                </a:solidFill>
                <a:uFill>
                  <a:solidFill>
                    <a:srgbClr val="FFC000"/>
                  </a:solidFill>
                </a:uFill>
                <a:latin typeface="BIZ UDPゴシック"/>
                <a:ea typeface="BIZ UDPゴシック"/>
              </a:rPr>
              <a:t>MPM の実装と検証</a:t>
            </a:r>
            <a:r>
              <a:rPr sz="2400" b="1">
                <a:solidFill>
                  <a:srgbClr val="1F3A5F"/>
                </a:solidFill>
                <a:latin typeface="BIZ UDPゴシック"/>
                <a:ea typeface="BIZ UDPゴシック"/>
              </a:rPr>
              <a:t> を進めた</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11512" y="6400800"/>
            <a:ext cx="1828800" cy="228600"/>
          </a:xfrm>
          <a:prstGeom prst="rect">
            <a:avLst/>
          </a:prstGeom>
          <a:noFill/>
        </p:spPr>
        <p:txBody>
          <a:bodyPr wrap="square" anchor="ctr" lIns="0" rIns="0" tIns="0" bIns="0">
            <a:spAutoFit/>
          </a:bodyPr>
          <a:lstStyle/>
          <a:p>
            <a:pPr algn="r">
              <a:lnSpc>
                <a:spcPct val="120000"/>
              </a:lnSpc>
            </a:pPr>
            <a:r>
              <a:rPr sz="1200" b="1">
                <a:solidFill>
                  <a:srgbClr val="4E95D9"/>
                </a:solidFill>
                <a:latin typeface="BIZ UDPゴシック"/>
                <a:ea typeface="BIZ UDPゴシック"/>
              </a:rPr>
              <a:t>18</a:t>
            </a:r>
            <a:r>
              <a:rPr sz="1200" b="0">
                <a:solidFill>
                  <a:srgbClr val="8C8C8C"/>
                </a:solidFill>
                <a:latin typeface="BIZ UDPゴシック"/>
                <a:ea typeface="BIZ UDPゴシック"/>
              </a:rPr>
              <a:t> / 26</a:t>
            </a:r>
          </a:p>
        </p:txBody>
      </p:sp>
      <p:sp>
        <p:nvSpPr>
          <p:cNvPr id="3" name="下端の線"/>
          <p:cNvSpPr/>
          <p:nvPr/>
        </p:nvSpPr>
        <p:spPr>
          <a:xfrm>
            <a:off x="0" y="6803136"/>
            <a:ext cx="12192000" cy="54864"/>
          </a:xfrm>
          <a:prstGeom prst="rect">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の札"/>
          <p:cNvSpPr/>
          <p:nvPr/>
        </p:nvSpPr>
        <p:spPr>
          <a:xfrm>
            <a:off x="548640" y="292608"/>
            <a:ext cx="1287780" cy="274320"/>
          </a:xfrm>
          <a:prstGeom prst="roundRect">
            <a:avLst>
              <a:gd name="adj" fmla="val 50000"/>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BIZ UDPゴシック"/>
                <a:ea typeface="BIZ UDPゴシック"/>
              </a:rPr>
              <a:t>05  進捗</a:t>
            </a:r>
          </a:p>
        </p:txBody>
      </p:sp>
      <p:sp>
        <p:nvSpPr>
          <p:cNvPr id="5" name="TextBox 4"/>
          <p:cNvSpPr txBox="1"/>
          <p:nvPr/>
        </p:nvSpPr>
        <p:spPr>
          <a:xfrm>
            <a:off x="548640" y="621792"/>
            <a:ext cx="11064240" cy="548640"/>
          </a:xfrm>
          <a:prstGeom prst="rect">
            <a:avLst/>
          </a:prstGeom>
          <a:noFill/>
        </p:spPr>
        <p:txBody>
          <a:bodyPr wrap="square" anchor="ctr" lIns="0" rIns="0" tIns="0" bIns="0">
            <a:spAutoFit/>
          </a:bodyPr>
          <a:lstStyle/>
          <a:p>
            <a:pPr algn="l">
              <a:lnSpc>
                <a:spcPct val="100000"/>
              </a:lnSpc>
            </a:pPr>
            <a:r>
              <a:rPr sz="3000" b="1">
                <a:solidFill>
                  <a:srgbClr val="1F3A5F"/>
                </a:solidFill>
                <a:latin typeface="BIZ UDPゴシック"/>
                <a:ea typeface="BIZ UDPゴシック"/>
              </a:rPr>
              <a:t>前回までの進捗：UE5 上の走行環境</a:t>
            </a:r>
          </a:p>
        </p:txBody>
      </p:sp>
      <p:sp>
        <p:nvSpPr>
          <p:cNvPr id="6" name="区切り線"/>
          <p:cNvSpPr/>
          <p:nvPr/>
        </p:nvSpPr>
        <p:spPr>
          <a:xfrm>
            <a:off x="548640" y="1225296"/>
            <a:ext cx="11091672" cy="12700"/>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e_progress_0728.png"/>
          <p:cNvPicPr>
            <a:picLocks noChangeAspect="1"/>
          </p:cNvPicPr>
          <p:nvPr/>
        </p:nvPicPr>
        <p:blipFill>
          <a:blip r:embed="rId3"/>
          <a:stretch>
            <a:fillRect/>
          </a:stretch>
        </p:blipFill>
        <p:spPr>
          <a:xfrm>
            <a:off x="548640" y="1466469"/>
            <a:ext cx="6035040" cy="3394710"/>
          </a:xfrm>
          <a:prstGeom prst="roundRect">
            <a:avLst>
              <a:gd name="adj" fmla="val 4000"/>
            </a:avLst>
          </a:prstGeom>
        </p:spPr>
      </p:pic>
      <p:sp>
        <p:nvSpPr>
          <p:cNvPr id="8" name="TextBox 7"/>
          <p:cNvSpPr txBox="1"/>
          <p:nvPr/>
        </p:nvSpPr>
        <p:spPr>
          <a:xfrm>
            <a:off x="548640" y="4934331"/>
            <a:ext cx="6035040" cy="320040"/>
          </a:xfrm>
          <a:prstGeom prst="rect">
            <a:avLst/>
          </a:prstGeom>
          <a:noFill/>
        </p:spPr>
        <p:txBody>
          <a:bodyPr wrap="square" anchor="t" lIns="0" rIns="0" tIns="0" bIns="0">
            <a:spAutoFit/>
          </a:bodyPr>
          <a:lstStyle/>
          <a:p>
            <a:pPr algn="ctr">
              <a:lnSpc>
                <a:spcPct val="120000"/>
              </a:lnSpc>
            </a:pPr>
            <a:r>
              <a:rPr sz="1600" b="0">
                <a:solidFill>
                  <a:srgbClr val="8C8C8C"/>
                </a:solidFill>
                <a:latin typeface="BIZ UDPゴシック"/>
                <a:ea typeface="BIZ UDPゴシック"/>
              </a:rPr>
              <a:t>UE5 上の走行の様子（7/28 時点）</a:t>
            </a:r>
          </a:p>
        </p:txBody>
      </p:sp>
      <p:sp>
        <p:nvSpPr>
          <p:cNvPr id="9" name="行頭の点"/>
          <p:cNvSpPr/>
          <p:nvPr/>
        </p:nvSpPr>
        <p:spPr>
          <a:xfrm>
            <a:off x="6949440" y="1784350"/>
            <a:ext cx="91440" cy="91440"/>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65340" y="1645920"/>
            <a:ext cx="4474972" cy="736600"/>
          </a:xfrm>
          <a:prstGeom prst="rect">
            <a:avLst/>
          </a:prstGeom>
          <a:noFill/>
        </p:spPr>
        <p:txBody>
          <a:bodyPr wrap="square" anchor="t" lIns="0" rIns="0" tIns="0" bIns="0">
            <a:spAutoFit/>
          </a:bodyPr>
          <a:lstStyle/>
          <a:p>
            <a:pPr algn="l">
              <a:lnSpc>
                <a:spcPct val="120000"/>
              </a:lnSpc>
            </a:pPr>
            <a:r>
              <a:rPr sz="2000" b="1">
                <a:solidFill>
                  <a:srgbClr val="215F9A"/>
                </a:solidFill>
                <a:latin typeface="BIZ UDPゴシック"/>
                <a:ea typeface="BIZ UDPゴシック"/>
              </a:rPr>
              <a:t>実地形</a:t>
            </a:r>
            <a:r>
              <a:rPr sz="2000" b="0">
                <a:solidFill>
                  <a:srgbClr val="262626"/>
                </a:solidFill>
                <a:latin typeface="BIZ UDPゴシック"/>
                <a:ea typeface="BIZ UDPゴシック"/>
              </a:rPr>
              <a:t>：Apollo 15 着陸地点の DTM</a:t>
            </a:r>
          </a:p>
          <a:p>
            <a:pPr algn="l">
              <a:lnSpc>
                <a:spcPct val="120000"/>
              </a:lnSpc>
            </a:pPr>
            <a:r>
              <a:rPr sz="2000" b="0">
                <a:solidFill>
                  <a:srgbClr val="262626"/>
                </a:solidFill>
                <a:latin typeface="BIZ UDPゴシック"/>
                <a:ea typeface="BIZ UDPゴシック"/>
              </a:rPr>
              <a:t>（約 2 km 四方）</a:t>
            </a:r>
          </a:p>
        </p:txBody>
      </p:sp>
      <p:sp>
        <p:nvSpPr>
          <p:cNvPr id="11" name="行頭の点"/>
          <p:cNvSpPr/>
          <p:nvPr/>
        </p:nvSpPr>
        <p:spPr>
          <a:xfrm>
            <a:off x="6949440" y="2658110"/>
            <a:ext cx="91440" cy="91440"/>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65340" y="2519680"/>
            <a:ext cx="4474972" cy="368300"/>
          </a:xfrm>
          <a:prstGeom prst="rect">
            <a:avLst/>
          </a:prstGeom>
          <a:noFill/>
        </p:spPr>
        <p:txBody>
          <a:bodyPr wrap="square" anchor="ctr" lIns="0" rIns="0" tIns="0" bIns="0">
            <a:spAutoFit/>
          </a:bodyPr>
          <a:lstStyle/>
          <a:p>
            <a:pPr algn="l">
              <a:lnSpc>
                <a:spcPct val="120000"/>
              </a:lnSpc>
            </a:pPr>
            <a:r>
              <a:rPr sz="2000" b="1">
                <a:solidFill>
                  <a:srgbClr val="215F9A"/>
                </a:solidFill>
                <a:latin typeface="BIZ UDPゴシック"/>
                <a:ea typeface="BIZ UDPゴシック"/>
              </a:rPr>
              <a:t>月面重力</a:t>
            </a:r>
            <a:r>
              <a:rPr sz="2000" b="0">
                <a:solidFill>
                  <a:srgbClr val="262626"/>
                </a:solidFill>
                <a:latin typeface="BIZ UDPゴシック"/>
                <a:ea typeface="BIZ UDPゴシック"/>
              </a:rPr>
              <a:t>：1.62 m/s²</a:t>
            </a:r>
          </a:p>
        </p:txBody>
      </p:sp>
      <p:sp>
        <p:nvSpPr>
          <p:cNvPr id="13" name="行頭の点"/>
          <p:cNvSpPr/>
          <p:nvPr/>
        </p:nvSpPr>
        <p:spPr>
          <a:xfrm>
            <a:off x="6949440" y="3163570"/>
            <a:ext cx="91440" cy="91440"/>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65340" y="3025140"/>
            <a:ext cx="4474972" cy="368300"/>
          </a:xfrm>
          <a:prstGeom prst="rect">
            <a:avLst/>
          </a:prstGeom>
          <a:noFill/>
        </p:spPr>
        <p:txBody>
          <a:bodyPr wrap="square" anchor="ctr" lIns="0" rIns="0" tIns="0" bIns="0">
            <a:spAutoFit/>
          </a:bodyPr>
          <a:lstStyle/>
          <a:p>
            <a:pPr algn="l">
              <a:lnSpc>
                <a:spcPct val="120000"/>
              </a:lnSpc>
            </a:pPr>
            <a:r>
              <a:rPr sz="2000" b="1">
                <a:solidFill>
                  <a:srgbClr val="215F9A"/>
                </a:solidFill>
                <a:latin typeface="BIZ UDPゴシック"/>
                <a:ea typeface="BIZ UDPゴシック"/>
              </a:rPr>
              <a:t>スリップ比</a:t>
            </a:r>
            <a:r>
              <a:rPr sz="2000" b="0">
                <a:solidFill>
                  <a:srgbClr val="262626"/>
                </a:solidFill>
                <a:latin typeface="BIZ UDPゴシック"/>
                <a:ea typeface="BIZ UDPゴシック"/>
              </a:rPr>
              <a:t>：各輪で毎フレーム計算</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11512" y="6400800"/>
            <a:ext cx="1828800" cy="228600"/>
          </a:xfrm>
          <a:prstGeom prst="rect">
            <a:avLst/>
          </a:prstGeom>
          <a:noFill/>
        </p:spPr>
        <p:txBody>
          <a:bodyPr wrap="square" anchor="ctr" lIns="0" rIns="0" tIns="0" bIns="0">
            <a:spAutoFit/>
          </a:bodyPr>
          <a:lstStyle/>
          <a:p>
            <a:pPr algn="r">
              <a:lnSpc>
                <a:spcPct val="120000"/>
              </a:lnSpc>
            </a:pPr>
            <a:r>
              <a:rPr sz="1200" b="1">
                <a:solidFill>
                  <a:srgbClr val="4E95D9"/>
                </a:solidFill>
                <a:latin typeface="BIZ UDPゴシック"/>
                <a:ea typeface="BIZ UDPゴシック"/>
              </a:rPr>
              <a:t>19</a:t>
            </a:r>
            <a:r>
              <a:rPr sz="1200" b="0">
                <a:solidFill>
                  <a:srgbClr val="8C8C8C"/>
                </a:solidFill>
                <a:latin typeface="BIZ UDPゴシック"/>
                <a:ea typeface="BIZ UDPゴシック"/>
              </a:rPr>
              <a:t> / 26</a:t>
            </a:r>
          </a:p>
        </p:txBody>
      </p:sp>
      <p:sp>
        <p:nvSpPr>
          <p:cNvPr id="3" name="下端の線"/>
          <p:cNvSpPr/>
          <p:nvPr/>
        </p:nvSpPr>
        <p:spPr>
          <a:xfrm>
            <a:off x="0" y="6803136"/>
            <a:ext cx="12192000" cy="54864"/>
          </a:xfrm>
          <a:prstGeom prst="rect">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の札"/>
          <p:cNvSpPr/>
          <p:nvPr/>
        </p:nvSpPr>
        <p:spPr>
          <a:xfrm>
            <a:off x="548640" y="292608"/>
            <a:ext cx="1287780" cy="274320"/>
          </a:xfrm>
          <a:prstGeom prst="roundRect">
            <a:avLst>
              <a:gd name="adj" fmla="val 50000"/>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BIZ UDPゴシック"/>
                <a:ea typeface="BIZ UDPゴシック"/>
              </a:rPr>
              <a:t>05  進捗</a:t>
            </a:r>
          </a:p>
        </p:txBody>
      </p:sp>
      <p:sp>
        <p:nvSpPr>
          <p:cNvPr id="5" name="TextBox 4"/>
          <p:cNvSpPr txBox="1"/>
          <p:nvPr/>
        </p:nvSpPr>
        <p:spPr>
          <a:xfrm>
            <a:off x="548640" y="621792"/>
            <a:ext cx="11064240" cy="548640"/>
          </a:xfrm>
          <a:prstGeom prst="rect">
            <a:avLst/>
          </a:prstGeom>
          <a:noFill/>
        </p:spPr>
        <p:txBody>
          <a:bodyPr wrap="square" anchor="ctr" lIns="0" rIns="0" tIns="0" bIns="0">
            <a:spAutoFit/>
          </a:bodyPr>
          <a:lstStyle/>
          <a:p>
            <a:pPr algn="l">
              <a:lnSpc>
                <a:spcPct val="100000"/>
              </a:lnSpc>
            </a:pPr>
            <a:r>
              <a:rPr sz="3000" b="1">
                <a:solidFill>
                  <a:srgbClr val="1F3A5F"/>
                </a:solidFill>
                <a:latin typeface="BIZ UDPゴシック"/>
                <a:ea typeface="BIZ UDPゴシック"/>
              </a:rPr>
              <a:t>今回の進捗：MPM の実装方針</a:t>
            </a:r>
          </a:p>
        </p:txBody>
      </p:sp>
      <p:sp>
        <p:nvSpPr>
          <p:cNvPr id="6" name="区切り線"/>
          <p:cNvSpPr/>
          <p:nvPr/>
        </p:nvSpPr>
        <p:spPr>
          <a:xfrm>
            <a:off x="548640" y="1225296"/>
            <a:ext cx="11091672" cy="12700"/>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1097280" y="1463040"/>
          <a:ext cx="9994392" cy="1371600"/>
        </p:xfrm>
        <a:graphic>
          <a:graphicData uri="http://schemas.openxmlformats.org/drawingml/2006/table">
            <a:tbl>
              <a:tblPr firstRow="0" bandRow="0">
                <a:tableStyleId>{2D5ABB26-0587-4C30-8999-92F81FD0307C}</a:tableStyleId>
              </a:tblPr>
              <a:tblGrid>
                <a:gridCol w="1463040"/>
                <a:gridCol w="4206240"/>
                <a:gridCol w="4325112"/>
              </a:tblGrid>
              <a:tr h="457200">
                <a:tc>
                  <a:txBody>
                    <a:bodyPr/>
                    <a:lstStyle/>
                    <a:p>
                      <a:pPr algn="ctr"/>
                      <a:r>
                        <a:rPr sz="1600" b="1">
                          <a:solidFill>
                            <a:srgbClr val="FFFFFF"/>
                          </a:solidFill>
                          <a:latin typeface="BIZ UDPゴシック"/>
                          <a:ea typeface="BIZ UDPゴシック"/>
                        </a:rPr>
                        <a:t/>
                      </a:r>
                    </a:p>
                  </a:txBody>
                  <a:tcPr marL="91440" marR="91440" anchor="ctr">
                    <a:lnL w="0">
                      <a:noFill/>
                    </a:lnL>
                    <a:lnR w="0">
                      <a:noFill/>
                    </a:lnR>
                    <a:lnT w="0">
                      <a:noFill/>
                    </a:lnT>
                    <a:lnB w="9525">
                      <a:solidFill>
                        <a:srgbClr val="D9DEE6"/>
                      </a:solidFill>
                    </a:lnB>
                    <a:solidFill>
                      <a:srgbClr val="1F3A5F"/>
                    </a:solidFill>
                  </a:tcPr>
                </a:tc>
                <a:tc>
                  <a:txBody>
                    <a:bodyPr/>
                    <a:lstStyle/>
                    <a:p>
                      <a:pPr algn="ctr"/>
                      <a:r>
                        <a:rPr sz="1600" b="1">
                          <a:solidFill>
                            <a:srgbClr val="FFFFFF"/>
                          </a:solidFill>
                          <a:latin typeface="BIZ UDPゴシック"/>
                          <a:ea typeface="BIZ UDPゴシック"/>
                        </a:rPr>
                        <a:t>前回の方針</a:t>
                      </a:r>
                    </a:p>
                  </a:txBody>
                  <a:tcPr marL="91440" marR="91440" anchor="ctr">
                    <a:lnL w="0">
                      <a:noFill/>
                    </a:lnL>
                    <a:lnR w="0">
                      <a:noFill/>
                    </a:lnR>
                    <a:lnT w="0">
                      <a:noFill/>
                    </a:lnT>
                    <a:lnB w="9525">
                      <a:solidFill>
                        <a:srgbClr val="D9DEE6"/>
                      </a:solidFill>
                    </a:lnB>
                    <a:solidFill>
                      <a:srgbClr val="1F3A5F"/>
                    </a:solidFill>
                  </a:tcPr>
                </a:tc>
                <a:tc>
                  <a:txBody>
                    <a:bodyPr/>
                    <a:lstStyle/>
                    <a:p>
                      <a:pPr algn="ctr"/>
                      <a:r>
                        <a:rPr sz="1600" b="1">
                          <a:solidFill>
                            <a:srgbClr val="FFFFFF"/>
                          </a:solidFill>
                          <a:latin typeface="BIZ UDPゴシック"/>
                          <a:ea typeface="BIZ UDPゴシック"/>
                        </a:rPr>
                        <a:t>現在の方針</a:t>
                      </a:r>
                    </a:p>
                  </a:txBody>
                  <a:tcPr marL="91440" marR="91440" anchor="ctr">
                    <a:lnL w="0">
                      <a:noFill/>
                    </a:lnL>
                    <a:lnR w="0">
                      <a:noFill/>
                    </a:lnR>
                    <a:lnT w="0">
                      <a:noFill/>
                    </a:lnT>
                    <a:lnB w="9525">
                      <a:solidFill>
                        <a:srgbClr val="D9DEE6"/>
                      </a:solidFill>
                    </a:lnB>
                    <a:solidFill>
                      <a:srgbClr val="215F9A"/>
                    </a:solidFill>
                  </a:tcPr>
                </a:tc>
              </a:tr>
              <a:tr h="457200">
                <a:tc>
                  <a:txBody>
                    <a:bodyPr/>
                    <a:lstStyle/>
                    <a:p>
                      <a:pPr algn="ctr"/>
                      <a:r>
                        <a:rPr sz="1800" b="0">
                          <a:solidFill>
                            <a:srgbClr val="262626"/>
                          </a:solidFill>
                          <a:latin typeface="BIZ UDPゴシック"/>
                          <a:ea typeface="BIZ UDPゴシック"/>
                        </a:rPr>
                        <a:t>土台</a:t>
                      </a:r>
                    </a:p>
                  </a:txBody>
                  <a:tcPr marL="91440" marR="91440" anchor="ctr">
                    <a:lnL w="0">
                      <a:noFill/>
                    </a:lnL>
                    <a:lnR w="0">
                      <a:noFill/>
                    </a:lnR>
                    <a:lnT w="0">
                      <a:noFill/>
                    </a:lnT>
                    <a:lnB w="9525">
                      <a:solidFill>
                        <a:srgbClr val="D9DEE6"/>
                      </a:solidFill>
                    </a:lnB>
                    <a:noFill/>
                  </a:tcPr>
                </a:tc>
                <a:tc>
                  <a:txBody>
                    <a:bodyPr/>
                    <a:lstStyle/>
                    <a:p>
                      <a:pPr algn="ctr"/>
                      <a:r>
                        <a:rPr sz="1800" b="0">
                          <a:solidFill>
                            <a:srgbClr val="262626"/>
                          </a:solidFill>
                          <a:latin typeface="BIZ UDPゴシック"/>
                          <a:ea typeface="BIZ UDPゴシック"/>
                        </a:rPr>
                        <a:t>既存実装 GbLeem/Unreal_MPM</a:t>
                      </a:r>
                    </a:p>
                  </a:txBody>
                  <a:tcPr marL="91440" marR="91440" anchor="ctr">
                    <a:lnL w="0">
                      <a:noFill/>
                    </a:lnL>
                    <a:lnR w="0">
                      <a:noFill/>
                    </a:lnR>
                    <a:lnT w="0">
                      <a:noFill/>
                    </a:lnT>
                    <a:lnB w="9525">
                      <a:solidFill>
                        <a:srgbClr val="D9DEE6"/>
                      </a:solidFill>
                    </a:lnB>
                    <a:noFill/>
                  </a:tcPr>
                </a:tc>
                <a:tc>
                  <a:txBody>
                    <a:bodyPr/>
                    <a:lstStyle/>
                    <a:p>
                      <a:pPr algn="ctr"/>
                      <a:r>
                        <a:rPr sz="1800" b="1">
                          <a:solidFill>
                            <a:srgbClr val="215F9A"/>
                          </a:solidFill>
                          <a:latin typeface="BIZ UDPゴシック"/>
                          <a:ea typeface="BIZ UDPゴシック"/>
                        </a:rPr>
                        <a:t>Niagara 上で一から構築</a:t>
                      </a:r>
                    </a:p>
                  </a:txBody>
                  <a:tcPr marL="91440" marR="91440" anchor="ctr">
                    <a:lnL w="0">
                      <a:noFill/>
                    </a:lnL>
                    <a:lnR w="0">
                      <a:noFill/>
                    </a:lnR>
                    <a:lnT w="0">
                      <a:noFill/>
                    </a:lnT>
                    <a:lnB w="9525">
                      <a:solidFill>
                        <a:srgbClr val="D9DEE6"/>
                      </a:solidFill>
                    </a:lnB>
                    <a:solidFill>
                      <a:srgbClr val="DCEAF7"/>
                    </a:solidFill>
                  </a:tcPr>
                </a:tc>
              </a:tr>
              <a:tr h="457200">
                <a:tc>
                  <a:txBody>
                    <a:bodyPr/>
                    <a:lstStyle/>
                    <a:p>
                      <a:pPr algn="ctr"/>
                      <a:r>
                        <a:rPr sz="1800" b="0">
                          <a:solidFill>
                            <a:srgbClr val="262626"/>
                          </a:solidFill>
                          <a:latin typeface="BIZ UDPゴシック"/>
                          <a:ea typeface="BIZ UDPゴシック"/>
                        </a:rPr>
                        <a:t>進め方</a:t>
                      </a:r>
                    </a:p>
                  </a:txBody>
                  <a:tcPr marL="91440" marR="91440" anchor="ctr">
                    <a:lnL w="0">
                      <a:noFill/>
                    </a:lnL>
                    <a:lnR w="0">
                      <a:noFill/>
                    </a:lnR>
                    <a:lnT w="0">
                      <a:noFill/>
                    </a:lnT>
                    <a:lnB w="9525">
                      <a:solidFill>
                        <a:srgbClr val="D9DEE6"/>
                      </a:solidFill>
                    </a:lnB>
                    <a:noFill/>
                  </a:tcPr>
                </a:tc>
                <a:tc>
                  <a:txBody>
                    <a:bodyPr/>
                    <a:lstStyle/>
                    <a:p>
                      <a:pPr algn="ctr"/>
                      <a:r>
                        <a:rPr sz="1800" b="0">
                          <a:solidFill>
                            <a:srgbClr val="262626"/>
                          </a:solidFill>
                          <a:latin typeface="BIZ UDPゴシック"/>
                          <a:ea typeface="BIZ UDPゴシック"/>
                        </a:rPr>
                        <a:t>既存実装を動かして原理を習得</a:t>
                      </a:r>
                    </a:p>
                  </a:txBody>
                  <a:tcPr marL="91440" marR="91440" anchor="ctr">
                    <a:lnL w="0">
                      <a:noFill/>
                    </a:lnL>
                    <a:lnR w="0">
                      <a:noFill/>
                    </a:lnR>
                    <a:lnT w="0">
                      <a:noFill/>
                    </a:lnT>
                    <a:lnB w="9525">
                      <a:solidFill>
                        <a:srgbClr val="D9DEE6"/>
                      </a:solidFill>
                    </a:lnB>
                    <a:noFill/>
                  </a:tcPr>
                </a:tc>
                <a:tc>
                  <a:txBody>
                    <a:bodyPr/>
                    <a:lstStyle/>
                    <a:p>
                      <a:pPr algn="ctr"/>
                      <a:r>
                        <a:rPr sz="1800" b="1">
                          <a:solidFill>
                            <a:srgbClr val="215F9A"/>
                          </a:solidFill>
                          <a:latin typeface="BIZ UDPゴシック"/>
                          <a:ea typeface="BIZ UDPゴシック"/>
                        </a:rPr>
                        <a:t>段階ごとに解析解と照合</a:t>
                      </a:r>
                    </a:p>
                  </a:txBody>
                  <a:tcPr marL="91440" marR="91440" anchor="ctr">
                    <a:lnL w="0">
                      <a:noFill/>
                    </a:lnL>
                    <a:lnR w="0">
                      <a:noFill/>
                    </a:lnR>
                    <a:lnT w="0">
                      <a:noFill/>
                    </a:lnT>
                    <a:lnB w="9525">
                      <a:solidFill>
                        <a:srgbClr val="D9DEE6"/>
                      </a:solidFill>
                    </a:lnB>
                    <a:solidFill>
                      <a:srgbClr val="DCEAF7"/>
                    </a:solidFill>
                  </a:tcPr>
                </a:tc>
              </a:tr>
            </a:tbl>
          </a:graphicData>
        </a:graphic>
      </p:graphicFrame>
      <p:sp>
        <p:nvSpPr>
          <p:cNvPr id="8" name="Rounded Rectangle 7"/>
          <p:cNvSpPr/>
          <p:nvPr/>
        </p:nvSpPr>
        <p:spPr>
          <a:xfrm>
            <a:off x="822960" y="3337560"/>
            <a:ext cx="1737360" cy="347472"/>
          </a:xfrm>
          <a:prstGeom prst="roundRect">
            <a:avLst>
              <a:gd name="adj" fmla="val 50000"/>
            </a:avLst>
          </a:prstGeom>
          <a:solidFill>
            <a:srgbClr val="D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800" b="1">
                <a:solidFill>
                  <a:srgbClr val="215F9A"/>
                </a:solidFill>
                <a:latin typeface="BIZ UDPゴシック"/>
                <a:ea typeface="BIZ UDPゴシック"/>
              </a:rPr>
              <a:t>見直した理由</a:t>
            </a:r>
          </a:p>
        </p:txBody>
      </p:sp>
      <p:sp>
        <p:nvSpPr>
          <p:cNvPr id="9" name="行頭の点"/>
          <p:cNvSpPr/>
          <p:nvPr/>
        </p:nvSpPr>
        <p:spPr>
          <a:xfrm>
            <a:off x="822960" y="4038473"/>
            <a:ext cx="100584" cy="100584"/>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450" y="3886200"/>
            <a:ext cx="10579862" cy="405130"/>
          </a:xfrm>
          <a:prstGeom prst="rect">
            <a:avLst/>
          </a:prstGeom>
          <a:noFill/>
        </p:spPr>
        <p:txBody>
          <a:bodyPr wrap="square" anchor="ctr" lIns="0" rIns="0" tIns="0" bIns="0">
            <a:spAutoFit/>
          </a:bodyPr>
          <a:lstStyle/>
          <a:p>
            <a:pPr algn="l">
              <a:lnSpc>
                <a:spcPct val="120000"/>
              </a:lnSpc>
            </a:pPr>
            <a:r>
              <a:rPr sz="2200" b="0">
                <a:solidFill>
                  <a:srgbClr val="262626"/>
                </a:solidFill>
                <a:latin typeface="BIZ UDPゴシック"/>
                <a:ea typeface="BIZ UDPゴシック"/>
              </a:rPr>
              <a:t>構成則を </a:t>
            </a:r>
            <a:r>
              <a:rPr sz="2200" b="1">
                <a:solidFill>
                  <a:srgbClr val="215F9A"/>
                </a:solidFill>
                <a:latin typeface="BIZ UDPゴシック"/>
                <a:ea typeface="BIZ UDPゴシック"/>
              </a:rPr>
              <a:t>論文どおり</a:t>
            </a:r>
            <a:r>
              <a:rPr sz="2200" b="0">
                <a:solidFill>
                  <a:srgbClr val="262626"/>
                </a:solidFill>
                <a:latin typeface="BIZ UDPゴシック"/>
                <a:ea typeface="BIZ UDPゴシック"/>
              </a:rPr>
              <a:t> に実装し、各段を解析解で確かめるため</a:t>
            </a:r>
          </a:p>
        </p:txBody>
      </p:sp>
      <p:sp>
        <p:nvSpPr>
          <p:cNvPr id="11" name="行頭の点"/>
          <p:cNvSpPr/>
          <p:nvPr/>
        </p:nvSpPr>
        <p:spPr>
          <a:xfrm>
            <a:off x="822960" y="4625213"/>
            <a:ext cx="100584" cy="100584"/>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0450" y="4472940"/>
            <a:ext cx="10579862" cy="405130"/>
          </a:xfrm>
          <a:prstGeom prst="rect">
            <a:avLst/>
          </a:prstGeom>
          <a:noFill/>
        </p:spPr>
        <p:txBody>
          <a:bodyPr wrap="square" anchor="ctr" lIns="0" rIns="0" tIns="0" bIns="0">
            <a:spAutoFit/>
          </a:bodyPr>
          <a:lstStyle/>
          <a:p>
            <a:pPr algn="l">
              <a:lnSpc>
                <a:spcPct val="120000"/>
              </a:lnSpc>
            </a:pPr>
            <a:r>
              <a:rPr sz="2200" b="0">
                <a:solidFill>
                  <a:srgbClr val="262626"/>
                </a:solidFill>
                <a:latin typeface="BIZ UDPゴシック"/>
                <a:ea typeface="BIZ UDPゴシック"/>
              </a:rPr>
              <a:t>粒子の表示と運転用の地形表示を </a:t>
            </a:r>
            <a:r>
              <a:rPr sz="2200" b="1">
                <a:solidFill>
                  <a:srgbClr val="215F9A"/>
                </a:solidFill>
                <a:latin typeface="BIZ UDPゴシック"/>
                <a:ea typeface="BIZ UDPゴシック"/>
              </a:rPr>
              <a:t>同じ仕組み</a:t>
            </a:r>
            <a:r>
              <a:rPr sz="2200" b="0">
                <a:solidFill>
                  <a:srgbClr val="262626"/>
                </a:solidFill>
                <a:latin typeface="BIZ UDPゴシック"/>
                <a:ea typeface="BIZ UDPゴシック"/>
              </a:rPr>
              <a:t> で切り替えるため</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11512" y="6400800"/>
            <a:ext cx="1828800" cy="228600"/>
          </a:xfrm>
          <a:prstGeom prst="rect">
            <a:avLst/>
          </a:prstGeom>
          <a:noFill/>
        </p:spPr>
        <p:txBody>
          <a:bodyPr wrap="square" anchor="ctr" lIns="0" rIns="0" tIns="0" bIns="0">
            <a:spAutoFit/>
          </a:bodyPr>
          <a:lstStyle/>
          <a:p>
            <a:pPr algn="r">
              <a:lnSpc>
                <a:spcPct val="120000"/>
              </a:lnSpc>
            </a:pPr>
            <a:r>
              <a:rPr sz="1200" b="1">
                <a:solidFill>
                  <a:srgbClr val="4E95D9"/>
                </a:solidFill>
                <a:latin typeface="BIZ UDPゴシック"/>
                <a:ea typeface="BIZ UDPゴシック"/>
              </a:rPr>
              <a:t>20</a:t>
            </a:r>
            <a:r>
              <a:rPr sz="1200" b="0">
                <a:solidFill>
                  <a:srgbClr val="8C8C8C"/>
                </a:solidFill>
                <a:latin typeface="BIZ UDPゴシック"/>
                <a:ea typeface="BIZ UDPゴシック"/>
              </a:rPr>
              <a:t> / 26</a:t>
            </a:r>
          </a:p>
        </p:txBody>
      </p:sp>
      <p:sp>
        <p:nvSpPr>
          <p:cNvPr id="3" name="下端の線"/>
          <p:cNvSpPr/>
          <p:nvPr/>
        </p:nvSpPr>
        <p:spPr>
          <a:xfrm>
            <a:off x="0" y="6803136"/>
            <a:ext cx="12192000" cy="54864"/>
          </a:xfrm>
          <a:prstGeom prst="rect">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の札"/>
          <p:cNvSpPr/>
          <p:nvPr/>
        </p:nvSpPr>
        <p:spPr>
          <a:xfrm>
            <a:off x="548640" y="292608"/>
            <a:ext cx="1287780" cy="274320"/>
          </a:xfrm>
          <a:prstGeom prst="roundRect">
            <a:avLst>
              <a:gd name="adj" fmla="val 50000"/>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BIZ UDPゴシック"/>
                <a:ea typeface="BIZ UDPゴシック"/>
              </a:rPr>
              <a:t>05  進捗</a:t>
            </a:r>
          </a:p>
        </p:txBody>
      </p:sp>
      <p:sp>
        <p:nvSpPr>
          <p:cNvPr id="5" name="TextBox 4"/>
          <p:cNvSpPr txBox="1"/>
          <p:nvPr/>
        </p:nvSpPr>
        <p:spPr>
          <a:xfrm>
            <a:off x="548640" y="621792"/>
            <a:ext cx="11064240" cy="548640"/>
          </a:xfrm>
          <a:prstGeom prst="rect">
            <a:avLst/>
          </a:prstGeom>
          <a:noFill/>
        </p:spPr>
        <p:txBody>
          <a:bodyPr wrap="square" anchor="ctr" lIns="0" rIns="0" tIns="0" bIns="0">
            <a:spAutoFit/>
          </a:bodyPr>
          <a:lstStyle/>
          <a:p>
            <a:pPr algn="l">
              <a:lnSpc>
                <a:spcPct val="100000"/>
              </a:lnSpc>
            </a:pPr>
            <a:r>
              <a:rPr sz="3000" b="1">
                <a:solidFill>
                  <a:srgbClr val="1F3A5F"/>
                </a:solidFill>
                <a:latin typeface="BIZ UDPゴシック"/>
                <a:ea typeface="BIZ UDPゴシック"/>
              </a:rPr>
              <a:t>今回の進捗：計算の流れと段階的な実装</a:t>
            </a:r>
          </a:p>
        </p:txBody>
      </p:sp>
      <p:sp>
        <p:nvSpPr>
          <p:cNvPr id="6" name="区切り線"/>
          <p:cNvSpPr/>
          <p:nvPr/>
        </p:nvSpPr>
        <p:spPr>
          <a:xfrm>
            <a:off x="548640" y="1225296"/>
            <a:ext cx="11091672" cy="12700"/>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0"/>
            <a:ext cx="2484882" cy="914400"/>
          </a:xfrm>
          <a:prstGeom prst="roundRect">
            <a:avLst>
              <a:gd name="adj" fmla="val 14000"/>
            </a:avLst>
          </a:prstGeom>
          <a:solidFill>
            <a:srgbClr val="F3F8FD"/>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r>
              <a:rPr sz="1800" b="1">
                <a:solidFill>
                  <a:srgbClr val="1F3A5F"/>
                </a:solidFill>
                <a:latin typeface="BIZ UDPゴシック"/>
                <a:ea typeface="BIZ UDPゴシック"/>
              </a:rPr>
              <a:t>格子の初期化</a:t>
            </a:r>
          </a:p>
          <a:p>
            <a:pPr algn="ctr"/>
            <a:r>
              <a:rPr sz="1800" b="0">
                <a:solidFill>
                  <a:srgbClr val="262626"/>
                </a:solidFill>
                <a:latin typeface="BIZ UDPゴシック"/>
                <a:ea typeface="BIZ UDPゴシック"/>
              </a:rPr>
              <a:t>値を 0 に戻す</a:t>
            </a:r>
          </a:p>
        </p:txBody>
      </p:sp>
      <p:sp>
        <p:nvSpPr>
          <p:cNvPr id="8" name="Oval 7"/>
          <p:cNvSpPr/>
          <p:nvPr/>
        </p:nvSpPr>
        <p:spPr>
          <a:xfrm>
            <a:off x="1626489" y="1481328"/>
            <a:ext cx="329184" cy="329184"/>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BIZ UDPゴシック"/>
                <a:ea typeface="BIZ UDPゴシック"/>
              </a:rPr>
              <a:t>1</a:t>
            </a:r>
          </a:p>
        </p:txBody>
      </p:sp>
      <p:sp>
        <p:nvSpPr>
          <p:cNvPr id="9" name="Chevron 8"/>
          <p:cNvSpPr/>
          <p:nvPr/>
        </p:nvSpPr>
        <p:spPr>
          <a:xfrm>
            <a:off x="3134106" y="1956816"/>
            <a:ext cx="182880" cy="292608"/>
          </a:xfrm>
          <a:prstGeom prst="chevron">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17570" y="1645920"/>
            <a:ext cx="2484882" cy="914400"/>
          </a:xfrm>
          <a:prstGeom prst="roundRect">
            <a:avLst>
              <a:gd name="adj" fmla="val 14000"/>
            </a:avLst>
          </a:prstGeom>
          <a:solidFill>
            <a:srgbClr val="F3F8FD"/>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r>
              <a:rPr sz="1800" b="1">
                <a:solidFill>
                  <a:srgbClr val="1F3A5F"/>
                </a:solidFill>
                <a:latin typeface="BIZ UDPゴシック"/>
                <a:ea typeface="BIZ UDPゴシック"/>
              </a:rPr>
              <a:t>P2G</a:t>
            </a:r>
          </a:p>
          <a:p>
            <a:pPr algn="ctr"/>
            <a:r>
              <a:rPr sz="1800" b="0">
                <a:solidFill>
                  <a:srgbClr val="262626"/>
                </a:solidFill>
                <a:latin typeface="BIZ UDPゴシック"/>
                <a:ea typeface="BIZ UDPゴシック"/>
              </a:rPr>
              <a:t>粒子 → 格子</a:t>
            </a:r>
          </a:p>
        </p:txBody>
      </p:sp>
      <p:sp>
        <p:nvSpPr>
          <p:cNvPr id="11" name="Oval 10"/>
          <p:cNvSpPr/>
          <p:nvPr/>
        </p:nvSpPr>
        <p:spPr>
          <a:xfrm>
            <a:off x="4495419" y="1481328"/>
            <a:ext cx="329184" cy="329184"/>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BIZ UDPゴシック"/>
                <a:ea typeface="BIZ UDPゴシック"/>
              </a:rPr>
              <a:t>2</a:t>
            </a:r>
          </a:p>
        </p:txBody>
      </p:sp>
      <p:sp>
        <p:nvSpPr>
          <p:cNvPr id="12" name="Chevron 11"/>
          <p:cNvSpPr/>
          <p:nvPr/>
        </p:nvSpPr>
        <p:spPr>
          <a:xfrm>
            <a:off x="6003036" y="1956816"/>
            <a:ext cx="182880" cy="292608"/>
          </a:xfrm>
          <a:prstGeom prst="chevron">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86500" y="1645920"/>
            <a:ext cx="2484882" cy="914400"/>
          </a:xfrm>
          <a:prstGeom prst="roundRect">
            <a:avLst>
              <a:gd name="adj" fmla="val 14000"/>
            </a:avLst>
          </a:prstGeom>
          <a:solidFill>
            <a:srgbClr val="F3F8FD"/>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r>
              <a:rPr sz="1800" b="1">
                <a:solidFill>
                  <a:srgbClr val="1F3A5F"/>
                </a:solidFill>
                <a:latin typeface="BIZ UDPゴシック"/>
                <a:ea typeface="BIZ UDPゴシック"/>
              </a:rPr>
              <a:t>格子の更新</a:t>
            </a:r>
          </a:p>
          <a:p>
            <a:pPr algn="ctr"/>
            <a:r>
              <a:rPr sz="1800" b="0">
                <a:solidFill>
                  <a:srgbClr val="262626"/>
                </a:solidFill>
                <a:latin typeface="BIZ UDPゴシック"/>
                <a:ea typeface="BIZ UDPゴシック"/>
              </a:rPr>
              <a:t>速度、重力、境界</a:t>
            </a:r>
          </a:p>
        </p:txBody>
      </p:sp>
      <p:sp>
        <p:nvSpPr>
          <p:cNvPr id="14" name="Oval 13"/>
          <p:cNvSpPr/>
          <p:nvPr/>
        </p:nvSpPr>
        <p:spPr>
          <a:xfrm>
            <a:off x="7364349" y="1481328"/>
            <a:ext cx="329184" cy="329184"/>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BIZ UDPゴシック"/>
                <a:ea typeface="BIZ UDPゴシック"/>
              </a:rPr>
              <a:t>3</a:t>
            </a:r>
          </a:p>
        </p:txBody>
      </p:sp>
      <p:sp>
        <p:nvSpPr>
          <p:cNvPr id="15" name="Chevron 14"/>
          <p:cNvSpPr/>
          <p:nvPr/>
        </p:nvSpPr>
        <p:spPr>
          <a:xfrm>
            <a:off x="8871966" y="1956816"/>
            <a:ext cx="182880" cy="292608"/>
          </a:xfrm>
          <a:prstGeom prst="chevron">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155430" y="1645920"/>
            <a:ext cx="2484882" cy="914400"/>
          </a:xfrm>
          <a:prstGeom prst="roundRect">
            <a:avLst>
              <a:gd name="adj" fmla="val 14000"/>
            </a:avLst>
          </a:prstGeom>
          <a:solidFill>
            <a:srgbClr val="F3F8FD"/>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r>
              <a:rPr sz="1800" b="1">
                <a:solidFill>
                  <a:srgbClr val="1F3A5F"/>
                </a:solidFill>
                <a:latin typeface="BIZ UDPゴシック"/>
                <a:ea typeface="BIZ UDPゴシック"/>
              </a:rPr>
              <a:t>G2P</a:t>
            </a:r>
          </a:p>
          <a:p>
            <a:pPr algn="ctr"/>
            <a:r>
              <a:rPr sz="1800" b="0">
                <a:solidFill>
                  <a:srgbClr val="262626"/>
                </a:solidFill>
                <a:latin typeface="BIZ UDPゴシック"/>
                <a:ea typeface="BIZ UDPゴシック"/>
              </a:rPr>
              <a:t>格子 → 粒子</a:t>
            </a:r>
          </a:p>
        </p:txBody>
      </p:sp>
      <p:sp>
        <p:nvSpPr>
          <p:cNvPr id="17" name="Oval 16"/>
          <p:cNvSpPr/>
          <p:nvPr/>
        </p:nvSpPr>
        <p:spPr>
          <a:xfrm>
            <a:off x="10233279" y="1481328"/>
            <a:ext cx="329184" cy="329184"/>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BIZ UDPゴシック"/>
                <a:ea typeface="BIZ UDPゴシック"/>
              </a:rPr>
              <a:t>4</a:t>
            </a:r>
          </a:p>
        </p:txBody>
      </p:sp>
      <p:sp>
        <p:nvSpPr>
          <p:cNvPr id="18" name="TextBox 17"/>
          <p:cNvSpPr txBox="1"/>
          <p:nvPr/>
        </p:nvSpPr>
        <p:spPr>
          <a:xfrm>
            <a:off x="548640" y="2743200"/>
            <a:ext cx="11091672" cy="365760"/>
          </a:xfrm>
          <a:prstGeom prst="rect">
            <a:avLst/>
          </a:prstGeom>
          <a:noFill/>
        </p:spPr>
        <p:txBody>
          <a:bodyPr wrap="square" anchor="t" lIns="0" rIns="0" tIns="0" bIns="0">
            <a:spAutoFit/>
          </a:bodyPr>
          <a:lstStyle/>
          <a:p>
            <a:pPr algn="ctr">
              <a:lnSpc>
                <a:spcPct val="120000"/>
              </a:lnSpc>
            </a:pPr>
            <a:r>
              <a:rPr sz="1800" b="0">
                <a:solidFill>
                  <a:srgbClr val="8C8C8C"/>
                </a:solidFill>
                <a:latin typeface="BIZ UDPゴシック"/>
                <a:ea typeface="BIZ UDPゴシック"/>
              </a:rPr>
              <a:t>粒子 18,000 個（1 cm 間隔）、格子間隔 h = 2 cm、月面重力 1.62 m/s²、Δt = 1/240 s</a:t>
            </a:r>
          </a:p>
        </p:txBody>
      </p:sp>
      <p:sp>
        <p:nvSpPr>
          <p:cNvPr id="19" name="TextBox 18"/>
          <p:cNvSpPr txBox="1"/>
          <p:nvPr/>
        </p:nvSpPr>
        <p:spPr>
          <a:xfrm>
            <a:off x="548640" y="3337560"/>
            <a:ext cx="11091672" cy="365760"/>
          </a:xfrm>
          <a:prstGeom prst="rect">
            <a:avLst/>
          </a:prstGeom>
          <a:noFill/>
        </p:spPr>
        <p:txBody>
          <a:bodyPr wrap="square" anchor="t" lIns="0" rIns="0" tIns="0" bIns="0">
            <a:spAutoFit/>
          </a:bodyPr>
          <a:lstStyle/>
          <a:p>
            <a:pPr algn="l">
              <a:lnSpc>
                <a:spcPct val="120000"/>
              </a:lnSpc>
            </a:pPr>
            <a:r>
              <a:rPr sz="1800" b="1">
                <a:solidFill>
                  <a:srgbClr val="215F9A"/>
                </a:solidFill>
                <a:latin typeface="BIZ UDPゴシック"/>
                <a:ea typeface="BIZ UDPゴシック"/>
              </a:rPr>
              <a:t>実装した段階</a:t>
            </a:r>
          </a:p>
        </p:txBody>
      </p:sp>
      <p:sp>
        <p:nvSpPr>
          <p:cNvPr id="20" name="Rounded Rectangle 19"/>
          <p:cNvSpPr/>
          <p:nvPr/>
        </p:nvSpPr>
        <p:spPr>
          <a:xfrm>
            <a:off x="548640" y="3931920"/>
            <a:ext cx="1620012" cy="914400"/>
          </a:xfrm>
          <a:prstGeom prst="roundRect">
            <a:avLst>
              <a:gd name="adj" fmla="val 14000"/>
            </a:avLst>
          </a:prstGeom>
          <a:solidFill>
            <a:srgbClr val="F3F8FD"/>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r>
              <a:rPr sz="1800" b="1">
                <a:solidFill>
                  <a:srgbClr val="1F3A5F"/>
                </a:solidFill>
                <a:latin typeface="BIZ UDPゴシック"/>
                <a:ea typeface="BIZ UDPゴシック"/>
              </a:rPr>
              <a:t>粒子配置</a:t>
            </a:r>
          </a:p>
          <a:p>
            <a:pPr algn="ctr"/>
            <a:r>
              <a:rPr sz="1800" b="0">
                <a:solidFill>
                  <a:srgbClr val="262626"/>
                </a:solidFill>
                <a:latin typeface="BIZ UDPゴシック"/>
                <a:ea typeface="BIZ UDPゴシック"/>
              </a:rPr>
              <a:t>P2G</a:t>
            </a:r>
          </a:p>
        </p:txBody>
      </p:sp>
      <p:sp>
        <p:nvSpPr>
          <p:cNvPr id="21" name="Oval 20"/>
          <p:cNvSpPr/>
          <p:nvPr/>
        </p:nvSpPr>
        <p:spPr>
          <a:xfrm>
            <a:off x="1194054" y="3767328"/>
            <a:ext cx="329184" cy="329184"/>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BIZ UDPゴシック"/>
                <a:ea typeface="BIZ UDPゴシック"/>
              </a:rPr>
              <a:t>1</a:t>
            </a:r>
          </a:p>
        </p:txBody>
      </p:sp>
      <p:sp>
        <p:nvSpPr>
          <p:cNvPr id="22" name="Chevron 21"/>
          <p:cNvSpPr/>
          <p:nvPr/>
        </p:nvSpPr>
        <p:spPr>
          <a:xfrm>
            <a:off x="2214372" y="4242816"/>
            <a:ext cx="182880" cy="292608"/>
          </a:xfrm>
          <a:prstGeom prst="chevron">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442972" y="3931920"/>
            <a:ext cx="1620012" cy="914400"/>
          </a:xfrm>
          <a:prstGeom prst="roundRect">
            <a:avLst>
              <a:gd name="adj" fmla="val 14000"/>
            </a:avLst>
          </a:prstGeom>
          <a:solidFill>
            <a:srgbClr val="F3F8FD"/>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r>
              <a:rPr sz="1800" b="1">
                <a:solidFill>
                  <a:srgbClr val="1F3A5F"/>
                </a:solidFill>
                <a:latin typeface="BIZ UDPゴシック"/>
                <a:ea typeface="BIZ UDPゴシック"/>
              </a:rPr>
              <a:t>格子更新</a:t>
            </a:r>
          </a:p>
          <a:p>
            <a:pPr algn="ctr"/>
            <a:r>
              <a:rPr sz="1800" b="0">
                <a:solidFill>
                  <a:srgbClr val="262626"/>
                </a:solidFill>
                <a:latin typeface="BIZ UDPゴシック"/>
                <a:ea typeface="BIZ UDPゴシック"/>
              </a:rPr>
              <a:t>G2P</a:t>
            </a:r>
          </a:p>
        </p:txBody>
      </p:sp>
      <p:sp>
        <p:nvSpPr>
          <p:cNvPr id="24" name="Oval 23"/>
          <p:cNvSpPr/>
          <p:nvPr/>
        </p:nvSpPr>
        <p:spPr>
          <a:xfrm>
            <a:off x="3088386" y="3767328"/>
            <a:ext cx="329184" cy="329184"/>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BIZ UDPゴシック"/>
                <a:ea typeface="BIZ UDPゴシック"/>
              </a:rPr>
              <a:t>2</a:t>
            </a:r>
          </a:p>
        </p:txBody>
      </p:sp>
      <p:sp>
        <p:nvSpPr>
          <p:cNvPr id="25" name="Chevron 24"/>
          <p:cNvSpPr/>
          <p:nvPr/>
        </p:nvSpPr>
        <p:spPr>
          <a:xfrm>
            <a:off x="4108704" y="4242816"/>
            <a:ext cx="182880" cy="292608"/>
          </a:xfrm>
          <a:prstGeom prst="chevron">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337304" y="3931920"/>
            <a:ext cx="1620012" cy="914400"/>
          </a:xfrm>
          <a:prstGeom prst="roundRect">
            <a:avLst>
              <a:gd name="adj" fmla="val 14000"/>
            </a:avLst>
          </a:prstGeom>
          <a:solidFill>
            <a:srgbClr val="F3F8FD"/>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r>
              <a:rPr sz="1800" b="1">
                <a:solidFill>
                  <a:srgbClr val="1F3A5F"/>
                </a:solidFill>
                <a:latin typeface="BIZ UDPゴシック"/>
                <a:ea typeface="BIZ UDPゴシック"/>
              </a:rPr>
              <a:t>床</a:t>
            </a:r>
          </a:p>
          <a:p>
            <a:pPr algn="ctr"/>
            <a:r>
              <a:rPr sz="1800" b="0">
                <a:solidFill>
                  <a:srgbClr val="262626"/>
                </a:solidFill>
                <a:latin typeface="BIZ UDPゴシック"/>
                <a:ea typeface="BIZ UDPゴシック"/>
              </a:rPr>
              <a:t>APIC</a:t>
            </a:r>
          </a:p>
        </p:txBody>
      </p:sp>
      <p:sp>
        <p:nvSpPr>
          <p:cNvPr id="27" name="Oval 26"/>
          <p:cNvSpPr/>
          <p:nvPr/>
        </p:nvSpPr>
        <p:spPr>
          <a:xfrm>
            <a:off x="4982718" y="3767328"/>
            <a:ext cx="329184" cy="329184"/>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BIZ UDPゴシック"/>
                <a:ea typeface="BIZ UDPゴシック"/>
              </a:rPr>
              <a:t>3</a:t>
            </a:r>
          </a:p>
        </p:txBody>
      </p:sp>
      <p:sp>
        <p:nvSpPr>
          <p:cNvPr id="28" name="Chevron 27"/>
          <p:cNvSpPr/>
          <p:nvPr/>
        </p:nvSpPr>
        <p:spPr>
          <a:xfrm>
            <a:off x="6003036" y="4242816"/>
            <a:ext cx="182880" cy="292608"/>
          </a:xfrm>
          <a:prstGeom prst="chevron">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231636" y="3931920"/>
            <a:ext cx="1620012" cy="914400"/>
          </a:xfrm>
          <a:prstGeom prst="roundRect">
            <a:avLst>
              <a:gd name="adj" fmla="val 14000"/>
            </a:avLst>
          </a:prstGeom>
          <a:solidFill>
            <a:srgbClr val="F3F8FD"/>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r>
              <a:rPr sz="1800" b="1">
                <a:solidFill>
                  <a:srgbClr val="1F3A5F"/>
                </a:solidFill>
                <a:latin typeface="BIZ UDPゴシック"/>
                <a:ea typeface="BIZ UDPゴシック"/>
              </a:rPr>
              <a:t>体積変化</a:t>
            </a:r>
          </a:p>
          <a:p>
            <a:pPr algn="ctr"/>
            <a:r>
              <a:rPr sz="1800" b="0">
                <a:solidFill>
                  <a:srgbClr val="262626"/>
                </a:solidFill>
                <a:latin typeface="BIZ UDPゴシック"/>
                <a:ea typeface="BIZ UDPゴシック"/>
              </a:rPr>
              <a:t>圧力</a:t>
            </a:r>
          </a:p>
        </p:txBody>
      </p:sp>
      <p:sp>
        <p:nvSpPr>
          <p:cNvPr id="30" name="Oval 29"/>
          <p:cNvSpPr/>
          <p:nvPr/>
        </p:nvSpPr>
        <p:spPr>
          <a:xfrm>
            <a:off x="6877050" y="3767328"/>
            <a:ext cx="329184" cy="329184"/>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BIZ UDPゴシック"/>
                <a:ea typeface="BIZ UDPゴシック"/>
              </a:rPr>
              <a:t>4</a:t>
            </a:r>
          </a:p>
        </p:txBody>
      </p:sp>
      <p:sp>
        <p:nvSpPr>
          <p:cNvPr id="31" name="Chevron 30"/>
          <p:cNvSpPr/>
          <p:nvPr/>
        </p:nvSpPr>
        <p:spPr>
          <a:xfrm>
            <a:off x="7897368" y="4242816"/>
            <a:ext cx="182880" cy="292608"/>
          </a:xfrm>
          <a:prstGeom prst="chevron">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125968" y="3931920"/>
            <a:ext cx="1620012" cy="914400"/>
          </a:xfrm>
          <a:prstGeom prst="roundRect">
            <a:avLst>
              <a:gd name="adj" fmla="val 14000"/>
            </a:avLst>
          </a:prstGeom>
          <a:solidFill>
            <a:srgbClr val="F3F8FD"/>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r>
              <a:rPr sz="1800" b="1">
                <a:solidFill>
                  <a:srgbClr val="1F3A5F"/>
                </a:solidFill>
                <a:latin typeface="BIZ UDPゴシック"/>
                <a:ea typeface="BIZ UDPゴシック"/>
              </a:rPr>
              <a:t>変形勾配</a:t>
            </a:r>
          </a:p>
          <a:p>
            <a:pPr algn="ctr"/>
            <a:r>
              <a:rPr sz="1800" b="0">
                <a:solidFill>
                  <a:srgbClr val="262626"/>
                </a:solidFill>
                <a:latin typeface="BIZ UDPゴシック"/>
                <a:ea typeface="BIZ UDPゴシック"/>
              </a:rPr>
              <a:t>F</a:t>
            </a:r>
          </a:p>
        </p:txBody>
      </p:sp>
      <p:sp>
        <p:nvSpPr>
          <p:cNvPr id="33" name="Oval 32"/>
          <p:cNvSpPr/>
          <p:nvPr/>
        </p:nvSpPr>
        <p:spPr>
          <a:xfrm>
            <a:off x="8771382" y="3767328"/>
            <a:ext cx="329184" cy="329184"/>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BIZ UDPゴシック"/>
                <a:ea typeface="BIZ UDPゴシック"/>
              </a:rPr>
              <a:t>5</a:t>
            </a:r>
          </a:p>
        </p:txBody>
      </p:sp>
      <p:sp>
        <p:nvSpPr>
          <p:cNvPr id="34" name="Chevron 33"/>
          <p:cNvSpPr/>
          <p:nvPr/>
        </p:nvSpPr>
        <p:spPr>
          <a:xfrm>
            <a:off x="9791700" y="4242816"/>
            <a:ext cx="182880" cy="292608"/>
          </a:xfrm>
          <a:prstGeom prst="chevron">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020300" y="3931920"/>
            <a:ext cx="1620012" cy="914400"/>
          </a:xfrm>
          <a:prstGeom prst="roundRect">
            <a:avLst>
              <a:gd name="adj" fmla="val 14000"/>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r>
              <a:rPr sz="1800" b="1">
                <a:solidFill>
                  <a:srgbClr val="FFFFFF"/>
                </a:solidFill>
                <a:latin typeface="BIZ UDPゴシック"/>
                <a:ea typeface="BIZ UDPゴシック"/>
              </a:rPr>
              <a:t>弾性</a:t>
            </a:r>
          </a:p>
          <a:p>
            <a:pPr algn="ctr"/>
            <a:r>
              <a:rPr sz="1800" b="0">
                <a:solidFill>
                  <a:srgbClr val="FFFFFF"/>
                </a:solidFill>
                <a:latin typeface="BIZ UDPゴシック"/>
                <a:ea typeface="BIZ UDPゴシック"/>
              </a:rPr>
              <a:t>次の段階</a:t>
            </a:r>
          </a:p>
        </p:txBody>
      </p:sp>
      <p:sp>
        <p:nvSpPr>
          <p:cNvPr id="36" name="Oval 35"/>
          <p:cNvSpPr/>
          <p:nvPr/>
        </p:nvSpPr>
        <p:spPr>
          <a:xfrm>
            <a:off x="10665714" y="3767328"/>
            <a:ext cx="329184" cy="329184"/>
          </a:xfrm>
          <a:prstGeom prst="ellipse">
            <a:avLst/>
          </a:prstGeom>
          <a:solidFill>
            <a:srgbClr val="215F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BIZ UDPゴシック"/>
                <a:ea typeface="BIZ UDPゴシック"/>
              </a:rPr>
              <a:t>6</a:t>
            </a:r>
          </a:p>
        </p:txBody>
      </p:sp>
      <p:sp>
        <p:nvSpPr>
          <p:cNvPr id="37" name="TextBox 36"/>
          <p:cNvSpPr txBox="1"/>
          <p:nvPr/>
        </p:nvSpPr>
        <p:spPr>
          <a:xfrm>
            <a:off x="548640" y="6139053"/>
            <a:ext cx="11064240" cy="188595"/>
          </a:xfrm>
          <a:prstGeom prst="rect">
            <a:avLst/>
          </a:prstGeom>
          <a:noFill/>
        </p:spPr>
        <p:txBody>
          <a:bodyPr wrap="square" anchor="t" lIns="0" rIns="0" tIns="0" bIns="0">
            <a:spAutoFit/>
          </a:bodyPr>
          <a:lstStyle/>
          <a:p>
            <a:pPr algn="l">
              <a:lnSpc>
                <a:spcPct val="100000"/>
              </a:lnSpc>
            </a:pPr>
            <a:r>
              <a:rPr sz="1100" b="0">
                <a:solidFill>
                  <a:srgbClr val="8C8C8C"/>
                </a:solidFill>
                <a:latin typeface="BIZ UDPゴシック"/>
                <a:ea typeface="BIZ UDPゴシック"/>
              </a:rPr>
              <a:t>各段で、単純な条件（自由落下、床の上での静止など）の解析解を事前に手計算し、シミュレーションの値と照合してから次の段階へ進む</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11512" y="6400800"/>
            <a:ext cx="1828800" cy="228600"/>
          </a:xfrm>
          <a:prstGeom prst="rect">
            <a:avLst/>
          </a:prstGeom>
          <a:noFill/>
        </p:spPr>
        <p:txBody>
          <a:bodyPr wrap="square" anchor="ctr" lIns="0" rIns="0" tIns="0" bIns="0">
            <a:spAutoFit/>
          </a:bodyPr>
          <a:lstStyle/>
          <a:p>
            <a:pPr algn="r">
              <a:lnSpc>
                <a:spcPct val="120000"/>
              </a:lnSpc>
            </a:pPr>
            <a:r>
              <a:rPr sz="1200" b="1">
                <a:solidFill>
                  <a:srgbClr val="4E95D9"/>
                </a:solidFill>
                <a:latin typeface="BIZ UDPゴシック"/>
                <a:ea typeface="BIZ UDPゴシック"/>
              </a:rPr>
              <a:t>21</a:t>
            </a:r>
            <a:r>
              <a:rPr sz="1200" b="0">
                <a:solidFill>
                  <a:srgbClr val="8C8C8C"/>
                </a:solidFill>
                <a:latin typeface="BIZ UDPゴシック"/>
                <a:ea typeface="BIZ UDPゴシック"/>
              </a:rPr>
              <a:t> / 26</a:t>
            </a:r>
          </a:p>
        </p:txBody>
      </p:sp>
      <p:sp>
        <p:nvSpPr>
          <p:cNvPr id="3" name="下端の線"/>
          <p:cNvSpPr/>
          <p:nvPr/>
        </p:nvSpPr>
        <p:spPr>
          <a:xfrm>
            <a:off x="0" y="6803136"/>
            <a:ext cx="12192000" cy="54864"/>
          </a:xfrm>
          <a:prstGeom prst="rect">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の札"/>
          <p:cNvSpPr/>
          <p:nvPr/>
        </p:nvSpPr>
        <p:spPr>
          <a:xfrm>
            <a:off x="548640" y="292608"/>
            <a:ext cx="1287780" cy="274320"/>
          </a:xfrm>
          <a:prstGeom prst="roundRect">
            <a:avLst>
              <a:gd name="adj" fmla="val 50000"/>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BIZ UDPゴシック"/>
                <a:ea typeface="BIZ UDPゴシック"/>
              </a:rPr>
              <a:t>05  進捗</a:t>
            </a:r>
          </a:p>
        </p:txBody>
      </p:sp>
      <p:sp>
        <p:nvSpPr>
          <p:cNvPr id="5" name="TextBox 4"/>
          <p:cNvSpPr txBox="1"/>
          <p:nvPr/>
        </p:nvSpPr>
        <p:spPr>
          <a:xfrm>
            <a:off x="548640" y="621792"/>
            <a:ext cx="11064240" cy="548640"/>
          </a:xfrm>
          <a:prstGeom prst="rect">
            <a:avLst/>
          </a:prstGeom>
          <a:noFill/>
        </p:spPr>
        <p:txBody>
          <a:bodyPr wrap="square" anchor="ctr" lIns="0" rIns="0" tIns="0" bIns="0">
            <a:spAutoFit/>
          </a:bodyPr>
          <a:lstStyle/>
          <a:p>
            <a:pPr algn="l">
              <a:lnSpc>
                <a:spcPct val="100000"/>
              </a:lnSpc>
            </a:pPr>
            <a:r>
              <a:rPr sz="3000" b="1">
                <a:solidFill>
                  <a:srgbClr val="1F3A5F"/>
                </a:solidFill>
                <a:latin typeface="BIZ UDPゴシック"/>
                <a:ea typeface="BIZ UDPゴシック"/>
              </a:rPr>
              <a:t>今回の進捗：解析解との照合</a:t>
            </a:r>
          </a:p>
        </p:txBody>
      </p:sp>
      <p:sp>
        <p:nvSpPr>
          <p:cNvPr id="6" name="区切り線"/>
          <p:cNvSpPr/>
          <p:nvPr/>
        </p:nvSpPr>
        <p:spPr>
          <a:xfrm>
            <a:off x="548640" y="1225296"/>
            <a:ext cx="11091672" cy="12700"/>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417320"/>
          <a:ext cx="11091672" cy="2743200"/>
        </p:xfrm>
        <a:graphic>
          <a:graphicData uri="http://schemas.openxmlformats.org/drawingml/2006/table">
            <a:tbl>
              <a:tblPr firstRow="0" bandRow="0">
                <a:tableStyleId>{2D5ABB26-0587-4C30-8999-92F81FD0307C}</a:tableStyleId>
              </a:tblPr>
              <a:tblGrid>
                <a:gridCol w="1600200"/>
                <a:gridCol w="2651760"/>
                <a:gridCol w="2834640"/>
                <a:gridCol w="1920240"/>
                <a:gridCol w="2084832"/>
              </a:tblGrid>
              <a:tr h="457200">
                <a:tc>
                  <a:txBody>
                    <a:bodyPr/>
                    <a:lstStyle/>
                    <a:p>
                      <a:pPr algn="ctr"/>
                      <a:r>
                        <a:rPr sz="1600" b="1">
                          <a:solidFill>
                            <a:srgbClr val="FFFFFF"/>
                          </a:solidFill>
                          <a:latin typeface="BIZ UDPゴシック"/>
                          <a:ea typeface="BIZ UDPゴシック"/>
                        </a:rPr>
                        <a:t>段階</a:t>
                      </a:r>
                    </a:p>
                  </a:txBody>
                  <a:tcPr marL="91440" marR="91440" anchor="ctr">
                    <a:lnL w="0">
                      <a:noFill/>
                    </a:lnL>
                    <a:lnR w="0">
                      <a:noFill/>
                    </a:lnR>
                    <a:lnT w="0">
                      <a:noFill/>
                    </a:lnT>
                    <a:lnB w="9525">
                      <a:solidFill>
                        <a:srgbClr val="D9DEE6"/>
                      </a:solidFill>
                    </a:lnB>
                    <a:solidFill>
                      <a:srgbClr val="1F3A5F"/>
                    </a:solidFill>
                  </a:tcPr>
                </a:tc>
                <a:tc>
                  <a:txBody>
                    <a:bodyPr/>
                    <a:lstStyle/>
                    <a:p>
                      <a:pPr algn="ctr"/>
                      <a:r>
                        <a:rPr sz="1600" b="1">
                          <a:solidFill>
                            <a:srgbClr val="FFFFFF"/>
                          </a:solidFill>
                          <a:latin typeface="BIZ UDPゴシック"/>
                          <a:ea typeface="BIZ UDPゴシック"/>
                        </a:rPr>
                        <a:t>確認した量</a:t>
                      </a:r>
                    </a:p>
                  </a:txBody>
                  <a:tcPr marL="91440" marR="91440" anchor="ctr">
                    <a:lnL w="0">
                      <a:noFill/>
                    </a:lnL>
                    <a:lnR w="0">
                      <a:noFill/>
                    </a:lnR>
                    <a:lnT w="0">
                      <a:noFill/>
                    </a:lnT>
                    <a:lnB w="9525">
                      <a:solidFill>
                        <a:srgbClr val="D9DEE6"/>
                      </a:solidFill>
                    </a:lnB>
                    <a:solidFill>
                      <a:srgbClr val="1F3A5F"/>
                    </a:solidFill>
                  </a:tcPr>
                </a:tc>
                <a:tc>
                  <a:txBody>
                    <a:bodyPr/>
                    <a:lstStyle/>
                    <a:p>
                      <a:pPr algn="ctr"/>
                      <a:r>
                        <a:rPr sz="1600" b="1">
                          <a:solidFill>
                            <a:srgbClr val="FFFFFF"/>
                          </a:solidFill>
                          <a:latin typeface="BIZ UDPゴシック"/>
                          <a:ea typeface="BIZ UDPゴシック"/>
                        </a:rPr>
                        <a:t>根拠</a:t>
                      </a:r>
                    </a:p>
                  </a:txBody>
                  <a:tcPr marL="91440" marR="91440" anchor="ctr">
                    <a:lnL w="0">
                      <a:noFill/>
                    </a:lnL>
                    <a:lnR w="0">
                      <a:noFill/>
                    </a:lnR>
                    <a:lnT w="0">
                      <a:noFill/>
                    </a:lnT>
                    <a:lnB w="9525">
                      <a:solidFill>
                        <a:srgbClr val="D9DEE6"/>
                      </a:solidFill>
                    </a:lnB>
                    <a:solidFill>
                      <a:srgbClr val="1F3A5F"/>
                    </a:solidFill>
                  </a:tcPr>
                </a:tc>
                <a:tc>
                  <a:txBody>
                    <a:bodyPr/>
                    <a:lstStyle/>
                    <a:p>
                      <a:pPr algn="ctr"/>
                      <a:r>
                        <a:rPr sz="1600" b="1">
                          <a:solidFill>
                            <a:srgbClr val="FFFFFF"/>
                          </a:solidFill>
                          <a:latin typeface="BIZ UDPゴシック"/>
                          <a:ea typeface="BIZ UDPゴシック"/>
                        </a:rPr>
                        <a:t>解析解</a:t>
                      </a:r>
                    </a:p>
                  </a:txBody>
                  <a:tcPr marL="91440" marR="91440" anchor="ctr">
                    <a:lnL w="0">
                      <a:noFill/>
                    </a:lnL>
                    <a:lnR w="0">
                      <a:noFill/>
                    </a:lnR>
                    <a:lnT w="0">
                      <a:noFill/>
                    </a:lnT>
                    <a:lnB w="9525">
                      <a:solidFill>
                        <a:srgbClr val="D9DEE6"/>
                      </a:solidFill>
                    </a:lnB>
                    <a:solidFill>
                      <a:srgbClr val="1F3A5F"/>
                    </a:solidFill>
                  </a:tcPr>
                </a:tc>
                <a:tc>
                  <a:txBody>
                    <a:bodyPr/>
                    <a:lstStyle/>
                    <a:p>
                      <a:pPr algn="ctr"/>
                      <a:r>
                        <a:rPr sz="1600" b="1">
                          <a:solidFill>
                            <a:srgbClr val="FFFFFF"/>
                          </a:solidFill>
                          <a:latin typeface="BIZ UDPゴシック"/>
                          <a:ea typeface="BIZ UDPゴシック"/>
                        </a:rPr>
                        <a:t>結果</a:t>
                      </a:r>
                    </a:p>
                  </a:txBody>
                  <a:tcPr marL="91440" marR="91440" anchor="ctr">
                    <a:lnL w="0">
                      <a:noFill/>
                    </a:lnL>
                    <a:lnR w="0">
                      <a:noFill/>
                    </a:lnR>
                    <a:lnT w="0">
                      <a:noFill/>
                    </a:lnT>
                    <a:lnB w="9525">
                      <a:solidFill>
                        <a:srgbClr val="D9DEE6"/>
                      </a:solidFill>
                    </a:lnB>
                    <a:solidFill>
                      <a:srgbClr val="215F9A"/>
                    </a:solidFill>
                  </a:tcPr>
                </a:tc>
              </a:tr>
              <a:tr h="457200">
                <a:tc>
                  <a:txBody>
                    <a:bodyPr/>
                    <a:lstStyle/>
                    <a:p>
                      <a:pPr algn="ctr"/>
                      <a:r>
                        <a:rPr sz="1800" b="0">
                          <a:solidFill>
                            <a:srgbClr val="262626"/>
                          </a:solidFill>
                          <a:latin typeface="BIZ UDPゴシック"/>
                          <a:ea typeface="BIZ UDPゴシック"/>
                        </a:rPr>
                        <a:t>P2G</a:t>
                      </a:r>
                    </a:p>
                  </a:txBody>
                  <a:tcPr marL="91440" marR="91440" anchor="ctr">
                    <a:lnL w="0">
                      <a:noFill/>
                    </a:lnL>
                    <a:lnR w="0">
                      <a:noFill/>
                    </a:lnR>
                    <a:lnT w="0">
                      <a:noFill/>
                    </a:lnT>
                    <a:lnB w="9525">
                      <a:solidFill>
                        <a:srgbClr val="D9DEE6"/>
                      </a:solidFill>
                    </a:lnB>
                    <a:noFill/>
                  </a:tcPr>
                </a:tc>
                <a:tc>
                  <a:txBody>
                    <a:bodyPr/>
                    <a:lstStyle/>
                    <a:p>
                      <a:pPr algn="ctr"/>
                      <a:r>
                        <a:rPr sz="1800" b="0">
                          <a:solidFill>
                            <a:srgbClr val="262626"/>
                          </a:solidFill>
                          <a:latin typeface="BIZ UDPゴシック"/>
                          <a:ea typeface="BIZ UDPゴシック"/>
                        </a:rPr>
                        <a:t>内部の密度</a:t>
                      </a:r>
                    </a:p>
                  </a:txBody>
                  <a:tcPr marL="91440" marR="91440" anchor="ctr">
                    <a:lnL w="0">
                      <a:noFill/>
                    </a:lnL>
                    <a:lnR w="0">
                      <a:noFill/>
                    </a:lnR>
                    <a:lnT w="0">
                      <a:noFill/>
                    </a:lnT>
                    <a:lnB w="9525">
                      <a:solidFill>
                        <a:srgbClr val="D9DEE6"/>
                      </a:solidFill>
                    </a:lnB>
                    <a:noFill/>
                  </a:tcPr>
                </a:tc>
                <a:tc>
                  <a:txBody>
                    <a:bodyPr/>
                    <a:lstStyle/>
                    <a:p>
                      <a:pPr algn="ctr"/>
                      <a:r>
                        <a:rPr sz="1800" b="0">
                          <a:solidFill>
                            <a:srgbClr val="262626"/>
                          </a:solidFill>
                          <a:latin typeface="BIZ UDPゴシック"/>
                          <a:ea typeface="BIZ UDPゴシック"/>
                        </a:rPr>
                        <a:t>密度 = 質量 / 体積</a:t>
                      </a:r>
                    </a:p>
                  </a:txBody>
                  <a:tcPr marL="91440" marR="91440" anchor="ctr">
                    <a:lnL w="0">
                      <a:noFill/>
                    </a:lnL>
                    <a:lnR w="0">
                      <a:noFill/>
                    </a:lnR>
                    <a:lnT w="0">
                      <a:noFill/>
                    </a:lnT>
                    <a:lnB w="9525">
                      <a:solidFill>
                        <a:srgbClr val="D9DEE6"/>
                      </a:solidFill>
                    </a:lnB>
                    <a:noFill/>
                  </a:tcPr>
                </a:tc>
                <a:tc>
                  <a:txBody>
                    <a:bodyPr/>
                    <a:lstStyle/>
                    <a:p>
                      <a:pPr algn="ctr"/>
                      <a:r>
                        <a:rPr sz="1800" b="0">
                          <a:solidFill>
                            <a:srgbClr val="262626"/>
                          </a:solidFill>
                          <a:latin typeface="BIZ UDPゴシック"/>
                          <a:ea typeface="BIZ UDPゴシック"/>
                        </a:rPr>
                        <a:t>1.5 g/cm³</a:t>
                      </a:r>
                    </a:p>
                  </a:txBody>
                  <a:tcPr marL="91440" marR="91440" anchor="ctr">
                    <a:lnL w="0">
                      <a:noFill/>
                    </a:lnL>
                    <a:lnR w="0">
                      <a:noFill/>
                    </a:lnR>
                    <a:lnT w="0">
                      <a:noFill/>
                    </a:lnT>
                    <a:lnB w="9525">
                      <a:solidFill>
                        <a:srgbClr val="D9DEE6"/>
                      </a:solidFill>
                    </a:lnB>
                    <a:noFill/>
                  </a:tcPr>
                </a:tc>
                <a:tc>
                  <a:txBody>
                    <a:bodyPr/>
                    <a:lstStyle/>
                    <a:p>
                      <a:pPr algn="ctr"/>
                      <a:r>
                        <a:rPr sz="1800" b="1">
                          <a:solidFill>
                            <a:srgbClr val="215F9A"/>
                          </a:solidFill>
                          <a:latin typeface="BIZ UDPゴシック"/>
                          <a:ea typeface="BIZ UDPゴシック"/>
                        </a:rPr>
                        <a:t>1.500 g/cm³</a:t>
                      </a:r>
                    </a:p>
                  </a:txBody>
                  <a:tcPr marL="91440" marR="91440" anchor="ctr">
                    <a:lnL w="0">
                      <a:noFill/>
                    </a:lnL>
                    <a:lnR w="0">
                      <a:noFill/>
                    </a:lnR>
                    <a:lnT w="0">
                      <a:noFill/>
                    </a:lnT>
                    <a:lnB w="9525">
                      <a:solidFill>
                        <a:srgbClr val="D9DEE6"/>
                      </a:solidFill>
                    </a:lnB>
                    <a:solidFill>
                      <a:srgbClr val="DCEAF7"/>
                    </a:solidFill>
                  </a:tcPr>
                </a:tc>
              </a:tr>
              <a:tr h="457200">
                <a:tc>
                  <a:txBody>
                    <a:bodyPr/>
                    <a:lstStyle/>
                    <a:p>
                      <a:pPr algn="ctr"/>
                      <a:r>
                        <a:rPr sz="1800" b="0">
                          <a:solidFill>
                            <a:srgbClr val="262626"/>
                          </a:solidFill>
                          <a:latin typeface="BIZ UDPゴシック"/>
                          <a:ea typeface="BIZ UDPゴシック"/>
                        </a:rPr>
                        <a:t>格子の更新</a:t>
                      </a:r>
                    </a:p>
                  </a:txBody>
                  <a:tcPr marL="91440" marR="91440" anchor="ctr">
                    <a:lnL w="0">
                      <a:noFill/>
                    </a:lnL>
                    <a:lnR w="0">
                      <a:noFill/>
                    </a:lnR>
                    <a:lnT w="0">
                      <a:noFill/>
                    </a:lnT>
                    <a:lnB w="9525">
                      <a:solidFill>
                        <a:srgbClr val="D9DEE6"/>
                      </a:solidFill>
                    </a:lnB>
                    <a:noFill/>
                  </a:tcPr>
                </a:tc>
                <a:tc>
                  <a:txBody>
                    <a:bodyPr/>
                    <a:lstStyle/>
                    <a:p>
                      <a:pPr algn="ctr"/>
                      <a:r>
                        <a:rPr sz="1800" b="0">
                          <a:solidFill>
                            <a:srgbClr val="262626"/>
                          </a:solidFill>
                          <a:latin typeface="BIZ UDPゴシック"/>
                          <a:ea typeface="BIZ UDPゴシック"/>
                        </a:rPr>
                        <a:t>1 ステップ目の速度※</a:t>
                      </a:r>
                    </a:p>
                  </a:txBody>
                  <a:tcPr marL="91440" marR="91440" anchor="ctr">
                    <a:lnL w="0">
                      <a:noFill/>
                    </a:lnL>
                    <a:lnR w="0">
                      <a:noFill/>
                    </a:lnR>
                    <a:lnT w="0">
                      <a:noFill/>
                    </a:lnT>
                    <a:lnB w="9525">
                      <a:solidFill>
                        <a:srgbClr val="D9DEE6"/>
                      </a:solidFill>
                    </a:lnB>
                    <a:noFill/>
                  </a:tcPr>
                </a:tc>
                <a:tc>
                  <a:txBody>
                    <a:bodyPr/>
                    <a:lstStyle/>
                    <a:p>
                      <a:pPr algn="ctr"/>
                      <a:r>
                        <a:rPr sz="1800" b="0">
                          <a:solidFill>
                            <a:srgbClr val="262626"/>
                          </a:solidFill>
                          <a:latin typeface="BIZ UDPゴシック"/>
                          <a:ea typeface="BIZ UDPゴシック"/>
                        </a:rPr>
                        <a:t>等加速度運動 v = gΔt</a:t>
                      </a:r>
                    </a:p>
                  </a:txBody>
                  <a:tcPr marL="91440" marR="91440" anchor="ctr">
                    <a:lnL w="0">
                      <a:noFill/>
                    </a:lnL>
                    <a:lnR w="0">
                      <a:noFill/>
                    </a:lnR>
                    <a:lnT w="0">
                      <a:noFill/>
                    </a:lnT>
                    <a:lnB w="9525">
                      <a:solidFill>
                        <a:srgbClr val="D9DEE6"/>
                      </a:solidFill>
                    </a:lnB>
                    <a:noFill/>
                  </a:tcPr>
                </a:tc>
                <a:tc>
                  <a:txBody>
                    <a:bodyPr/>
                    <a:lstStyle/>
                    <a:p>
                      <a:pPr algn="ctr"/>
                      <a:r>
                        <a:rPr sz="1800" b="0">
                          <a:solidFill>
                            <a:srgbClr val="262626"/>
                          </a:solidFill>
                          <a:latin typeface="BIZ UDPゴシック"/>
                          <a:ea typeface="BIZ UDPゴシック"/>
                        </a:rPr>
                        <a:t>−2.7 cm/s</a:t>
                      </a:r>
                    </a:p>
                  </a:txBody>
                  <a:tcPr marL="91440" marR="91440" anchor="ctr">
                    <a:lnL w="0">
                      <a:noFill/>
                    </a:lnL>
                    <a:lnR w="0">
                      <a:noFill/>
                    </a:lnR>
                    <a:lnT w="0">
                      <a:noFill/>
                    </a:lnT>
                    <a:lnB w="9525">
                      <a:solidFill>
                        <a:srgbClr val="D9DEE6"/>
                      </a:solidFill>
                    </a:lnB>
                    <a:noFill/>
                  </a:tcPr>
                </a:tc>
                <a:tc>
                  <a:txBody>
                    <a:bodyPr/>
                    <a:lstStyle/>
                    <a:p>
                      <a:pPr algn="ctr"/>
                      <a:r>
                        <a:rPr sz="1800" b="1">
                          <a:solidFill>
                            <a:srgbClr val="215F9A"/>
                          </a:solidFill>
                          <a:latin typeface="BIZ UDPゴシック"/>
                          <a:ea typeface="BIZ UDPゴシック"/>
                        </a:rPr>
                        <a:t>−2.699 cm/s</a:t>
                      </a:r>
                    </a:p>
                  </a:txBody>
                  <a:tcPr marL="91440" marR="91440" anchor="ctr">
                    <a:lnL w="0">
                      <a:noFill/>
                    </a:lnL>
                    <a:lnR w="0">
                      <a:noFill/>
                    </a:lnR>
                    <a:lnT w="0">
                      <a:noFill/>
                    </a:lnT>
                    <a:lnB w="9525">
                      <a:solidFill>
                        <a:srgbClr val="D9DEE6"/>
                      </a:solidFill>
                    </a:lnB>
                    <a:solidFill>
                      <a:srgbClr val="DCEAF7"/>
                    </a:solidFill>
                  </a:tcPr>
                </a:tc>
              </a:tr>
              <a:tr h="457200">
                <a:tc>
                  <a:txBody>
                    <a:bodyPr/>
                    <a:lstStyle/>
                    <a:p>
                      <a:pPr algn="ctr"/>
                      <a:r>
                        <a:rPr sz="1800" b="0">
                          <a:solidFill>
                            <a:srgbClr val="262626"/>
                          </a:solidFill>
                          <a:latin typeface="BIZ UDPゴシック"/>
                          <a:ea typeface="BIZ UDPゴシック"/>
                        </a:rPr>
                        <a:t>床</a:t>
                      </a:r>
                    </a:p>
                  </a:txBody>
                  <a:tcPr marL="91440" marR="91440" anchor="ctr">
                    <a:lnL w="0">
                      <a:noFill/>
                    </a:lnL>
                    <a:lnR w="0">
                      <a:noFill/>
                    </a:lnR>
                    <a:lnT w="0">
                      <a:noFill/>
                    </a:lnT>
                    <a:lnB w="9525">
                      <a:solidFill>
                        <a:srgbClr val="D9DEE6"/>
                      </a:solidFill>
                    </a:lnB>
                    <a:noFill/>
                  </a:tcPr>
                </a:tc>
                <a:tc>
                  <a:txBody>
                    <a:bodyPr/>
                    <a:lstStyle/>
                    <a:p>
                      <a:pPr algn="ctr"/>
                      <a:r>
                        <a:rPr sz="1800" b="0">
                          <a:solidFill>
                            <a:srgbClr val="262626"/>
                          </a:solidFill>
                          <a:latin typeface="BIZ UDPゴシック"/>
                          <a:ea typeface="BIZ UDPゴシック"/>
                        </a:rPr>
                        <a:t>停止位置と速度</a:t>
                      </a:r>
                    </a:p>
                  </a:txBody>
                  <a:tcPr marL="91440" marR="91440" anchor="ctr">
                    <a:lnL w="0">
                      <a:noFill/>
                    </a:lnL>
                    <a:lnR w="0">
                      <a:noFill/>
                    </a:lnR>
                    <a:lnT w="0">
                      <a:noFill/>
                    </a:lnT>
                    <a:lnB w="9525">
                      <a:solidFill>
                        <a:srgbClr val="D9DEE6"/>
                      </a:solidFill>
                    </a:lnB>
                    <a:noFill/>
                  </a:tcPr>
                </a:tc>
                <a:tc>
                  <a:txBody>
                    <a:bodyPr/>
                    <a:lstStyle/>
                    <a:p>
                      <a:pPr algn="ctr"/>
                      <a:r>
                        <a:rPr sz="1800" b="0">
                          <a:solidFill>
                            <a:srgbClr val="262626"/>
                          </a:solidFill>
                          <a:latin typeface="BIZ UDPゴシック"/>
                          <a:ea typeface="BIZ UDPゴシック"/>
                        </a:rPr>
                        <a:t>床にめり込まない条件</a:t>
                      </a:r>
                    </a:p>
                  </a:txBody>
                  <a:tcPr marL="91440" marR="91440" anchor="ctr">
                    <a:lnL w="0">
                      <a:noFill/>
                    </a:lnL>
                    <a:lnR w="0">
                      <a:noFill/>
                    </a:lnR>
                    <a:lnT w="0">
                      <a:noFill/>
                    </a:lnT>
                    <a:lnB w="9525">
                      <a:solidFill>
                        <a:srgbClr val="D9DEE6"/>
                      </a:solidFill>
                    </a:lnB>
                    <a:noFill/>
                  </a:tcPr>
                </a:tc>
                <a:tc>
                  <a:txBody>
                    <a:bodyPr/>
                    <a:lstStyle/>
                    <a:p>
                      <a:pPr algn="ctr"/>
                      <a:r>
                        <a:rPr sz="1800" b="0">
                          <a:solidFill>
                            <a:srgbClr val="262626"/>
                          </a:solidFill>
                          <a:latin typeface="BIZ UDPゴシック"/>
                          <a:ea typeface="BIZ UDPゴシック"/>
                        </a:rPr>
                        <a:t>z = −10、v = 0</a:t>
                      </a:r>
                    </a:p>
                  </a:txBody>
                  <a:tcPr marL="91440" marR="91440" anchor="ctr">
                    <a:lnL w="0">
                      <a:noFill/>
                    </a:lnL>
                    <a:lnR w="0">
                      <a:noFill/>
                    </a:lnR>
                    <a:lnT w="0">
                      <a:noFill/>
                    </a:lnT>
                    <a:lnB w="9525">
                      <a:solidFill>
                        <a:srgbClr val="D9DEE6"/>
                      </a:solidFill>
                    </a:lnB>
                    <a:noFill/>
                  </a:tcPr>
                </a:tc>
                <a:tc>
                  <a:txBody>
                    <a:bodyPr/>
                    <a:lstStyle/>
                    <a:p>
                      <a:pPr algn="ctr"/>
                      <a:r>
                        <a:rPr sz="1800" b="1">
                          <a:solidFill>
                            <a:srgbClr val="215F9A"/>
                          </a:solidFill>
                          <a:latin typeface="BIZ UDPゴシック"/>
                          <a:ea typeface="BIZ UDPゴシック"/>
                        </a:rPr>
                        <a:t>z = −10、v = 0</a:t>
                      </a:r>
                    </a:p>
                  </a:txBody>
                  <a:tcPr marL="91440" marR="91440" anchor="ctr">
                    <a:lnL w="0">
                      <a:noFill/>
                    </a:lnL>
                    <a:lnR w="0">
                      <a:noFill/>
                    </a:lnR>
                    <a:lnT w="0">
                      <a:noFill/>
                    </a:lnT>
                    <a:lnB w="9525">
                      <a:solidFill>
                        <a:srgbClr val="D9DEE6"/>
                      </a:solidFill>
                    </a:lnB>
                    <a:solidFill>
                      <a:srgbClr val="DCEAF7"/>
                    </a:solidFill>
                  </a:tcPr>
                </a:tc>
              </a:tr>
              <a:tr h="457200">
                <a:tc>
                  <a:txBody>
                    <a:bodyPr/>
                    <a:lstStyle/>
                    <a:p>
                      <a:pPr algn="ctr"/>
                      <a:r>
                        <a:rPr sz="1800" b="0">
                          <a:solidFill>
                            <a:srgbClr val="262626"/>
                          </a:solidFill>
                          <a:latin typeface="BIZ UDPゴシック"/>
                          <a:ea typeface="BIZ UDPゴシック"/>
                        </a:rPr>
                        <a:t>APIC</a:t>
                      </a:r>
                    </a:p>
                  </a:txBody>
                  <a:tcPr marL="91440" marR="91440" anchor="ctr">
                    <a:lnL w="0">
                      <a:noFill/>
                    </a:lnL>
                    <a:lnR w="0">
                      <a:noFill/>
                    </a:lnR>
                    <a:lnT w="0">
                      <a:noFill/>
                    </a:lnT>
                    <a:lnB w="9525">
                      <a:solidFill>
                        <a:srgbClr val="D9DEE6"/>
                      </a:solidFill>
                    </a:lnB>
                    <a:noFill/>
                  </a:tcPr>
                </a:tc>
                <a:tc>
                  <a:txBody>
                    <a:bodyPr/>
                    <a:lstStyle/>
                    <a:p>
                      <a:pPr algn="ctr"/>
                      <a:r>
                        <a:rPr sz="1800" b="0">
                          <a:solidFill>
                            <a:srgbClr val="262626"/>
                          </a:solidFill>
                          <a:latin typeface="BIZ UDPゴシック"/>
                          <a:ea typeface="BIZ UDPゴシック"/>
                        </a:rPr>
                        <a:t>静止粒子の C_zz</a:t>
                      </a:r>
                    </a:p>
                  </a:txBody>
                  <a:tcPr marL="91440" marR="91440" anchor="ctr">
                    <a:lnL w="0">
                      <a:noFill/>
                    </a:lnL>
                    <a:lnR w="0">
                      <a:noFill/>
                    </a:lnR>
                    <a:lnT w="0">
                      <a:noFill/>
                    </a:lnT>
                    <a:lnB w="9525">
                      <a:solidFill>
                        <a:srgbClr val="D9DEE6"/>
                      </a:solidFill>
                    </a:lnB>
                    <a:noFill/>
                  </a:tcPr>
                </a:tc>
                <a:tc>
                  <a:txBody>
                    <a:bodyPr/>
                    <a:lstStyle/>
                    <a:p>
                      <a:pPr algn="ctr"/>
                      <a:r>
                        <a:rPr sz="1800" b="0">
                          <a:solidFill>
                            <a:srgbClr val="262626"/>
                          </a:solidFill>
                          <a:latin typeface="BIZ UDPゴシック"/>
                          <a:ea typeface="BIZ UDPゴシック"/>
                        </a:rPr>
                        <a:t>速度勾配の定義式</a:t>
                      </a:r>
                    </a:p>
                  </a:txBody>
                  <a:tcPr marL="91440" marR="91440" anchor="ctr">
                    <a:lnL w="0">
                      <a:noFill/>
                    </a:lnL>
                    <a:lnR w="0">
                      <a:noFill/>
                    </a:lnR>
                    <a:lnT w="0">
                      <a:noFill/>
                    </a:lnT>
                    <a:lnB w="9525">
                      <a:solidFill>
                        <a:srgbClr val="D9DEE6"/>
                      </a:solidFill>
                    </a:lnB>
                    <a:noFill/>
                  </a:tcPr>
                </a:tc>
                <a:tc>
                  <a:txBody>
                    <a:bodyPr/>
                    <a:lstStyle/>
                    <a:p>
                      <a:pPr algn="ctr"/>
                      <a:r>
                        <a:rPr sz="1800" b="0">
                          <a:solidFill>
                            <a:srgbClr val="262626"/>
                          </a:solidFill>
                          <a:latin typeface="BIZ UDPゴシック"/>
                          <a:ea typeface="BIZ UDPゴシック"/>
                        </a:rPr>
                        <a:t>−0.675 /s</a:t>
                      </a:r>
                    </a:p>
                  </a:txBody>
                  <a:tcPr marL="91440" marR="91440" anchor="ctr">
                    <a:lnL w="0">
                      <a:noFill/>
                    </a:lnL>
                    <a:lnR w="0">
                      <a:noFill/>
                    </a:lnR>
                    <a:lnT w="0">
                      <a:noFill/>
                    </a:lnT>
                    <a:lnB w="9525">
                      <a:solidFill>
                        <a:srgbClr val="D9DEE6"/>
                      </a:solidFill>
                    </a:lnB>
                    <a:noFill/>
                  </a:tcPr>
                </a:tc>
                <a:tc>
                  <a:txBody>
                    <a:bodyPr/>
                    <a:lstStyle/>
                    <a:p>
                      <a:pPr algn="ctr"/>
                      <a:r>
                        <a:rPr sz="1800" b="1">
                          <a:solidFill>
                            <a:srgbClr val="215F9A"/>
                          </a:solidFill>
                          <a:latin typeface="BIZ UDPゴシック"/>
                          <a:ea typeface="BIZ UDPゴシック"/>
                        </a:rPr>
                        <a:t>−0.675 /s</a:t>
                      </a:r>
                    </a:p>
                  </a:txBody>
                  <a:tcPr marL="91440" marR="91440" anchor="ctr">
                    <a:lnL w="0">
                      <a:noFill/>
                    </a:lnL>
                    <a:lnR w="0">
                      <a:noFill/>
                    </a:lnR>
                    <a:lnT w="0">
                      <a:noFill/>
                    </a:lnT>
                    <a:lnB w="9525">
                      <a:solidFill>
                        <a:srgbClr val="D9DEE6"/>
                      </a:solidFill>
                    </a:lnB>
                    <a:solidFill>
                      <a:srgbClr val="DCEAF7"/>
                    </a:solidFill>
                  </a:tcPr>
                </a:tc>
              </a:tr>
              <a:tr h="457200">
                <a:tc>
                  <a:txBody>
                    <a:bodyPr/>
                    <a:lstStyle/>
                    <a:p>
                      <a:pPr algn="ctr"/>
                      <a:r>
                        <a:rPr sz="1800" b="0">
                          <a:solidFill>
                            <a:srgbClr val="262626"/>
                          </a:solidFill>
                          <a:latin typeface="BIZ UDPゴシック"/>
                          <a:ea typeface="BIZ UDPゴシック"/>
                        </a:rPr>
                        <a:t>変形勾配 F</a:t>
                      </a:r>
                    </a:p>
                  </a:txBody>
                  <a:tcPr marL="91440" marR="91440" anchor="ctr">
                    <a:lnL w="0">
                      <a:noFill/>
                    </a:lnL>
                    <a:lnR w="0">
                      <a:noFill/>
                    </a:lnR>
                    <a:lnT w="0">
                      <a:noFill/>
                    </a:lnT>
                    <a:lnB w="9525">
                      <a:solidFill>
                        <a:srgbClr val="D9DEE6"/>
                      </a:solidFill>
                    </a:lnB>
                    <a:noFill/>
                  </a:tcPr>
                </a:tc>
                <a:tc>
                  <a:txBody>
                    <a:bodyPr/>
                    <a:lstStyle/>
                    <a:p>
                      <a:pPr algn="ctr"/>
                      <a:r>
                        <a:rPr sz="1800" b="0">
                          <a:solidFill>
                            <a:srgbClr val="262626"/>
                          </a:solidFill>
                          <a:latin typeface="BIZ UDPゴシック"/>
                          <a:ea typeface="BIZ UDPゴシック"/>
                        </a:rPr>
                        <a:t>着地前の F</a:t>
                      </a:r>
                    </a:p>
                  </a:txBody>
                  <a:tcPr marL="91440" marR="91440" anchor="ctr">
                    <a:lnL w="0">
                      <a:noFill/>
                    </a:lnL>
                    <a:lnR w="0">
                      <a:noFill/>
                    </a:lnR>
                    <a:lnT w="0">
                      <a:noFill/>
                    </a:lnT>
                    <a:lnB w="9525">
                      <a:solidFill>
                        <a:srgbClr val="D9DEE6"/>
                      </a:solidFill>
                    </a:lnB>
                    <a:noFill/>
                  </a:tcPr>
                </a:tc>
                <a:tc>
                  <a:txBody>
                    <a:bodyPr/>
                    <a:lstStyle/>
                    <a:p>
                      <a:pPr algn="ctr"/>
                      <a:r>
                        <a:rPr sz="1800" b="0">
                          <a:solidFill>
                            <a:srgbClr val="262626"/>
                          </a:solidFill>
                          <a:latin typeface="BIZ UDPゴシック"/>
                          <a:ea typeface="BIZ UDPゴシック"/>
                        </a:rPr>
                        <a:t>平行移動では変形しない</a:t>
                      </a:r>
                    </a:p>
                  </a:txBody>
                  <a:tcPr marL="91440" marR="91440" anchor="ctr">
                    <a:lnL w="0">
                      <a:noFill/>
                    </a:lnL>
                    <a:lnR w="0">
                      <a:noFill/>
                    </a:lnR>
                    <a:lnT w="0">
                      <a:noFill/>
                    </a:lnT>
                    <a:lnB w="9525">
                      <a:solidFill>
                        <a:srgbClr val="D9DEE6"/>
                      </a:solidFill>
                    </a:lnB>
                    <a:noFill/>
                  </a:tcPr>
                </a:tc>
                <a:tc>
                  <a:txBody>
                    <a:bodyPr/>
                    <a:lstStyle/>
                    <a:p>
                      <a:pPr algn="ctr"/>
                      <a:r>
                        <a:rPr sz="1800" b="0">
                          <a:solidFill>
                            <a:srgbClr val="262626"/>
                          </a:solidFill>
                          <a:latin typeface="BIZ UDPゴシック"/>
                          <a:ea typeface="BIZ UDPゴシック"/>
                        </a:rPr>
                        <a:t>単位行列 I</a:t>
                      </a:r>
                    </a:p>
                  </a:txBody>
                  <a:tcPr marL="91440" marR="91440" anchor="ctr">
                    <a:lnL w="0">
                      <a:noFill/>
                    </a:lnL>
                    <a:lnR w="0">
                      <a:noFill/>
                    </a:lnR>
                    <a:lnT w="0">
                      <a:noFill/>
                    </a:lnT>
                    <a:lnB w="9525">
                      <a:solidFill>
                        <a:srgbClr val="D9DEE6"/>
                      </a:solidFill>
                    </a:lnB>
                    <a:noFill/>
                  </a:tcPr>
                </a:tc>
                <a:tc>
                  <a:txBody>
                    <a:bodyPr/>
                    <a:lstStyle/>
                    <a:p>
                      <a:pPr algn="ctr"/>
                      <a:r>
                        <a:rPr sz="1800" b="1">
                          <a:solidFill>
                            <a:srgbClr val="215F9A"/>
                          </a:solidFill>
                          <a:latin typeface="BIZ UDPゴシック"/>
                          <a:ea typeface="BIZ UDPゴシック"/>
                        </a:rPr>
                        <a:t>全粒子で I</a:t>
                      </a:r>
                    </a:p>
                  </a:txBody>
                  <a:tcPr marL="91440" marR="91440" anchor="ctr">
                    <a:lnL w="0">
                      <a:noFill/>
                    </a:lnL>
                    <a:lnR w="0">
                      <a:noFill/>
                    </a:lnR>
                    <a:lnT w="0">
                      <a:noFill/>
                    </a:lnT>
                    <a:lnB w="9525">
                      <a:solidFill>
                        <a:srgbClr val="D9DEE6"/>
                      </a:solidFill>
                    </a:lnB>
                    <a:solidFill>
                      <a:srgbClr val="DCEAF7"/>
                    </a:solidFill>
                  </a:tcPr>
                </a:tc>
              </a:tr>
            </a:tbl>
          </a:graphicData>
        </a:graphic>
      </p:graphicFrame>
      <p:sp>
        <p:nvSpPr>
          <p:cNvPr id="8" name="結論の面"/>
          <p:cNvSpPr/>
          <p:nvPr/>
        </p:nvSpPr>
        <p:spPr>
          <a:xfrm>
            <a:off x="3291840" y="4480560"/>
            <a:ext cx="5605272" cy="749808"/>
          </a:xfrm>
          <a:prstGeom prst="roundRect">
            <a:avLst>
              <a:gd name="adj" fmla="val 18000"/>
            </a:avLst>
          </a:prstGeom>
          <a:solidFill>
            <a:srgbClr val="DCE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66160" y="4480560"/>
            <a:ext cx="5056632" cy="749808"/>
          </a:xfrm>
          <a:prstGeom prst="rect">
            <a:avLst/>
          </a:prstGeom>
          <a:noFill/>
        </p:spPr>
        <p:txBody>
          <a:bodyPr wrap="square" anchor="ctr" lIns="0" rIns="0" tIns="0" bIns="0">
            <a:spAutoFit/>
          </a:bodyPr>
          <a:lstStyle/>
          <a:p>
            <a:pPr algn="ctr">
              <a:lnSpc>
                <a:spcPct val="120000"/>
              </a:lnSpc>
            </a:pPr>
            <a:r>
              <a:rPr sz="2400" b="1">
                <a:solidFill>
                  <a:srgbClr val="1F3A5F"/>
                </a:solidFill>
                <a:latin typeface="BIZ UDPゴシック"/>
                <a:ea typeface="BIZ UDPゴシック"/>
              </a:rPr>
              <a:t>すべての段で </a:t>
            </a:r>
            <a:r>
              <a:rPr sz="2400" b="1" u="heavy">
                <a:solidFill>
                  <a:srgbClr val="215F9A"/>
                </a:solidFill>
                <a:uFill>
                  <a:solidFill>
                    <a:srgbClr val="FFC000"/>
                  </a:solidFill>
                </a:uFill>
                <a:latin typeface="BIZ UDPゴシック"/>
                <a:ea typeface="BIZ UDPゴシック"/>
              </a:rPr>
              <a:t>解析解と一致</a:t>
            </a:r>
          </a:p>
        </p:txBody>
      </p:sp>
      <p:sp>
        <p:nvSpPr>
          <p:cNvPr id="10" name="TextBox 9"/>
          <p:cNvSpPr txBox="1"/>
          <p:nvPr/>
        </p:nvSpPr>
        <p:spPr>
          <a:xfrm>
            <a:off x="548640" y="6139053"/>
            <a:ext cx="11064240" cy="188595"/>
          </a:xfrm>
          <a:prstGeom prst="rect">
            <a:avLst/>
          </a:prstGeom>
          <a:noFill/>
        </p:spPr>
        <p:txBody>
          <a:bodyPr wrap="square" anchor="t" lIns="0" rIns="0" tIns="0" bIns="0">
            <a:spAutoFit/>
          </a:bodyPr>
          <a:lstStyle/>
          <a:p>
            <a:pPr algn="l">
              <a:lnSpc>
                <a:spcPct val="100000"/>
              </a:lnSpc>
            </a:pPr>
            <a:r>
              <a:rPr sz="1100" b="0">
                <a:solidFill>
                  <a:srgbClr val="8C8C8C"/>
                </a:solidFill>
                <a:latin typeface="BIZ UDPゴシック"/>
                <a:ea typeface="BIZ UDPゴシック"/>
              </a:rPr>
              <a:t>※ この確認のみ Δt = 1/60 s で実施</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11512" y="6400800"/>
            <a:ext cx="1828800" cy="228600"/>
          </a:xfrm>
          <a:prstGeom prst="rect">
            <a:avLst/>
          </a:prstGeom>
          <a:noFill/>
        </p:spPr>
        <p:txBody>
          <a:bodyPr wrap="square" anchor="ctr" lIns="0" rIns="0" tIns="0" bIns="0">
            <a:spAutoFit/>
          </a:bodyPr>
          <a:lstStyle/>
          <a:p>
            <a:pPr algn="r">
              <a:lnSpc>
                <a:spcPct val="120000"/>
              </a:lnSpc>
            </a:pPr>
            <a:r>
              <a:rPr sz="1200" b="1">
                <a:solidFill>
                  <a:srgbClr val="4E95D9"/>
                </a:solidFill>
                <a:latin typeface="BIZ UDPゴシック"/>
                <a:ea typeface="BIZ UDPゴシック"/>
              </a:rPr>
              <a:t>22</a:t>
            </a:r>
            <a:r>
              <a:rPr sz="1200" b="0">
                <a:solidFill>
                  <a:srgbClr val="8C8C8C"/>
                </a:solidFill>
                <a:latin typeface="BIZ UDPゴシック"/>
                <a:ea typeface="BIZ UDPゴシック"/>
              </a:rPr>
              <a:t> / 26</a:t>
            </a:r>
          </a:p>
        </p:txBody>
      </p:sp>
      <p:sp>
        <p:nvSpPr>
          <p:cNvPr id="3" name="下端の線"/>
          <p:cNvSpPr/>
          <p:nvPr/>
        </p:nvSpPr>
        <p:spPr>
          <a:xfrm>
            <a:off x="0" y="6803136"/>
            <a:ext cx="12192000" cy="54864"/>
          </a:xfrm>
          <a:prstGeom prst="rect">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の札"/>
          <p:cNvSpPr/>
          <p:nvPr/>
        </p:nvSpPr>
        <p:spPr>
          <a:xfrm>
            <a:off x="548640" y="292608"/>
            <a:ext cx="1287780" cy="274320"/>
          </a:xfrm>
          <a:prstGeom prst="roundRect">
            <a:avLst>
              <a:gd name="adj" fmla="val 50000"/>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BIZ UDPゴシック"/>
                <a:ea typeface="BIZ UDPゴシック"/>
              </a:rPr>
              <a:t>05  進捗</a:t>
            </a:r>
          </a:p>
        </p:txBody>
      </p:sp>
      <p:sp>
        <p:nvSpPr>
          <p:cNvPr id="5" name="TextBox 4"/>
          <p:cNvSpPr txBox="1"/>
          <p:nvPr/>
        </p:nvSpPr>
        <p:spPr>
          <a:xfrm>
            <a:off x="548640" y="621792"/>
            <a:ext cx="11064240" cy="548640"/>
          </a:xfrm>
          <a:prstGeom prst="rect">
            <a:avLst/>
          </a:prstGeom>
          <a:noFill/>
        </p:spPr>
        <p:txBody>
          <a:bodyPr wrap="square" anchor="ctr" lIns="0" rIns="0" tIns="0" bIns="0">
            <a:spAutoFit/>
          </a:bodyPr>
          <a:lstStyle/>
          <a:p>
            <a:pPr algn="l">
              <a:lnSpc>
                <a:spcPct val="100000"/>
              </a:lnSpc>
            </a:pPr>
            <a:r>
              <a:rPr sz="3000" b="1">
                <a:solidFill>
                  <a:srgbClr val="1F3A5F"/>
                </a:solidFill>
                <a:latin typeface="BIZ UDPゴシック"/>
                <a:ea typeface="BIZ UDPゴシック"/>
              </a:rPr>
              <a:t>今回の進捗：現状の挙動と課題</a:t>
            </a:r>
          </a:p>
        </p:txBody>
      </p:sp>
      <p:sp>
        <p:nvSpPr>
          <p:cNvPr id="6" name="区切り線"/>
          <p:cNvSpPr/>
          <p:nvPr/>
        </p:nvSpPr>
        <p:spPr>
          <a:xfrm>
            <a:off x="548640" y="1225296"/>
            <a:ext cx="11091672" cy="12700"/>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画像の差し込み位置：圧力モデルでの粒子の様子"/>
          <p:cNvSpPr/>
          <p:nvPr/>
        </p:nvSpPr>
        <p:spPr>
          <a:xfrm>
            <a:off x="548640" y="1463040"/>
            <a:ext cx="4937760" cy="2779776"/>
          </a:xfrm>
          <a:prstGeom prst="roundRect">
            <a:avLst>
              <a:gd name="adj" fmla="val 6000"/>
            </a:avLst>
          </a:prstGeom>
          <a:solidFill>
            <a:srgbClr val="F5F6F8"/>
          </a:solidFill>
          <a:ln w="15875">
            <a:solidFill>
              <a:srgbClr val="8C8C8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a:solidFill>
                  <a:srgbClr val="8C8C8C"/>
                </a:solidFill>
                <a:latin typeface="BIZ UDPゴシック"/>
                <a:ea typeface="BIZ UDPゴシック"/>
              </a:rPr>
              <a:t>［画像を差し込む］</a:t>
            </a:r>
          </a:p>
          <a:p>
            <a:pPr algn="ctr"/>
            <a:r>
              <a:rPr sz="1600" b="0">
                <a:solidFill>
                  <a:srgbClr val="8C8C8C"/>
                </a:solidFill>
                <a:latin typeface="BIZ UDPゴシック"/>
                <a:ea typeface="BIZ UDPゴシック"/>
              </a:rPr>
              <a:t>圧力モデルでの粒子の様子</a:t>
            </a:r>
          </a:p>
        </p:txBody>
      </p:sp>
      <p:sp>
        <p:nvSpPr>
          <p:cNvPr id="8" name="TextBox 7"/>
          <p:cNvSpPr txBox="1"/>
          <p:nvPr/>
        </p:nvSpPr>
        <p:spPr>
          <a:xfrm>
            <a:off x="548640" y="4315968"/>
            <a:ext cx="4937760" cy="320040"/>
          </a:xfrm>
          <a:prstGeom prst="rect">
            <a:avLst/>
          </a:prstGeom>
          <a:noFill/>
        </p:spPr>
        <p:txBody>
          <a:bodyPr wrap="square" anchor="t" lIns="0" rIns="0" tIns="0" bIns="0">
            <a:spAutoFit/>
          </a:bodyPr>
          <a:lstStyle/>
          <a:p>
            <a:pPr algn="ctr">
              <a:lnSpc>
                <a:spcPct val="120000"/>
              </a:lnSpc>
            </a:pPr>
            <a:r>
              <a:rPr sz="1600" b="0">
                <a:solidFill>
                  <a:srgbClr val="8C8C8C"/>
                </a:solidFill>
                <a:latin typeface="BIZ UDPゴシック"/>
                <a:ea typeface="BIZ UDPゴシック"/>
              </a:rPr>
              <a:t>床に着いたあとも揺れ続ける</a:t>
            </a:r>
          </a:p>
        </p:txBody>
      </p:sp>
      <p:sp>
        <p:nvSpPr>
          <p:cNvPr id="9" name="行頭の点"/>
          <p:cNvSpPr/>
          <p:nvPr/>
        </p:nvSpPr>
        <p:spPr>
          <a:xfrm>
            <a:off x="5943600" y="1752473"/>
            <a:ext cx="100584" cy="100584"/>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81090" y="1600200"/>
            <a:ext cx="5459222" cy="405130"/>
          </a:xfrm>
          <a:prstGeom prst="rect">
            <a:avLst/>
          </a:prstGeom>
          <a:noFill/>
        </p:spPr>
        <p:txBody>
          <a:bodyPr wrap="square" anchor="ctr" lIns="0" rIns="0" tIns="0" bIns="0">
            <a:spAutoFit/>
          </a:bodyPr>
          <a:lstStyle/>
          <a:p>
            <a:pPr algn="l">
              <a:lnSpc>
                <a:spcPct val="120000"/>
              </a:lnSpc>
            </a:pPr>
            <a:r>
              <a:rPr sz="2200" b="0">
                <a:solidFill>
                  <a:srgbClr val="262626"/>
                </a:solidFill>
                <a:latin typeface="BIZ UDPゴシック"/>
                <a:ea typeface="BIZ UDPゴシック"/>
              </a:rPr>
              <a:t>圧力で体積が回復</a:t>
            </a:r>
          </a:p>
        </p:txBody>
      </p:sp>
      <p:sp>
        <p:nvSpPr>
          <p:cNvPr id="11" name="TextBox 10"/>
          <p:cNvSpPr txBox="1"/>
          <p:nvPr/>
        </p:nvSpPr>
        <p:spPr>
          <a:xfrm>
            <a:off x="6181090" y="2005330"/>
            <a:ext cx="5459222" cy="331470"/>
          </a:xfrm>
          <a:prstGeom prst="rect">
            <a:avLst/>
          </a:prstGeom>
          <a:noFill/>
        </p:spPr>
        <p:txBody>
          <a:bodyPr wrap="square" anchor="t" lIns="0" rIns="0" tIns="0" bIns="0">
            <a:spAutoFit/>
          </a:bodyPr>
          <a:lstStyle/>
          <a:p>
            <a:pPr algn="l">
              <a:lnSpc>
                <a:spcPct val="120000"/>
              </a:lnSpc>
            </a:pPr>
            <a:r>
              <a:rPr sz="1800" b="0">
                <a:solidFill>
                  <a:srgbClr val="8C8C8C"/>
                </a:solidFill>
                <a:latin typeface="BIZ UDPゴシック"/>
                <a:ea typeface="BIZ UDPゴシック"/>
              </a:rPr>
              <a:t>J = 0.92〜1.08（初期値 1）</a:t>
            </a:r>
          </a:p>
        </p:txBody>
      </p:sp>
      <p:sp>
        <p:nvSpPr>
          <p:cNvPr id="12" name="行頭の点"/>
          <p:cNvSpPr/>
          <p:nvPr/>
        </p:nvSpPr>
        <p:spPr>
          <a:xfrm>
            <a:off x="5943600" y="2670683"/>
            <a:ext cx="100584" cy="100584"/>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1090" y="2518410"/>
            <a:ext cx="5459222" cy="405130"/>
          </a:xfrm>
          <a:prstGeom prst="rect">
            <a:avLst/>
          </a:prstGeom>
          <a:noFill/>
        </p:spPr>
        <p:txBody>
          <a:bodyPr wrap="square" anchor="ctr" lIns="0" rIns="0" tIns="0" bIns="0">
            <a:spAutoFit/>
          </a:bodyPr>
          <a:lstStyle/>
          <a:p>
            <a:pPr algn="l">
              <a:lnSpc>
                <a:spcPct val="120000"/>
              </a:lnSpc>
            </a:pPr>
            <a:r>
              <a:rPr sz="2200" b="0">
                <a:solidFill>
                  <a:srgbClr val="262626"/>
                </a:solidFill>
                <a:latin typeface="BIZ UDPゴシック"/>
                <a:ea typeface="BIZ UDPゴシック"/>
              </a:rPr>
              <a:t>床に着いたあと揺れ続ける</a:t>
            </a:r>
          </a:p>
        </p:txBody>
      </p:sp>
      <p:sp>
        <p:nvSpPr>
          <p:cNvPr id="14" name="TextBox 13"/>
          <p:cNvSpPr txBox="1"/>
          <p:nvPr/>
        </p:nvSpPr>
        <p:spPr>
          <a:xfrm>
            <a:off x="6181090" y="2923540"/>
            <a:ext cx="5459222" cy="662940"/>
          </a:xfrm>
          <a:prstGeom prst="rect">
            <a:avLst/>
          </a:prstGeom>
          <a:noFill/>
        </p:spPr>
        <p:txBody>
          <a:bodyPr wrap="square" anchor="t" lIns="0" rIns="0" tIns="0" bIns="0">
            <a:spAutoFit/>
          </a:bodyPr>
          <a:lstStyle/>
          <a:p>
            <a:pPr algn="l">
              <a:lnSpc>
                <a:spcPct val="120000"/>
              </a:lnSpc>
            </a:pPr>
            <a:r>
              <a:rPr sz="1800" b="0">
                <a:solidFill>
                  <a:srgbClr val="8C8C8C"/>
                </a:solidFill>
                <a:latin typeface="BIZ UDPゴシック"/>
                <a:ea typeface="BIZ UDPゴシック"/>
              </a:rPr>
              <a:t>ずれに抵抗しない（流体と同じ）</a:t>
            </a:r>
          </a:p>
          <a:p>
            <a:pPr algn="l">
              <a:lnSpc>
                <a:spcPct val="120000"/>
              </a:lnSpc>
            </a:pPr>
            <a:r>
              <a:rPr sz="1800" b="0">
                <a:solidFill>
                  <a:srgbClr val="8C8C8C"/>
                </a:solidFill>
                <a:latin typeface="BIZ UDPゴシック"/>
                <a:ea typeface="BIZ UDPゴシック"/>
              </a:rPr>
              <a:t>揺れを減衰させる仕組みがない</a:t>
            </a:r>
          </a:p>
        </p:txBody>
      </p:sp>
      <p:sp>
        <p:nvSpPr>
          <p:cNvPr id="15" name="結論の面"/>
          <p:cNvSpPr/>
          <p:nvPr/>
        </p:nvSpPr>
        <p:spPr>
          <a:xfrm>
            <a:off x="2194560" y="4800600"/>
            <a:ext cx="7799832" cy="749808"/>
          </a:xfrm>
          <a:prstGeom prst="roundRect">
            <a:avLst>
              <a:gd name="adj" fmla="val 18000"/>
            </a:avLst>
          </a:prstGeom>
          <a:solidFill>
            <a:srgbClr val="DCE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68880" y="4800600"/>
            <a:ext cx="7251192" cy="749808"/>
          </a:xfrm>
          <a:prstGeom prst="rect">
            <a:avLst/>
          </a:prstGeom>
          <a:noFill/>
        </p:spPr>
        <p:txBody>
          <a:bodyPr wrap="square" anchor="ctr" lIns="0" rIns="0" tIns="0" bIns="0">
            <a:spAutoFit/>
          </a:bodyPr>
          <a:lstStyle/>
          <a:p>
            <a:pPr algn="ctr">
              <a:lnSpc>
                <a:spcPct val="120000"/>
              </a:lnSpc>
            </a:pPr>
            <a:r>
              <a:rPr sz="2400" b="1">
                <a:solidFill>
                  <a:srgbClr val="1F3A5F"/>
                </a:solidFill>
                <a:latin typeface="BIZ UDPゴシック"/>
                <a:ea typeface="BIZ UDPゴシック"/>
              </a:rPr>
              <a:t>砂として振る舞わせるには </a:t>
            </a:r>
            <a:r>
              <a:rPr sz="2400" b="1" u="heavy">
                <a:solidFill>
                  <a:srgbClr val="215F9A"/>
                </a:solidFill>
                <a:uFill>
                  <a:solidFill>
                    <a:srgbClr val="FFC000"/>
                  </a:solidFill>
                </a:uFill>
                <a:latin typeface="BIZ UDPゴシック"/>
                <a:ea typeface="BIZ UDPゴシック"/>
              </a:rPr>
              <a:t>弾性と塑性</a:t>
            </a:r>
            <a:r>
              <a:rPr sz="2400" b="1">
                <a:solidFill>
                  <a:srgbClr val="1F3A5F"/>
                </a:solidFill>
                <a:latin typeface="BIZ UDPゴシック"/>
                <a:ea typeface="BIZ UDPゴシック"/>
              </a:rPr>
              <a:t> が必要</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11512" y="6400800"/>
            <a:ext cx="1828800" cy="228600"/>
          </a:xfrm>
          <a:prstGeom prst="rect">
            <a:avLst/>
          </a:prstGeom>
          <a:noFill/>
        </p:spPr>
        <p:txBody>
          <a:bodyPr wrap="square" anchor="ctr" lIns="0" rIns="0" tIns="0" bIns="0">
            <a:spAutoFit/>
          </a:bodyPr>
          <a:lstStyle/>
          <a:p>
            <a:pPr algn="r">
              <a:lnSpc>
                <a:spcPct val="120000"/>
              </a:lnSpc>
            </a:pPr>
            <a:r>
              <a:rPr sz="1200" b="1">
                <a:solidFill>
                  <a:srgbClr val="4E95D9"/>
                </a:solidFill>
                <a:latin typeface="BIZ UDPゴシック"/>
                <a:ea typeface="BIZ UDPゴシック"/>
              </a:rPr>
              <a:t>23</a:t>
            </a:r>
            <a:r>
              <a:rPr sz="1200" b="0">
                <a:solidFill>
                  <a:srgbClr val="8C8C8C"/>
                </a:solidFill>
                <a:latin typeface="BIZ UDPゴシック"/>
                <a:ea typeface="BIZ UDPゴシック"/>
              </a:rPr>
              <a:t> / 26</a:t>
            </a:r>
          </a:p>
        </p:txBody>
      </p:sp>
      <p:sp>
        <p:nvSpPr>
          <p:cNvPr id="3" name="下端の線"/>
          <p:cNvSpPr/>
          <p:nvPr/>
        </p:nvSpPr>
        <p:spPr>
          <a:xfrm>
            <a:off x="0" y="6803136"/>
            <a:ext cx="12192000" cy="54864"/>
          </a:xfrm>
          <a:prstGeom prst="rect">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5029200" cy="2194560"/>
          </a:xfrm>
          <a:prstGeom prst="rect">
            <a:avLst/>
          </a:prstGeom>
          <a:noFill/>
        </p:spPr>
        <p:txBody>
          <a:bodyPr wrap="square" anchor="b" lIns="0" rIns="0" tIns="0" bIns="0">
            <a:spAutoFit/>
          </a:bodyPr>
          <a:lstStyle/>
          <a:p>
            <a:pPr algn="l">
              <a:lnSpc>
                <a:spcPct val="90000"/>
              </a:lnSpc>
            </a:pPr>
            <a:r>
              <a:rPr sz="15000" b="1">
                <a:solidFill>
                  <a:srgbClr val="DCEAF7"/>
                </a:solidFill>
                <a:latin typeface="BIZ UDPゴシック"/>
                <a:ea typeface="BIZ UDPゴシック"/>
              </a:rPr>
              <a:t>06</a:t>
            </a:r>
          </a:p>
        </p:txBody>
      </p:sp>
      <p:sp>
        <p:nvSpPr>
          <p:cNvPr id="5" name="TextBox 4"/>
          <p:cNvSpPr txBox="1"/>
          <p:nvPr/>
        </p:nvSpPr>
        <p:spPr>
          <a:xfrm>
            <a:off x="685800" y="3429000"/>
            <a:ext cx="5669280" cy="1280160"/>
          </a:xfrm>
          <a:prstGeom prst="rect">
            <a:avLst/>
          </a:prstGeom>
          <a:noFill/>
        </p:spPr>
        <p:txBody>
          <a:bodyPr wrap="square" anchor="t" lIns="0" rIns="0" tIns="0" bIns="0">
            <a:spAutoFit/>
          </a:bodyPr>
          <a:lstStyle/>
          <a:p>
            <a:pPr algn="l">
              <a:lnSpc>
                <a:spcPct val="120000"/>
              </a:lnSpc>
            </a:pPr>
            <a:r>
              <a:rPr sz="3600" b="1">
                <a:solidFill>
                  <a:srgbClr val="1F3A5F"/>
                </a:solidFill>
                <a:latin typeface="BIZ UDPゴシック"/>
                <a:ea typeface="BIZ UDPゴシック"/>
              </a:rPr>
              <a:t>今後の計画</a:t>
            </a:r>
          </a:p>
        </p:txBody>
      </p:sp>
      <p:sp>
        <p:nvSpPr>
          <p:cNvPr id="6" name="Rectangle 5"/>
          <p:cNvSpPr/>
          <p:nvPr/>
        </p:nvSpPr>
        <p:spPr>
          <a:xfrm>
            <a:off x="6720840" y="1463040"/>
            <a:ext cx="12700" cy="3657600"/>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86600" y="1737360"/>
            <a:ext cx="4572000" cy="3291840"/>
          </a:xfrm>
          <a:prstGeom prst="rect">
            <a:avLst/>
          </a:prstGeom>
          <a:noFill/>
        </p:spPr>
        <p:txBody>
          <a:bodyPr wrap="square" anchor="t" lIns="0" rIns="0" tIns="0" bIns="0">
            <a:spAutoFit/>
          </a:bodyPr>
          <a:lstStyle/>
          <a:p>
            <a:pPr algn="l">
              <a:lnSpc>
                <a:spcPct val="100000"/>
              </a:lnSpc>
              <a:spcAft>
                <a:spcPts val="1800"/>
              </a:spcAft>
            </a:pPr>
            <a:r>
              <a:rPr sz="2000" b="1">
                <a:solidFill>
                  <a:srgbClr val="D9DEE6"/>
                </a:solidFill>
                <a:latin typeface="BIZ UDPゴシック"/>
                <a:ea typeface="BIZ UDPゴシック"/>
              </a:rPr>
              <a:t>01</a:t>
            </a:r>
            <a:r>
              <a:rPr sz="2000" b="0">
                <a:solidFill>
                  <a:srgbClr val="8C8C8C"/>
                </a:solidFill>
                <a:latin typeface="BIZ UDPゴシック"/>
                <a:ea typeface="BIZ UDPゴシック"/>
              </a:rPr>
              <a:t>　研究背景</a:t>
            </a:r>
          </a:p>
          <a:p>
            <a:pPr algn="l">
              <a:lnSpc>
                <a:spcPct val="100000"/>
              </a:lnSpc>
              <a:spcAft>
                <a:spcPts val="1800"/>
              </a:spcAft>
            </a:pPr>
            <a:r>
              <a:rPr sz="2000" b="1">
                <a:solidFill>
                  <a:srgbClr val="D9DEE6"/>
                </a:solidFill>
                <a:latin typeface="BIZ UDPゴシック"/>
                <a:ea typeface="BIZ UDPゴシック"/>
              </a:rPr>
              <a:t>02</a:t>
            </a:r>
            <a:r>
              <a:rPr sz="2000" b="0">
                <a:solidFill>
                  <a:srgbClr val="8C8C8C"/>
                </a:solidFill>
                <a:latin typeface="BIZ UDPゴシック"/>
                <a:ea typeface="BIZ UDPゴシック"/>
              </a:rPr>
              <a:t>　関連研究</a:t>
            </a:r>
          </a:p>
          <a:p>
            <a:pPr algn="l">
              <a:lnSpc>
                <a:spcPct val="100000"/>
              </a:lnSpc>
              <a:spcAft>
                <a:spcPts val="1800"/>
              </a:spcAft>
            </a:pPr>
            <a:r>
              <a:rPr sz="2000" b="1">
                <a:solidFill>
                  <a:srgbClr val="D9DEE6"/>
                </a:solidFill>
                <a:latin typeface="BIZ UDPゴシック"/>
                <a:ea typeface="BIZ UDPゴシック"/>
              </a:rPr>
              <a:t>03</a:t>
            </a:r>
            <a:r>
              <a:rPr sz="2000" b="0">
                <a:solidFill>
                  <a:srgbClr val="8C8C8C"/>
                </a:solidFill>
                <a:latin typeface="BIZ UDPゴシック"/>
                <a:ea typeface="BIZ UDPゴシック"/>
              </a:rPr>
              <a:t>　研究目的</a:t>
            </a:r>
          </a:p>
          <a:p>
            <a:pPr algn="l">
              <a:lnSpc>
                <a:spcPct val="100000"/>
              </a:lnSpc>
              <a:spcAft>
                <a:spcPts val="1800"/>
              </a:spcAft>
            </a:pPr>
            <a:r>
              <a:rPr sz="2000" b="1">
                <a:solidFill>
                  <a:srgbClr val="D9DEE6"/>
                </a:solidFill>
                <a:latin typeface="BIZ UDPゴシック"/>
                <a:ea typeface="BIZ UDPゴシック"/>
              </a:rPr>
              <a:t>04</a:t>
            </a:r>
            <a:r>
              <a:rPr sz="2000" b="0">
                <a:solidFill>
                  <a:srgbClr val="8C8C8C"/>
                </a:solidFill>
                <a:latin typeface="BIZ UDPゴシック"/>
                <a:ea typeface="BIZ UDPゴシック"/>
              </a:rPr>
              <a:t>　提案手法</a:t>
            </a:r>
          </a:p>
          <a:p>
            <a:pPr algn="l">
              <a:lnSpc>
                <a:spcPct val="100000"/>
              </a:lnSpc>
              <a:spcAft>
                <a:spcPts val="1800"/>
              </a:spcAft>
            </a:pPr>
            <a:r>
              <a:rPr sz="2000" b="1">
                <a:solidFill>
                  <a:srgbClr val="D9DEE6"/>
                </a:solidFill>
                <a:latin typeface="BIZ UDPゴシック"/>
                <a:ea typeface="BIZ UDPゴシック"/>
              </a:rPr>
              <a:t>05</a:t>
            </a:r>
            <a:r>
              <a:rPr sz="2000" b="0">
                <a:solidFill>
                  <a:srgbClr val="8C8C8C"/>
                </a:solidFill>
                <a:latin typeface="BIZ UDPゴシック"/>
                <a:ea typeface="BIZ UDPゴシック"/>
              </a:rPr>
              <a:t>　進捗</a:t>
            </a:r>
          </a:p>
          <a:p>
            <a:pPr algn="l">
              <a:lnSpc>
                <a:spcPct val="100000"/>
              </a:lnSpc>
              <a:spcAft>
                <a:spcPts val="1800"/>
              </a:spcAft>
            </a:pPr>
            <a:r>
              <a:rPr sz="2000" b="1">
                <a:solidFill>
                  <a:srgbClr val="4E95D9"/>
                </a:solidFill>
                <a:latin typeface="BIZ UDPゴシック"/>
                <a:ea typeface="BIZ UDPゴシック"/>
              </a:rPr>
              <a:t>06</a:t>
            </a:r>
            <a:r>
              <a:rPr sz="2000" b="1">
                <a:solidFill>
                  <a:srgbClr val="1F3A5F"/>
                </a:solidFill>
                <a:latin typeface="BIZ UDPゴシック"/>
                <a:ea typeface="BIZ UDPゴシック"/>
              </a:rPr>
              <a:t>　今後の計画</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11512" y="6400800"/>
            <a:ext cx="1828800" cy="228600"/>
          </a:xfrm>
          <a:prstGeom prst="rect">
            <a:avLst/>
          </a:prstGeom>
          <a:noFill/>
        </p:spPr>
        <p:txBody>
          <a:bodyPr wrap="square" anchor="ctr" lIns="0" rIns="0" tIns="0" bIns="0">
            <a:spAutoFit/>
          </a:bodyPr>
          <a:lstStyle/>
          <a:p>
            <a:pPr algn="r">
              <a:lnSpc>
                <a:spcPct val="120000"/>
              </a:lnSpc>
            </a:pPr>
            <a:r>
              <a:rPr sz="1200" b="1">
                <a:solidFill>
                  <a:srgbClr val="4E95D9"/>
                </a:solidFill>
                <a:latin typeface="BIZ UDPゴシック"/>
                <a:ea typeface="BIZ UDPゴシック"/>
              </a:rPr>
              <a:t>24</a:t>
            </a:r>
            <a:r>
              <a:rPr sz="1200" b="0">
                <a:solidFill>
                  <a:srgbClr val="8C8C8C"/>
                </a:solidFill>
                <a:latin typeface="BIZ UDPゴシック"/>
                <a:ea typeface="BIZ UDPゴシック"/>
              </a:rPr>
              <a:t> / 26</a:t>
            </a:r>
          </a:p>
        </p:txBody>
      </p:sp>
      <p:sp>
        <p:nvSpPr>
          <p:cNvPr id="3" name="下端の線"/>
          <p:cNvSpPr/>
          <p:nvPr/>
        </p:nvSpPr>
        <p:spPr>
          <a:xfrm>
            <a:off x="0" y="6803136"/>
            <a:ext cx="12192000" cy="54864"/>
          </a:xfrm>
          <a:prstGeom prst="rect">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の札"/>
          <p:cNvSpPr/>
          <p:nvPr/>
        </p:nvSpPr>
        <p:spPr>
          <a:xfrm>
            <a:off x="548640" y="292608"/>
            <a:ext cx="1733550" cy="274320"/>
          </a:xfrm>
          <a:prstGeom prst="roundRect">
            <a:avLst>
              <a:gd name="adj" fmla="val 50000"/>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BIZ UDPゴシック"/>
                <a:ea typeface="BIZ UDPゴシック"/>
              </a:rPr>
              <a:t>06  今後の計画</a:t>
            </a:r>
          </a:p>
        </p:txBody>
      </p:sp>
      <p:sp>
        <p:nvSpPr>
          <p:cNvPr id="5" name="TextBox 4"/>
          <p:cNvSpPr txBox="1"/>
          <p:nvPr/>
        </p:nvSpPr>
        <p:spPr>
          <a:xfrm>
            <a:off x="548640" y="621792"/>
            <a:ext cx="11064240" cy="548640"/>
          </a:xfrm>
          <a:prstGeom prst="rect">
            <a:avLst/>
          </a:prstGeom>
          <a:noFill/>
        </p:spPr>
        <p:txBody>
          <a:bodyPr wrap="square" anchor="ctr" lIns="0" rIns="0" tIns="0" bIns="0">
            <a:spAutoFit/>
          </a:bodyPr>
          <a:lstStyle/>
          <a:p>
            <a:pPr algn="l">
              <a:lnSpc>
                <a:spcPct val="100000"/>
              </a:lnSpc>
            </a:pPr>
            <a:r>
              <a:rPr sz="3000" b="1">
                <a:solidFill>
                  <a:srgbClr val="1F3A5F"/>
                </a:solidFill>
                <a:latin typeface="BIZ UDPゴシック"/>
                <a:ea typeface="BIZ UDPゴシック"/>
              </a:rPr>
              <a:t>今後の計画</a:t>
            </a:r>
          </a:p>
        </p:txBody>
      </p:sp>
      <p:sp>
        <p:nvSpPr>
          <p:cNvPr id="6" name="区切り線"/>
          <p:cNvSpPr/>
          <p:nvPr/>
        </p:nvSpPr>
        <p:spPr>
          <a:xfrm>
            <a:off x="548640" y="1225296"/>
            <a:ext cx="11091672" cy="12700"/>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508760"/>
            <a:ext cx="2635758" cy="2651760"/>
          </a:xfrm>
          <a:prstGeom prst="roundRect">
            <a:avLst>
              <a:gd name="adj" fmla="val 8000"/>
            </a:avLst>
          </a:prstGeom>
          <a:solidFill>
            <a:srgbClr val="F3F8FD"/>
          </a:solidFill>
          <a:ln w="28575">
            <a:solidFill>
              <a:srgbClr val="4E95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47063" y="1691640"/>
            <a:ext cx="438912" cy="438912"/>
          </a:xfrm>
          <a:prstGeom prst="ellipse">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BIZ UDPゴシック"/>
                <a:ea typeface="BIZ UDPゴシック"/>
              </a:rPr>
              <a:t>1</a:t>
            </a:r>
          </a:p>
        </p:txBody>
      </p:sp>
      <p:sp>
        <p:nvSpPr>
          <p:cNvPr id="9" name="TextBox 8"/>
          <p:cNvSpPr txBox="1"/>
          <p:nvPr/>
        </p:nvSpPr>
        <p:spPr>
          <a:xfrm>
            <a:off x="548640" y="2240280"/>
            <a:ext cx="2635758" cy="411480"/>
          </a:xfrm>
          <a:prstGeom prst="rect">
            <a:avLst/>
          </a:prstGeom>
          <a:noFill/>
        </p:spPr>
        <p:txBody>
          <a:bodyPr wrap="square" anchor="t" lIns="0" rIns="0" tIns="0" bIns="0">
            <a:spAutoFit/>
          </a:bodyPr>
          <a:lstStyle/>
          <a:p>
            <a:pPr algn="ctr">
              <a:lnSpc>
                <a:spcPct val="120000"/>
              </a:lnSpc>
            </a:pPr>
            <a:r>
              <a:rPr sz="2400" b="1">
                <a:solidFill>
                  <a:srgbClr val="1F3A5F"/>
                </a:solidFill>
                <a:latin typeface="BIZ UDPゴシック"/>
                <a:ea typeface="BIZ UDPゴシック"/>
              </a:rPr>
              <a:t>弾性</a:t>
            </a:r>
          </a:p>
        </p:txBody>
      </p:sp>
      <p:sp>
        <p:nvSpPr>
          <p:cNvPr id="10" name="TextBox 9"/>
          <p:cNvSpPr txBox="1"/>
          <p:nvPr/>
        </p:nvSpPr>
        <p:spPr>
          <a:xfrm>
            <a:off x="608640" y="2743200"/>
            <a:ext cx="2515758" cy="662940"/>
          </a:xfrm>
          <a:prstGeom prst="rect">
            <a:avLst/>
          </a:prstGeom>
          <a:noFill/>
        </p:spPr>
        <p:txBody>
          <a:bodyPr wrap="square" anchor="t" lIns="0" rIns="0" tIns="0" bIns="0">
            <a:spAutoFit/>
          </a:bodyPr>
          <a:lstStyle/>
          <a:p>
            <a:pPr algn="ctr">
              <a:lnSpc>
                <a:spcPct val="120000"/>
              </a:lnSpc>
            </a:pPr>
            <a:r>
              <a:rPr sz="1800" b="0">
                <a:solidFill>
                  <a:srgbClr val="262626"/>
                </a:solidFill>
                <a:latin typeface="BIZ UDPゴシック"/>
                <a:ea typeface="BIZ UDPゴシック"/>
              </a:rPr>
              <a:t>Neo-Hookean</a:t>
            </a:r>
          </a:p>
          <a:p>
            <a:pPr algn="ctr">
              <a:lnSpc>
                <a:spcPct val="120000"/>
              </a:lnSpc>
            </a:pPr>
            <a:r>
              <a:rPr sz="1800" b="0">
                <a:solidFill>
                  <a:srgbClr val="262626"/>
                </a:solidFill>
                <a:latin typeface="BIZ UDPゴシック"/>
                <a:ea typeface="BIZ UDPゴシック"/>
              </a:rPr>
              <a:t>ずれに抵抗し形を保つ</a:t>
            </a:r>
          </a:p>
        </p:txBody>
      </p:sp>
      <p:sp>
        <p:nvSpPr>
          <p:cNvPr id="11" name="Rounded Rectangle 10"/>
          <p:cNvSpPr/>
          <p:nvPr/>
        </p:nvSpPr>
        <p:spPr>
          <a:xfrm>
            <a:off x="731520" y="3593592"/>
            <a:ext cx="2269998" cy="384048"/>
          </a:xfrm>
          <a:prstGeom prst="roundRect">
            <a:avLst>
              <a:gd name="adj" fmla="val 50000"/>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800" b="1">
                <a:solidFill>
                  <a:srgbClr val="FFFFFF"/>
                </a:solidFill>
                <a:latin typeface="BIZ UDPゴシック"/>
                <a:ea typeface="BIZ UDPゴシック"/>
              </a:rPr>
              <a:t>実装中</a:t>
            </a:r>
          </a:p>
        </p:txBody>
      </p:sp>
      <p:sp>
        <p:nvSpPr>
          <p:cNvPr id="12" name="Rounded Rectangle 11"/>
          <p:cNvSpPr/>
          <p:nvPr/>
        </p:nvSpPr>
        <p:spPr>
          <a:xfrm>
            <a:off x="3367278" y="1508760"/>
            <a:ext cx="2635758" cy="2651760"/>
          </a:xfrm>
          <a:prstGeom prst="roundRect">
            <a:avLst>
              <a:gd name="adj" fmla="val 8000"/>
            </a:avLst>
          </a:prstGeom>
          <a:solidFill>
            <a:srgbClr val="FFFFFF"/>
          </a:solidFill>
          <a:ln w="1587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465701" y="1691640"/>
            <a:ext cx="438912" cy="438912"/>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BIZ UDPゴシック"/>
                <a:ea typeface="BIZ UDPゴシック"/>
              </a:rPr>
              <a:t>2</a:t>
            </a:r>
          </a:p>
        </p:txBody>
      </p:sp>
      <p:sp>
        <p:nvSpPr>
          <p:cNvPr id="14" name="TextBox 13"/>
          <p:cNvSpPr txBox="1"/>
          <p:nvPr/>
        </p:nvSpPr>
        <p:spPr>
          <a:xfrm>
            <a:off x="3367278" y="2240280"/>
            <a:ext cx="2635758" cy="411480"/>
          </a:xfrm>
          <a:prstGeom prst="rect">
            <a:avLst/>
          </a:prstGeom>
          <a:noFill/>
        </p:spPr>
        <p:txBody>
          <a:bodyPr wrap="square" anchor="t" lIns="0" rIns="0" tIns="0" bIns="0">
            <a:spAutoFit/>
          </a:bodyPr>
          <a:lstStyle/>
          <a:p>
            <a:pPr algn="ctr">
              <a:lnSpc>
                <a:spcPct val="120000"/>
              </a:lnSpc>
            </a:pPr>
            <a:r>
              <a:rPr sz="2400" b="1">
                <a:solidFill>
                  <a:srgbClr val="1F3A5F"/>
                </a:solidFill>
                <a:latin typeface="BIZ UDPゴシック"/>
                <a:ea typeface="BIZ UDPゴシック"/>
              </a:rPr>
              <a:t>塑性</a:t>
            </a:r>
          </a:p>
        </p:txBody>
      </p:sp>
      <p:sp>
        <p:nvSpPr>
          <p:cNvPr id="15" name="TextBox 14"/>
          <p:cNvSpPr txBox="1"/>
          <p:nvPr/>
        </p:nvSpPr>
        <p:spPr>
          <a:xfrm>
            <a:off x="3427278" y="2743200"/>
            <a:ext cx="2515758" cy="662940"/>
          </a:xfrm>
          <a:prstGeom prst="rect">
            <a:avLst/>
          </a:prstGeom>
          <a:noFill/>
        </p:spPr>
        <p:txBody>
          <a:bodyPr wrap="square" anchor="t" lIns="0" rIns="0" tIns="0" bIns="0">
            <a:spAutoFit/>
          </a:bodyPr>
          <a:lstStyle/>
          <a:p>
            <a:pPr algn="ctr">
              <a:lnSpc>
                <a:spcPct val="120000"/>
              </a:lnSpc>
            </a:pPr>
            <a:r>
              <a:rPr sz="1800" b="0">
                <a:solidFill>
                  <a:srgbClr val="262626"/>
                </a:solidFill>
                <a:latin typeface="BIZ UDPゴシック"/>
                <a:ea typeface="BIZ UDPゴシック"/>
              </a:rPr>
              <a:t>床の摩擦と</a:t>
            </a:r>
          </a:p>
          <a:p>
            <a:pPr algn="ctr">
              <a:lnSpc>
                <a:spcPct val="120000"/>
              </a:lnSpc>
            </a:pPr>
            <a:r>
              <a:rPr sz="1800" b="0">
                <a:solidFill>
                  <a:srgbClr val="262626"/>
                </a:solidFill>
                <a:latin typeface="BIZ UDPゴシック"/>
                <a:ea typeface="BIZ UDPゴシック"/>
              </a:rPr>
              <a:t>Drucker-Prager</a:t>
            </a:r>
          </a:p>
        </p:txBody>
      </p:sp>
      <p:sp>
        <p:nvSpPr>
          <p:cNvPr id="16" name="Rounded Rectangle 15"/>
          <p:cNvSpPr/>
          <p:nvPr/>
        </p:nvSpPr>
        <p:spPr>
          <a:xfrm>
            <a:off x="3550158" y="3593592"/>
            <a:ext cx="2269998" cy="384048"/>
          </a:xfrm>
          <a:prstGeom prst="roundRect">
            <a:avLst>
              <a:gd name="adj" fmla="val 50000"/>
            </a:avLst>
          </a:prstGeom>
          <a:solidFill>
            <a:srgbClr val="D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800" b="1">
                <a:solidFill>
                  <a:srgbClr val="215F9A"/>
                </a:solidFill>
                <a:latin typeface="BIZ UDPゴシック"/>
                <a:ea typeface="BIZ UDPゴシック"/>
              </a:rPr>
              <a:t>φ を設定</a:t>
            </a:r>
          </a:p>
        </p:txBody>
      </p:sp>
      <p:sp>
        <p:nvSpPr>
          <p:cNvPr id="17" name="Rounded Rectangle 16"/>
          <p:cNvSpPr/>
          <p:nvPr/>
        </p:nvSpPr>
        <p:spPr>
          <a:xfrm>
            <a:off x="6185916" y="1508760"/>
            <a:ext cx="2635758" cy="2651760"/>
          </a:xfrm>
          <a:prstGeom prst="roundRect">
            <a:avLst>
              <a:gd name="adj" fmla="val 8000"/>
            </a:avLst>
          </a:prstGeom>
          <a:solidFill>
            <a:srgbClr val="FFFFFF"/>
          </a:solidFill>
          <a:ln w="1587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284339" y="1691640"/>
            <a:ext cx="438912" cy="438912"/>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BIZ UDPゴシック"/>
                <a:ea typeface="BIZ UDPゴシック"/>
              </a:rPr>
              <a:t>3</a:t>
            </a:r>
          </a:p>
        </p:txBody>
      </p:sp>
      <p:sp>
        <p:nvSpPr>
          <p:cNvPr id="19" name="TextBox 18"/>
          <p:cNvSpPr txBox="1"/>
          <p:nvPr/>
        </p:nvSpPr>
        <p:spPr>
          <a:xfrm>
            <a:off x="6185916" y="2240280"/>
            <a:ext cx="2635758" cy="411480"/>
          </a:xfrm>
          <a:prstGeom prst="rect">
            <a:avLst/>
          </a:prstGeom>
          <a:noFill/>
        </p:spPr>
        <p:txBody>
          <a:bodyPr wrap="square" anchor="t" lIns="0" rIns="0" tIns="0" bIns="0">
            <a:spAutoFit/>
          </a:bodyPr>
          <a:lstStyle/>
          <a:p>
            <a:pPr algn="ctr">
              <a:lnSpc>
                <a:spcPct val="120000"/>
              </a:lnSpc>
            </a:pPr>
            <a:r>
              <a:rPr sz="2400" b="1">
                <a:solidFill>
                  <a:srgbClr val="1F3A5F"/>
                </a:solidFill>
                <a:latin typeface="BIZ UDPゴシック"/>
                <a:ea typeface="BIZ UDPゴシック"/>
              </a:rPr>
              <a:t>安息角試験</a:t>
            </a:r>
          </a:p>
        </p:txBody>
      </p:sp>
      <p:sp>
        <p:nvSpPr>
          <p:cNvPr id="20" name="TextBox 19"/>
          <p:cNvSpPr txBox="1"/>
          <p:nvPr/>
        </p:nvSpPr>
        <p:spPr>
          <a:xfrm>
            <a:off x="6245916" y="2743200"/>
            <a:ext cx="2515758" cy="662940"/>
          </a:xfrm>
          <a:prstGeom prst="rect">
            <a:avLst/>
          </a:prstGeom>
          <a:noFill/>
        </p:spPr>
        <p:txBody>
          <a:bodyPr wrap="square" anchor="t" lIns="0" rIns="0" tIns="0" bIns="0">
            <a:spAutoFit/>
          </a:bodyPr>
          <a:lstStyle/>
          <a:p>
            <a:pPr algn="ctr">
              <a:lnSpc>
                <a:spcPct val="120000"/>
              </a:lnSpc>
            </a:pPr>
            <a:r>
              <a:rPr sz="1800" b="0">
                <a:solidFill>
                  <a:srgbClr val="262626"/>
                </a:solidFill>
                <a:latin typeface="BIZ UDPゴシック"/>
                <a:ea typeface="BIZ UDPゴシック"/>
              </a:rPr>
              <a:t>山の斜面の角度を</a:t>
            </a:r>
          </a:p>
          <a:p>
            <a:pPr algn="ctr">
              <a:lnSpc>
                <a:spcPct val="120000"/>
              </a:lnSpc>
            </a:pPr>
            <a:r>
              <a:rPr sz="1800" b="0">
                <a:solidFill>
                  <a:srgbClr val="262626"/>
                </a:solidFill>
                <a:latin typeface="BIZ UDPゴシック"/>
                <a:ea typeface="BIZ UDPゴシック"/>
              </a:rPr>
              <a:t>設定した φ と比較</a:t>
            </a:r>
          </a:p>
        </p:txBody>
      </p:sp>
      <p:sp>
        <p:nvSpPr>
          <p:cNvPr id="21" name="Rounded Rectangle 20"/>
          <p:cNvSpPr/>
          <p:nvPr/>
        </p:nvSpPr>
        <p:spPr>
          <a:xfrm>
            <a:off x="6368796" y="3593592"/>
            <a:ext cx="2269998" cy="384048"/>
          </a:xfrm>
          <a:prstGeom prst="roundRect">
            <a:avLst>
              <a:gd name="adj" fmla="val 50000"/>
            </a:avLst>
          </a:prstGeom>
          <a:solidFill>
            <a:srgbClr val="D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800" b="1">
                <a:solidFill>
                  <a:srgbClr val="215F9A"/>
                </a:solidFill>
                <a:latin typeface="BIZ UDPゴシック"/>
                <a:ea typeface="BIZ UDPゴシック"/>
              </a:rPr>
              <a:t>最初の定量検証</a:t>
            </a:r>
          </a:p>
        </p:txBody>
      </p:sp>
      <p:sp>
        <p:nvSpPr>
          <p:cNvPr id="22" name="Rounded Rectangle 21"/>
          <p:cNvSpPr/>
          <p:nvPr/>
        </p:nvSpPr>
        <p:spPr>
          <a:xfrm>
            <a:off x="9004554" y="1508760"/>
            <a:ext cx="2635758" cy="2651760"/>
          </a:xfrm>
          <a:prstGeom prst="roundRect">
            <a:avLst>
              <a:gd name="adj" fmla="val 8000"/>
            </a:avLst>
          </a:prstGeom>
          <a:solidFill>
            <a:srgbClr val="FFFFFF"/>
          </a:solidFill>
          <a:ln w="1587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102977" y="1691640"/>
            <a:ext cx="438912" cy="438912"/>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BIZ UDPゴシック"/>
                <a:ea typeface="BIZ UDPゴシック"/>
              </a:rPr>
              <a:t>4</a:t>
            </a:r>
          </a:p>
        </p:txBody>
      </p:sp>
      <p:sp>
        <p:nvSpPr>
          <p:cNvPr id="24" name="TextBox 23"/>
          <p:cNvSpPr txBox="1"/>
          <p:nvPr/>
        </p:nvSpPr>
        <p:spPr>
          <a:xfrm>
            <a:off x="9004554" y="2240280"/>
            <a:ext cx="2635758" cy="411480"/>
          </a:xfrm>
          <a:prstGeom prst="rect">
            <a:avLst/>
          </a:prstGeom>
          <a:noFill/>
        </p:spPr>
        <p:txBody>
          <a:bodyPr wrap="square" anchor="t" lIns="0" rIns="0" tIns="0" bIns="0">
            <a:spAutoFit/>
          </a:bodyPr>
          <a:lstStyle/>
          <a:p>
            <a:pPr algn="ctr">
              <a:lnSpc>
                <a:spcPct val="120000"/>
              </a:lnSpc>
            </a:pPr>
            <a:r>
              <a:rPr sz="2400" b="1">
                <a:solidFill>
                  <a:srgbClr val="1F3A5F"/>
                </a:solidFill>
                <a:latin typeface="BIZ UDPゴシック"/>
                <a:ea typeface="BIZ UDPゴシック"/>
              </a:rPr>
              <a:t>接続</a:t>
            </a:r>
          </a:p>
        </p:txBody>
      </p:sp>
      <p:sp>
        <p:nvSpPr>
          <p:cNvPr id="25" name="TextBox 24"/>
          <p:cNvSpPr txBox="1"/>
          <p:nvPr/>
        </p:nvSpPr>
        <p:spPr>
          <a:xfrm>
            <a:off x="9064554" y="2743200"/>
            <a:ext cx="2515758" cy="662940"/>
          </a:xfrm>
          <a:prstGeom prst="rect">
            <a:avLst/>
          </a:prstGeom>
          <a:noFill/>
        </p:spPr>
        <p:txBody>
          <a:bodyPr wrap="square" anchor="t" lIns="0" rIns="0" tIns="0" bIns="0">
            <a:spAutoFit/>
          </a:bodyPr>
          <a:lstStyle/>
          <a:p>
            <a:pPr algn="ctr">
              <a:lnSpc>
                <a:spcPct val="120000"/>
              </a:lnSpc>
            </a:pPr>
            <a:r>
              <a:rPr sz="1800" b="0">
                <a:solidFill>
                  <a:srgbClr val="262626"/>
                </a:solidFill>
                <a:latin typeface="BIZ UDPゴシック"/>
                <a:ea typeface="BIZ UDPゴシック"/>
              </a:rPr>
              <a:t>テラメカニクス補正</a:t>
            </a:r>
          </a:p>
          <a:p>
            <a:pPr algn="ctr">
              <a:lnSpc>
                <a:spcPct val="120000"/>
              </a:lnSpc>
            </a:pPr>
            <a:r>
              <a:rPr sz="1800" b="0">
                <a:solidFill>
                  <a:srgbClr val="262626"/>
                </a:solidFill>
                <a:latin typeface="BIZ UDPゴシック"/>
                <a:ea typeface="BIZ UDPゴシック"/>
              </a:rPr>
              <a:t>MPM と結合</a:t>
            </a:r>
          </a:p>
        </p:txBody>
      </p:sp>
      <p:sp>
        <p:nvSpPr>
          <p:cNvPr id="26" name="Rounded Rectangle 25"/>
          <p:cNvSpPr/>
          <p:nvPr/>
        </p:nvSpPr>
        <p:spPr>
          <a:xfrm>
            <a:off x="9187434" y="3593592"/>
            <a:ext cx="2269998" cy="384048"/>
          </a:xfrm>
          <a:prstGeom prst="roundRect">
            <a:avLst>
              <a:gd name="adj" fmla="val 50000"/>
            </a:avLst>
          </a:prstGeom>
          <a:solidFill>
            <a:srgbClr val="D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800" b="1">
                <a:solidFill>
                  <a:srgbClr val="215F9A"/>
                </a:solidFill>
                <a:latin typeface="BIZ UDPゴシック"/>
                <a:ea typeface="BIZ UDPゴシック"/>
              </a:rPr>
              <a:t>運転へ</a:t>
            </a:r>
          </a:p>
        </p:txBody>
      </p:sp>
      <p:sp>
        <p:nvSpPr>
          <p:cNvPr id="27" name="結論の面"/>
          <p:cNvSpPr/>
          <p:nvPr/>
        </p:nvSpPr>
        <p:spPr>
          <a:xfrm>
            <a:off x="2743200" y="4617720"/>
            <a:ext cx="6702552" cy="749808"/>
          </a:xfrm>
          <a:prstGeom prst="roundRect">
            <a:avLst>
              <a:gd name="adj" fmla="val 18000"/>
            </a:avLst>
          </a:prstGeom>
          <a:solidFill>
            <a:srgbClr val="DCE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17520" y="4617720"/>
            <a:ext cx="6153912" cy="749808"/>
          </a:xfrm>
          <a:prstGeom prst="rect">
            <a:avLst/>
          </a:prstGeom>
          <a:noFill/>
        </p:spPr>
        <p:txBody>
          <a:bodyPr wrap="square" anchor="ctr" lIns="0" rIns="0" tIns="0" bIns="0">
            <a:spAutoFit/>
          </a:bodyPr>
          <a:lstStyle/>
          <a:p>
            <a:pPr algn="ctr">
              <a:lnSpc>
                <a:spcPct val="120000"/>
              </a:lnSpc>
            </a:pPr>
            <a:r>
              <a:rPr sz="2400" b="1">
                <a:solidFill>
                  <a:srgbClr val="1F3A5F"/>
                </a:solidFill>
                <a:latin typeface="BIZ UDPゴシック"/>
                <a:ea typeface="BIZ UDPゴシック"/>
              </a:rPr>
              <a:t>後期後半：</a:t>
            </a:r>
            <a:r>
              <a:rPr sz="2400" b="1" u="heavy">
                <a:solidFill>
                  <a:srgbClr val="215F9A"/>
                </a:solidFill>
                <a:uFill>
                  <a:solidFill>
                    <a:srgbClr val="FFC000"/>
                  </a:solidFill>
                </a:uFill>
                <a:latin typeface="BIZ UDPゴシック"/>
                <a:ea typeface="BIZ UDPゴシック"/>
              </a:rPr>
              <a:t>ユーザー評価</a:t>
            </a:r>
            <a:r>
              <a:rPr sz="2400" b="1">
                <a:solidFill>
                  <a:srgbClr val="1F3A5F"/>
                </a:solidFill>
                <a:latin typeface="BIZ UDPゴシック"/>
                <a:ea typeface="BIZ UDPゴシック"/>
              </a:rPr>
              <a:t>と修士論文の執筆</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11512" y="6400800"/>
            <a:ext cx="1828800" cy="228600"/>
          </a:xfrm>
          <a:prstGeom prst="rect">
            <a:avLst/>
          </a:prstGeom>
          <a:noFill/>
        </p:spPr>
        <p:txBody>
          <a:bodyPr wrap="square" anchor="ctr" lIns="0" rIns="0" tIns="0" bIns="0">
            <a:spAutoFit/>
          </a:bodyPr>
          <a:lstStyle/>
          <a:p>
            <a:pPr algn="r">
              <a:lnSpc>
                <a:spcPct val="120000"/>
              </a:lnSpc>
            </a:pPr>
            <a:r>
              <a:rPr sz="1200" b="1">
                <a:solidFill>
                  <a:srgbClr val="4E95D9"/>
                </a:solidFill>
                <a:latin typeface="BIZ UDPゴシック"/>
                <a:ea typeface="BIZ UDPゴシック"/>
              </a:rPr>
              <a:t>25</a:t>
            </a:r>
            <a:r>
              <a:rPr sz="1200" b="0">
                <a:solidFill>
                  <a:srgbClr val="8C8C8C"/>
                </a:solidFill>
                <a:latin typeface="BIZ UDPゴシック"/>
                <a:ea typeface="BIZ UDPゴシック"/>
              </a:rPr>
              <a:t> / 26</a:t>
            </a:r>
          </a:p>
        </p:txBody>
      </p:sp>
      <p:sp>
        <p:nvSpPr>
          <p:cNvPr id="3" name="下端の線"/>
          <p:cNvSpPr/>
          <p:nvPr/>
        </p:nvSpPr>
        <p:spPr>
          <a:xfrm>
            <a:off x="0" y="6803136"/>
            <a:ext cx="12192000" cy="54864"/>
          </a:xfrm>
          <a:prstGeom prst="rect">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21792"/>
            <a:ext cx="11064240" cy="548640"/>
          </a:xfrm>
          <a:prstGeom prst="rect">
            <a:avLst/>
          </a:prstGeom>
          <a:noFill/>
        </p:spPr>
        <p:txBody>
          <a:bodyPr wrap="square" anchor="ctr" lIns="0" rIns="0" tIns="0" bIns="0">
            <a:spAutoFit/>
          </a:bodyPr>
          <a:lstStyle/>
          <a:p>
            <a:pPr algn="l">
              <a:lnSpc>
                <a:spcPct val="100000"/>
              </a:lnSpc>
            </a:pPr>
            <a:r>
              <a:rPr sz="3000" b="1">
                <a:solidFill>
                  <a:srgbClr val="1F3A5F"/>
                </a:solidFill>
                <a:latin typeface="BIZ UDPゴシック"/>
                <a:ea typeface="BIZ UDPゴシック"/>
              </a:rPr>
              <a:t>本発表のまとめ</a:t>
            </a:r>
          </a:p>
        </p:txBody>
      </p:sp>
      <p:sp>
        <p:nvSpPr>
          <p:cNvPr id="5" name="区切り線"/>
          <p:cNvSpPr/>
          <p:nvPr/>
        </p:nvSpPr>
        <p:spPr>
          <a:xfrm>
            <a:off x="548640" y="1225296"/>
            <a:ext cx="11091672" cy="12700"/>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554480"/>
            <a:ext cx="1463040" cy="457200"/>
          </a:xfrm>
          <a:prstGeom prst="roundRect">
            <a:avLst>
              <a:gd name="adj" fmla="val 50000"/>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2000" b="1">
                <a:solidFill>
                  <a:srgbClr val="FFFFFF"/>
                </a:solidFill>
                <a:latin typeface="BIZ UDPゴシック"/>
                <a:ea typeface="BIZ UDPゴシック"/>
              </a:rPr>
              <a:t>課題</a:t>
            </a:r>
          </a:p>
        </p:txBody>
      </p:sp>
      <p:sp>
        <p:nvSpPr>
          <p:cNvPr id="7" name="TextBox 6"/>
          <p:cNvSpPr txBox="1"/>
          <p:nvPr/>
        </p:nvSpPr>
        <p:spPr>
          <a:xfrm>
            <a:off x="2651760" y="1554480"/>
            <a:ext cx="8988552" cy="457200"/>
          </a:xfrm>
          <a:prstGeom prst="rect">
            <a:avLst/>
          </a:prstGeom>
          <a:noFill/>
        </p:spPr>
        <p:txBody>
          <a:bodyPr wrap="square" anchor="ctr" lIns="0" rIns="0" tIns="0" bIns="0">
            <a:spAutoFit/>
          </a:bodyPr>
          <a:lstStyle/>
          <a:p>
            <a:pPr algn="l">
              <a:lnSpc>
                <a:spcPct val="120000"/>
              </a:lnSpc>
            </a:pPr>
            <a:r>
              <a:rPr sz="2200" b="0">
                <a:latin typeface="BIZ UDPゴシック"/>
                <a:ea typeface="BIZ UDPゴシック"/>
              </a:rPr>
              <a:t>DEM ではリアルタイム性の確保が難しい</a:t>
            </a:r>
          </a:p>
        </p:txBody>
      </p:sp>
      <p:sp>
        <p:nvSpPr>
          <p:cNvPr id="8" name="Rounded Rectangle 7"/>
          <p:cNvSpPr/>
          <p:nvPr/>
        </p:nvSpPr>
        <p:spPr>
          <a:xfrm>
            <a:off x="822960" y="2560320"/>
            <a:ext cx="1463040" cy="457200"/>
          </a:xfrm>
          <a:prstGeom prst="roundRect">
            <a:avLst>
              <a:gd name="adj" fmla="val 50000"/>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2000" b="1">
                <a:solidFill>
                  <a:srgbClr val="FFFFFF"/>
                </a:solidFill>
                <a:latin typeface="BIZ UDPゴシック"/>
                <a:ea typeface="BIZ UDPゴシック"/>
              </a:rPr>
              <a:t>提案</a:t>
            </a:r>
          </a:p>
        </p:txBody>
      </p:sp>
      <p:sp>
        <p:nvSpPr>
          <p:cNvPr id="9" name="TextBox 8"/>
          <p:cNvSpPr txBox="1"/>
          <p:nvPr/>
        </p:nvSpPr>
        <p:spPr>
          <a:xfrm>
            <a:off x="2651760" y="2560320"/>
            <a:ext cx="8988552" cy="457200"/>
          </a:xfrm>
          <a:prstGeom prst="rect">
            <a:avLst/>
          </a:prstGeom>
          <a:noFill/>
        </p:spPr>
        <p:txBody>
          <a:bodyPr wrap="square" anchor="ctr" lIns="0" rIns="0" tIns="0" bIns="0">
            <a:spAutoFit/>
          </a:bodyPr>
          <a:lstStyle/>
          <a:p>
            <a:pPr algn="l">
              <a:lnSpc>
                <a:spcPct val="120000"/>
              </a:lnSpc>
            </a:pPr>
            <a:r>
              <a:rPr sz="2200" b="0">
                <a:latin typeface="BIZ UDPゴシック"/>
                <a:ea typeface="BIZ UDPゴシック"/>
              </a:rPr>
              <a:t>テラメカニクス理論と局所 MPM の組み合わせ</a:t>
            </a:r>
          </a:p>
        </p:txBody>
      </p:sp>
      <p:sp>
        <p:nvSpPr>
          <p:cNvPr id="10" name="Rounded Rectangle 9"/>
          <p:cNvSpPr/>
          <p:nvPr/>
        </p:nvSpPr>
        <p:spPr>
          <a:xfrm>
            <a:off x="822960" y="3566160"/>
            <a:ext cx="1463040" cy="457200"/>
          </a:xfrm>
          <a:prstGeom prst="roundRect">
            <a:avLst>
              <a:gd name="adj" fmla="val 50000"/>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2000" b="1">
                <a:solidFill>
                  <a:srgbClr val="FFFFFF"/>
                </a:solidFill>
                <a:latin typeface="BIZ UDPゴシック"/>
                <a:ea typeface="BIZ UDPゴシック"/>
              </a:rPr>
              <a:t>進捗</a:t>
            </a:r>
          </a:p>
        </p:txBody>
      </p:sp>
      <p:sp>
        <p:nvSpPr>
          <p:cNvPr id="11" name="TextBox 10"/>
          <p:cNvSpPr txBox="1"/>
          <p:nvPr/>
        </p:nvSpPr>
        <p:spPr>
          <a:xfrm>
            <a:off x="2651760" y="3566160"/>
            <a:ext cx="8988552" cy="457200"/>
          </a:xfrm>
          <a:prstGeom prst="rect">
            <a:avLst/>
          </a:prstGeom>
          <a:noFill/>
        </p:spPr>
        <p:txBody>
          <a:bodyPr wrap="square" anchor="ctr" lIns="0" rIns="0" tIns="0" bIns="0">
            <a:spAutoFit/>
          </a:bodyPr>
          <a:lstStyle/>
          <a:p>
            <a:pPr algn="l">
              <a:lnSpc>
                <a:spcPct val="120000"/>
              </a:lnSpc>
            </a:pPr>
            <a:r>
              <a:rPr sz="2200" b="0">
                <a:latin typeface="BIZ UDPゴシック"/>
                <a:ea typeface="BIZ UDPゴシック"/>
              </a:rPr>
              <a:t>MPM を Niagara 上に構築し、全段で解析解と一致</a:t>
            </a:r>
          </a:p>
        </p:txBody>
      </p:sp>
      <p:sp>
        <p:nvSpPr>
          <p:cNvPr id="12" name="Rounded Rectangle 11"/>
          <p:cNvSpPr/>
          <p:nvPr/>
        </p:nvSpPr>
        <p:spPr>
          <a:xfrm>
            <a:off x="822960" y="4572000"/>
            <a:ext cx="1463040" cy="457200"/>
          </a:xfrm>
          <a:prstGeom prst="roundRect">
            <a:avLst>
              <a:gd name="adj" fmla="val 50000"/>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2000" b="1">
                <a:solidFill>
                  <a:srgbClr val="FFFFFF"/>
                </a:solidFill>
                <a:latin typeface="BIZ UDPゴシック"/>
                <a:ea typeface="BIZ UDPゴシック"/>
              </a:rPr>
              <a:t>今後</a:t>
            </a:r>
          </a:p>
        </p:txBody>
      </p:sp>
      <p:sp>
        <p:nvSpPr>
          <p:cNvPr id="13" name="TextBox 12"/>
          <p:cNvSpPr txBox="1"/>
          <p:nvPr/>
        </p:nvSpPr>
        <p:spPr>
          <a:xfrm>
            <a:off x="2651760" y="4572000"/>
            <a:ext cx="8988552" cy="457200"/>
          </a:xfrm>
          <a:prstGeom prst="rect">
            <a:avLst/>
          </a:prstGeom>
          <a:noFill/>
        </p:spPr>
        <p:txBody>
          <a:bodyPr wrap="square" anchor="ctr" lIns="0" rIns="0" tIns="0" bIns="0">
            <a:spAutoFit/>
          </a:bodyPr>
          <a:lstStyle/>
          <a:p>
            <a:pPr algn="l">
              <a:lnSpc>
                <a:spcPct val="120000"/>
              </a:lnSpc>
            </a:pPr>
            <a:r>
              <a:rPr sz="2200" b="0">
                <a:latin typeface="BIZ UDPゴシック"/>
                <a:ea typeface="BIZ UDPゴシック"/>
              </a:rPr>
              <a:t>弾性と塑性を入れ、安息角試験で φ と比較</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11512" y="6400800"/>
            <a:ext cx="1828800" cy="228600"/>
          </a:xfrm>
          <a:prstGeom prst="rect">
            <a:avLst/>
          </a:prstGeom>
          <a:noFill/>
        </p:spPr>
        <p:txBody>
          <a:bodyPr wrap="square" anchor="ctr" lIns="0" rIns="0" tIns="0" bIns="0">
            <a:spAutoFit/>
          </a:bodyPr>
          <a:lstStyle/>
          <a:p>
            <a:pPr algn="r">
              <a:lnSpc>
                <a:spcPct val="120000"/>
              </a:lnSpc>
            </a:pPr>
            <a:r>
              <a:rPr sz="1200" b="1">
                <a:solidFill>
                  <a:srgbClr val="4E95D9"/>
                </a:solidFill>
                <a:latin typeface="BIZ UDPゴシック"/>
                <a:ea typeface="BIZ UDPゴシック"/>
              </a:rPr>
              <a:t>26</a:t>
            </a:r>
            <a:r>
              <a:rPr sz="1200" b="0">
                <a:solidFill>
                  <a:srgbClr val="8C8C8C"/>
                </a:solidFill>
                <a:latin typeface="BIZ UDPゴシック"/>
                <a:ea typeface="BIZ UDPゴシック"/>
              </a:rPr>
              <a:t> / 26</a:t>
            </a:r>
          </a:p>
        </p:txBody>
      </p:sp>
      <p:sp>
        <p:nvSpPr>
          <p:cNvPr id="3" name="下端の線"/>
          <p:cNvSpPr/>
          <p:nvPr/>
        </p:nvSpPr>
        <p:spPr>
          <a:xfrm>
            <a:off x="0" y="6803136"/>
            <a:ext cx="12192000" cy="54864"/>
          </a:xfrm>
          <a:prstGeom prst="rect">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の札"/>
          <p:cNvSpPr/>
          <p:nvPr/>
        </p:nvSpPr>
        <p:spPr>
          <a:xfrm>
            <a:off x="548640" y="292608"/>
            <a:ext cx="693420" cy="274320"/>
          </a:xfrm>
          <a:prstGeom prst="roundRect">
            <a:avLst>
              <a:gd name="adj" fmla="val 50000"/>
            </a:avLst>
          </a:prstGeom>
          <a:solidFill>
            <a:srgbClr val="4E95D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BIZ UDPゴシック"/>
                <a:ea typeface="BIZ UDPゴシック"/>
              </a:rPr>
              <a:t>補足</a:t>
            </a:r>
          </a:p>
        </p:txBody>
      </p:sp>
      <p:sp>
        <p:nvSpPr>
          <p:cNvPr id="5" name="TextBox 4"/>
          <p:cNvSpPr txBox="1"/>
          <p:nvPr/>
        </p:nvSpPr>
        <p:spPr>
          <a:xfrm>
            <a:off x="548640" y="621792"/>
            <a:ext cx="11064240" cy="548640"/>
          </a:xfrm>
          <a:prstGeom prst="rect">
            <a:avLst/>
          </a:prstGeom>
          <a:noFill/>
        </p:spPr>
        <p:txBody>
          <a:bodyPr wrap="square" anchor="ctr" lIns="0" rIns="0" tIns="0" bIns="0">
            <a:spAutoFit/>
          </a:bodyPr>
          <a:lstStyle/>
          <a:p>
            <a:pPr algn="l">
              <a:lnSpc>
                <a:spcPct val="100000"/>
              </a:lnSpc>
            </a:pPr>
            <a:r>
              <a:rPr sz="3000" b="1">
                <a:solidFill>
                  <a:srgbClr val="1F3A5F"/>
                </a:solidFill>
                <a:latin typeface="BIZ UDPゴシック"/>
                <a:ea typeface="BIZ UDPゴシック"/>
              </a:rPr>
              <a:t>補足：現時点で近似している点</a:t>
            </a:r>
          </a:p>
        </p:txBody>
      </p:sp>
      <p:sp>
        <p:nvSpPr>
          <p:cNvPr id="6" name="区切り線"/>
          <p:cNvSpPr/>
          <p:nvPr/>
        </p:nvSpPr>
        <p:spPr>
          <a:xfrm>
            <a:off x="548640" y="1225296"/>
            <a:ext cx="11091672" cy="12700"/>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463040"/>
          <a:ext cx="11091672" cy="2377440"/>
        </p:xfrm>
        <a:graphic>
          <a:graphicData uri="http://schemas.openxmlformats.org/drawingml/2006/table">
            <a:tbl>
              <a:tblPr firstRow="0" bandRow="0">
                <a:tableStyleId>{2D5ABB26-0587-4C30-8999-92F81FD0307C}</a:tableStyleId>
              </a:tblPr>
              <a:tblGrid>
                <a:gridCol w="1828800"/>
                <a:gridCol w="4572000"/>
                <a:gridCol w="4690872"/>
              </a:tblGrid>
              <a:tr h="475488">
                <a:tc>
                  <a:txBody>
                    <a:bodyPr/>
                    <a:lstStyle/>
                    <a:p>
                      <a:pPr algn="ctr"/>
                      <a:r>
                        <a:rPr sz="1600" b="1">
                          <a:solidFill>
                            <a:srgbClr val="FFFFFF"/>
                          </a:solidFill>
                          <a:latin typeface="BIZ UDPゴシック"/>
                          <a:ea typeface="BIZ UDPゴシック"/>
                        </a:rPr>
                        <a:t>項目</a:t>
                      </a:r>
                    </a:p>
                  </a:txBody>
                  <a:tcPr marL="91440" marR="91440" anchor="ctr">
                    <a:lnL w="0">
                      <a:noFill/>
                    </a:lnL>
                    <a:lnR w="0">
                      <a:noFill/>
                    </a:lnR>
                    <a:lnT w="0">
                      <a:noFill/>
                    </a:lnT>
                    <a:lnB w="9525">
                      <a:solidFill>
                        <a:srgbClr val="D9DEE6"/>
                      </a:solidFill>
                    </a:lnB>
                    <a:solidFill>
                      <a:srgbClr val="1F3A5F"/>
                    </a:solidFill>
                  </a:tcPr>
                </a:tc>
                <a:tc>
                  <a:txBody>
                    <a:bodyPr/>
                    <a:lstStyle/>
                    <a:p>
                      <a:pPr algn="ctr"/>
                      <a:r>
                        <a:rPr sz="1600" b="1">
                          <a:solidFill>
                            <a:srgbClr val="FFFFFF"/>
                          </a:solidFill>
                          <a:latin typeface="BIZ UDPゴシック"/>
                          <a:ea typeface="BIZ UDPゴシック"/>
                        </a:rPr>
                        <a:t>現状</a:t>
                      </a:r>
                    </a:p>
                  </a:txBody>
                  <a:tcPr marL="91440" marR="91440" anchor="ctr">
                    <a:lnL w="0">
                      <a:noFill/>
                    </a:lnL>
                    <a:lnR w="0">
                      <a:noFill/>
                    </a:lnR>
                    <a:lnT w="0">
                      <a:noFill/>
                    </a:lnT>
                    <a:lnB w="9525">
                      <a:solidFill>
                        <a:srgbClr val="D9DEE6"/>
                      </a:solidFill>
                    </a:lnB>
                    <a:solidFill>
                      <a:srgbClr val="1F3A5F"/>
                    </a:solidFill>
                  </a:tcPr>
                </a:tc>
                <a:tc>
                  <a:txBody>
                    <a:bodyPr/>
                    <a:lstStyle/>
                    <a:p>
                      <a:pPr algn="ctr"/>
                      <a:r>
                        <a:rPr sz="1600" b="1">
                          <a:solidFill>
                            <a:srgbClr val="FFFFFF"/>
                          </a:solidFill>
                          <a:latin typeface="BIZ UDPゴシック"/>
                          <a:ea typeface="BIZ UDPゴシック"/>
                        </a:rPr>
                        <a:t>厳密化の方法</a:t>
                      </a:r>
                    </a:p>
                  </a:txBody>
                  <a:tcPr marL="91440" marR="91440" anchor="ctr">
                    <a:lnL w="0">
                      <a:noFill/>
                    </a:lnL>
                    <a:lnR w="0">
                      <a:noFill/>
                    </a:lnR>
                    <a:lnT w="0">
                      <a:noFill/>
                    </a:lnT>
                    <a:lnB w="9525">
                      <a:solidFill>
                        <a:srgbClr val="D9DEE6"/>
                      </a:solidFill>
                    </a:lnB>
                    <a:solidFill>
                      <a:srgbClr val="215F9A"/>
                    </a:solidFill>
                  </a:tcPr>
                </a:tc>
              </a:tr>
              <a:tr h="475488">
                <a:tc>
                  <a:txBody>
                    <a:bodyPr/>
                    <a:lstStyle/>
                    <a:p>
                      <a:pPr algn="ctr"/>
                      <a:r>
                        <a:rPr sz="1800" b="0">
                          <a:solidFill>
                            <a:srgbClr val="262626"/>
                          </a:solidFill>
                          <a:latin typeface="BIZ UDPゴシック"/>
                          <a:ea typeface="BIZ UDPゴシック"/>
                        </a:rPr>
                        <a:t>硬さ</a:t>
                      </a:r>
                    </a:p>
                  </a:txBody>
                  <a:tcPr marL="91440" marR="91440" anchor="ctr">
                    <a:lnL w="0">
                      <a:noFill/>
                    </a:lnL>
                    <a:lnR w="0">
                      <a:noFill/>
                    </a:lnR>
                    <a:lnT w="0">
                      <a:noFill/>
                    </a:lnT>
                    <a:lnB w="9525">
                      <a:solidFill>
                        <a:srgbClr val="D9DEE6"/>
                      </a:solidFill>
                    </a:lnB>
                    <a:noFill/>
                  </a:tcPr>
                </a:tc>
                <a:tc>
                  <a:txBody>
                    <a:bodyPr/>
                    <a:lstStyle/>
                    <a:p>
                      <a:pPr algn="ctr"/>
                      <a:r>
                        <a:rPr sz="1800" b="0">
                          <a:solidFill>
                            <a:srgbClr val="262626"/>
                          </a:solidFill>
                          <a:latin typeface="BIZ UDPゴシック"/>
                          <a:ea typeface="BIZ UDPゴシック"/>
                        </a:rPr>
                        <a:t>約 1600 Pa（実物は数 MPa 以上）</a:t>
                      </a:r>
                    </a:p>
                  </a:txBody>
                  <a:tcPr marL="91440" marR="91440" anchor="ctr">
                    <a:lnL w="0">
                      <a:noFill/>
                    </a:lnL>
                    <a:lnR w="0">
                      <a:noFill/>
                    </a:lnR>
                    <a:lnT w="0">
                      <a:noFill/>
                    </a:lnT>
                    <a:lnB w="9525">
                      <a:solidFill>
                        <a:srgbClr val="D9DEE6"/>
                      </a:solidFill>
                    </a:lnB>
                    <a:noFill/>
                  </a:tcPr>
                </a:tc>
                <a:tc>
                  <a:txBody>
                    <a:bodyPr/>
                    <a:lstStyle/>
                    <a:p>
                      <a:pPr algn="ctr"/>
                      <a:r>
                        <a:rPr sz="1800" b="1">
                          <a:solidFill>
                            <a:srgbClr val="215F9A"/>
                          </a:solidFill>
                          <a:latin typeface="BIZ UDPゴシック"/>
                          <a:ea typeface="BIZ UDPゴシック"/>
                        </a:rPr>
                        <a:t>サブステップで Δt を縮める</a:t>
                      </a:r>
                    </a:p>
                  </a:txBody>
                  <a:tcPr marL="91440" marR="91440" anchor="ctr">
                    <a:lnL w="0">
                      <a:noFill/>
                    </a:lnL>
                    <a:lnR w="0">
                      <a:noFill/>
                    </a:lnR>
                    <a:lnT w="0">
                      <a:noFill/>
                    </a:lnT>
                    <a:lnB w="9525">
                      <a:solidFill>
                        <a:srgbClr val="D9DEE6"/>
                      </a:solidFill>
                    </a:lnB>
                    <a:solidFill>
                      <a:srgbClr val="DCEAF7"/>
                    </a:solidFill>
                  </a:tcPr>
                </a:tc>
              </a:tr>
              <a:tr h="475488">
                <a:tc>
                  <a:txBody>
                    <a:bodyPr/>
                    <a:lstStyle/>
                    <a:p>
                      <a:pPr algn="ctr"/>
                      <a:r>
                        <a:rPr sz="1800" b="0">
                          <a:solidFill>
                            <a:srgbClr val="262626"/>
                          </a:solidFill>
                          <a:latin typeface="BIZ UDPゴシック"/>
                          <a:ea typeface="BIZ UDPゴシック"/>
                        </a:rPr>
                        <a:t>床</a:t>
                      </a:r>
                    </a:p>
                  </a:txBody>
                  <a:tcPr marL="91440" marR="91440" anchor="ctr">
                    <a:lnL w="0">
                      <a:noFill/>
                    </a:lnL>
                    <a:lnR w="0">
                      <a:noFill/>
                    </a:lnR>
                    <a:lnT w="0">
                      <a:noFill/>
                    </a:lnT>
                    <a:lnB w="9525">
                      <a:solidFill>
                        <a:srgbClr val="D9DEE6"/>
                      </a:solidFill>
                    </a:lnB>
                    <a:noFill/>
                  </a:tcPr>
                </a:tc>
                <a:tc>
                  <a:txBody>
                    <a:bodyPr/>
                    <a:lstStyle/>
                    <a:p>
                      <a:pPr algn="ctr"/>
                      <a:r>
                        <a:rPr sz="1800" b="0">
                          <a:solidFill>
                            <a:srgbClr val="262626"/>
                          </a:solidFill>
                          <a:latin typeface="BIZ UDPゴシック"/>
                          <a:ea typeface="BIZ UDPゴシック"/>
                        </a:rPr>
                        <a:t>摩擦なし、反発なし</a:t>
                      </a:r>
                    </a:p>
                  </a:txBody>
                  <a:tcPr marL="91440" marR="91440" anchor="ctr">
                    <a:lnL w="0">
                      <a:noFill/>
                    </a:lnL>
                    <a:lnR w="0">
                      <a:noFill/>
                    </a:lnR>
                    <a:lnT w="0">
                      <a:noFill/>
                    </a:lnT>
                    <a:lnB w="9525">
                      <a:solidFill>
                        <a:srgbClr val="D9DEE6"/>
                      </a:solidFill>
                    </a:lnB>
                    <a:noFill/>
                  </a:tcPr>
                </a:tc>
                <a:tc>
                  <a:txBody>
                    <a:bodyPr/>
                    <a:lstStyle/>
                    <a:p>
                      <a:pPr algn="ctr"/>
                      <a:r>
                        <a:rPr sz="1800" b="1">
                          <a:solidFill>
                            <a:srgbClr val="215F9A"/>
                          </a:solidFill>
                          <a:latin typeface="BIZ UDPゴシック"/>
                          <a:ea typeface="BIZ UDPゴシック"/>
                        </a:rPr>
                        <a:t>クーロン摩擦</a:t>
                      </a:r>
                    </a:p>
                  </a:txBody>
                  <a:tcPr marL="91440" marR="91440" anchor="ctr">
                    <a:lnL w="0">
                      <a:noFill/>
                    </a:lnL>
                    <a:lnR w="0">
                      <a:noFill/>
                    </a:lnR>
                    <a:lnT w="0">
                      <a:noFill/>
                    </a:lnT>
                    <a:lnB w="9525">
                      <a:solidFill>
                        <a:srgbClr val="D9DEE6"/>
                      </a:solidFill>
                    </a:lnB>
                    <a:solidFill>
                      <a:srgbClr val="DCEAF7"/>
                    </a:solidFill>
                  </a:tcPr>
                </a:tc>
              </a:tr>
              <a:tr h="475488">
                <a:tc>
                  <a:txBody>
                    <a:bodyPr/>
                    <a:lstStyle/>
                    <a:p>
                      <a:pPr algn="ctr"/>
                      <a:r>
                        <a:rPr sz="1800" b="0">
                          <a:solidFill>
                            <a:srgbClr val="262626"/>
                          </a:solidFill>
                          <a:latin typeface="BIZ UDPゴシック"/>
                          <a:ea typeface="BIZ UDPゴシック"/>
                        </a:rPr>
                        <a:t>解像度</a:t>
                      </a:r>
                    </a:p>
                  </a:txBody>
                  <a:tcPr marL="91440" marR="91440" anchor="ctr">
                    <a:lnL w="0">
                      <a:noFill/>
                    </a:lnL>
                    <a:lnR w="0">
                      <a:noFill/>
                    </a:lnR>
                    <a:lnT w="0">
                      <a:noFill/>
                    </a:lnT>
                    <a:lnB w="9525">
                      <a:solidFill>
                        <a:srgbClr val="D9DEE6"/>
                      </a:solidFill>
                    </a:lnB>
                    <a:noFill/>
                  </a:tcPr>
                </a:tc>
                <a:tc>
                  <a:txBody>
                    <a:bodyPr/>
                    <a:lstStyle/>
                    <a:p>
                      <a:pPr algn="ctr"/>
                      <a:r>
                        <a:rPr sz="1800" b="0">
                          <a:solidFill>
                            <a:srgbClr val="262626"/>
                          </a:solidFill>
                          <a:latin typeface="BIZ UDPゴシック"/>
                          <a:ea typeface="BIZ UDPゴシック"/>
                        </a:rPr>
                        <a:t>1 通りのみ</a:t>
                      </a:r>
                    </a:p>
                  </a:txBody>
                  <a:tcPr marL="91440" marR="91440" anchor="ctr">
                    <a:lnL w="0">
                      <a:noFill/>
                    </a:lnL>
                    <a:lnR w="0">
                      <a:noFill/>
                    </a:lnR>
                    <a:lnT w="0">
                      <a:noFill/>
                    </a:lnT>
                    <a:lnB w="9525">
                      <a:solidFill>
                        <a:srgbClr val="D9DEE6"/>
                      </a:solidFill>
                    </a:lnB>
                    <a:noFill/>
                  </a:tcPr>
                </a:tc>
                <a:tc>
                  <a:txBody>
                    <a:bodyPr/>
                    <a:lstStyle/>
                    <a:p>
                      <a:pPr algn="ctr"/>
                      <a:r>
                        <a:rPr sz="1800" b="1">
                          <a:solidFill>
                            <a:srgbClr val="215F9A"/>
                          </a:solidFill>
                          <a:latin typeface="BIZ UDPゴシック"/>
                          <a:ea typeface="BIZ UDPゴシック"/>
                        </a:rPr>
                        <a:t>細かくして結果の収束を確認</a:t>
                      </a:r>
                    </a:p>
                  </a:txBody>
                  <a:tcPr marL="91440" marR="91440" anchor="ctr">
                    <a:lnL w="0">
                      <a:noFill/>
                    </a:lnL>
                    <a:lnR w="0">
                      <a:noFill/>
                    </a:lnR>
                    <a:lnT w="0">
                      <a:noFill/>
                    </a:lnT>
                    <a:lnB w="9525">
                      <a:solidFill>
                        <a:srgbClr val="D9DEE6"/>
                      </a:solidFill>
                    </a:lnB>
                    <a:solidFill>
                      <a:srgbClr val="DCEAF7"/>
                    </a:solidFill>
                  </a:tcPr>
                </a:tc>
              </a:tr>
              <a:tr h="475488">
                <a:tc>
                  <a:txBody>
                    <a:bodyPr/>
                    <a:lstStyle/>
                    <a:p>
                      <a:pPr algn="ctr"/>
                      <a:r>
                        <a:rPr sz="1800" b="0">
                          <a:solidFill>
                            <a:srgbClr val="262626"/>
                          </a:solidFill>
                          <a:latin typeface="BIZ UDPゴシック"/>
                          <a:ea typeface="BIZ UDPゴシック"/>
                        </a:rPr>
                        <a:t>初期状態</a:t>
                      </a:r>
                    </a:p>
                  </a:txBody>
                  <a:tcPr marL="91440" marR="91440" anchor="ctr">
                    <a:lnL w="0">
                      <a:noFill/>
                    </a:lnL>
                    <a:lnR w="0">
                      <a:noFill/>
                    </a:lnR>
                    <a:lnT w="0">
                      <a:noFill/>
                    </a:lnT>
                    <a:lnB w="9525">
                      <a:solidFill>
                        <a:srgbClr val="D9DEE6"/>
                      </a:solidFill>
                    </a:lnB>
                    <a:noFill/>
                  </a:tcPr>
                </a:tc>
                <a:tc>
                  <a:txBody>
                    <a:bodyPr/>
                    <a:lstStyle/>
                    <a:p>
                      <a:pPr algn="ctr"/>
                      <a:r>
                        <a:rPr sz="1800" b="0">
                          <a:solidFill>
                            <a:srgbClr val="262626"/>
                          </a:solidFill>
                          <a:latin typeface="BIZ UDPゴシック"/>
                          <a:ea typeface="BIZ UDPゴシック"/>
                        </a:rPr>
                        <a:t>格子状に整列</a:t>
                      </a:r>
                    </a:p>
                  </a:txBody>
                  <a:tcPr marL="91440" marR="91440" anchor="ctr">
                    <a:lnL w="0">
                      <a:noFill/>
                    </a:lnL>
                    <a:lnR w="0">
                      <a:noFill/>
                    </a:lnR>
                    <a:lnT w="0">
                      <a:noFill/>
                    </a:lnT>
                    <a:lnB w="9525">
                      <a:solidFill>
                        <a:srgbClr val="D9DEE6"/>
                      </a:solidFill>
                    </a:lnB>
                    <a:noFill/>
                  </a:tcPr>
                </a:tc>
                <a:tc>
                  <a:txBody>
                    <a:bodyPr/>
                    <a:lstStyle/>
                    <a:p>
                      <a:pPr algn="ctr"/>
                      <a:r>
                        <a:rPr sz="1800" b="1">
                          <a:solidFill>
                            <a:srgbClr val="215F9A"/>
                          </a:solidFill>
                          <a:latin typeface="BIZ UDPゴシック"/>
                          <a:ea typeface="BIZ UDPゴシック"/>
                        </a:rPr>
                        <a:t>重力で落ち着かせてから試験</a:t>
                      </a:r>
                    </a:p>
                  </a:txBody>
                  <a:tcPr marL="91440" marR="91440" anchor="ctr">
                    <a:lnL w="0">
                      <a:noFill/>
                    </a:lnL>
                    <a:lnR w="0">
                      <a:noFill/>
                    </a:lnR>
                    <a:lnT w="0">
                      <a:noFill/>
                    </a:lnT>
                    <a:lnB w="9525">
                      <a:solidFill>
                        <a:srgbClr val="D9DEE6"/>
                      </a:solidFill>
                    </a:lnB>
                    <a:solidFill>
                      <a:srgbClr val="DCEAF7"/>
                    </a:solidFill>
                  </a:tcPr>
                </a:tc>
              </a:tr>
            </a:tbl>
          </a:graphicData>
        </a:graphic>
      </p:graphicFrame>
      <p:sp>
        <p:nvSpPr>
          <p:cNvPr id="8" name="TextBox 7"/>
          <p:cNvSpPr txBox="1"/>
          <p:nvPr/>
        </p:nvSpPr>
        <p:spPr>
          <a:xfrm>
            <a:off x="548640" y="6139053"/>
            <a:ext cx="11064240" cy="188595"/>
          </a:xfrm>
          <a:prstGeom prst="rect">
            <a:avLst/>
          </a:prstGeom>
          <a:noFill/>
        </p:spPr>
        <p:txBody>
          <a:bodyPr wrap="square" anchor="t" lIns="0" rIns="0" tIns="0" bIns="0">
            <a:spAutoFit/>
          </a:bodyPr>
          <a:lstStyle/>
          <a:p>
            <a:pPr algn="l">
              <a:lnSpc>
                <a:spcPct val="100000"/>
              </a:lnSpc>
            </a:pPr>
            <a:r>
              <a:rPr sz="1100" b="0">
                <a:solidFill>
                  <a:srgbClr val="8C8C8C"/>
                </a:solidFill>
                <a:latin typeface="BIZ UDPゴシック"/>
                <a:ea typeface="BIZ UDPゴシック"/>
              </a:rPr>
              <a:t>硬さの上限：縦波の速さ √((λ+2μ)/ρ₀) が、Δt = 1/240 s で安定に計算できる 120 cm/s 以下になる値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Slides>26</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月面ローバーシミュレータ向けレゴリス相互作用リアルタイムモデルの開発</dc:title>
  <dc:subject/>
  <dc:creator>仁木 祥真</dc:creator>
  <cp:keywords/>
  <dc:description/>
  <cp:lastModifiedBy>仁木 祥真</cp:lastModifiedBy>
  <cp:revision>1</cp:revision>
  <dcterms:created xsi:type="dcterms:W3CDTF">2026-10-27T04:21:19Z</dcterms:created>
  <dcterms:modified xsi:type="dcterms:W3CDTF">2026-10-27T04:21:19Z</dcterms:modified>
  <cp:category/>
</cp:coreProperties>
</file>